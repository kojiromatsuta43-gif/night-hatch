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3.png"/><Relationship Id="rId8" Type="http://schemas.openxmlformats.org/officeDocument/2006/relationships/image" Target="../media/image-7-3.png"/><Relationship Id="rId9" Type="http://schemas.openxmlformats.org/officeDocument/2006/relationships/image" Target="../media/image-7-3.png"/><Relationship Id="rId10" Type="http://schemas.openxmlformats.org/officeDocument/2006/relationships/image" Target="../media/image-7-2.png"/><Relationship Id="rId11" Type="http://schemas.openxmlformats.org/officeDocument/2006/relationships/image" Target="../media/image-7-2.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4.png"/><Relationship Id="rId16" Type="http://schemas.openxmlformats.org/officeDocument/2006/relationships/image" Target="../media/image-7-14.png"/><Relationship Id="rId17" Type="http://schemas.openxmlformats.org/officeDocument/2006/relationships/image" Target="../media/image-7-14.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19.png"/><Relationship Id="rId21" Type="http://schemas.openxmlformats.org/officeDocument/2006/relationships/image" Target="../media/image-7-21.png"/><Relationship Id="rId22" Type="http://schemas.openxmlformats.org/officeDocument/2006/relationships/image" Target="../media/image-7-21.png"/><Relationship Id="rId23" Type="http://schemas.openxmlformats.org/officeDocument/2006/relationships/slideLayout" Target="../slideLayouts/slideLayout1.xml"/><Relationship Id="rId2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image" Target="../media/image-14-5.jp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image" Target="../media/image-15-6.jp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image" Target="../media/image-16-5.jpg"/><Relationship Id="rId6" Type="http://schemas.openxmlformats.org/officeDocument/2006/relationships/image" Target="../media/image-16-6.jp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jp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image" Target="../media/image-23-4.jpg"/><Relationship Id="rId5" Type="http://schemas.openxmlformats.org/officeDocument/2006/relationships/image" Target="../media/image-23-5.jpg"/><Relationship Id="rId6" Type="http://schemas.openxmlformats.org/officeDocument/2006/relationships/image" Target="../media/image-23-6.jpg"/><Relationship Id="rId7" Type="http://schemas.openxmlformats.org/officeDocument/2006/relationships/image" Target="../media/image-23-7.jpg"/><Relationship Id="rId8" Type="http://schemas.openxmlformats.org/officeDocument/2006/relationships/image" Target="../media/image-23-8.jp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C62E"/>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200" b="1" spc="400" kern="0" dirty="0">
                <a:solidFill>
                  <a:srgbClr val="141210"/>
                </a:solidFill>
                <a:latin typeface="Arial" pitchFamily="34" charset="0"/>
                <a:ea typeface="Arial" pitchFamily="34" charset="-122"/>
                <a:cs typeface="Arial" pitchFamily="34" charset="-120"/>
              </a:rPr>
              <a:t>BRIDGE HATCH — SALES PROPOSAL 2026</a:t>
            </a:r>
            <a:endParaRPr lang="en-US" sz="1200" dirty="0"/>
          </a:p>
        </p:txBody>
      </p:sp>
      <p:sp>
        <p:nvSpPr>
          <p:cNvPr id="3" name="Shape 1"/>
          <p:cNvSpPr/>
          <p:nvPr/>
        </p:nvSpPr>
        <p:spPr>
          <a:xfrm>
            <a:off x="640080" y="896112"/>
            <a:ext cx="10908792" cy="0"/>
          </a:xfrm>
          <a:prstGeom prst="line">
            <a:avLst/>
          </a:prstGeom>
          <a:noFill/>
          <a:ln w="31750">
            <a:solidFill>
              <a:srgbClr val="141210"/>
            </a:solidFill>
            <a:prstDash val="solid"/>
          </a:ln>
        </p:spPr>
      </p:sp>
      <p:pic>
        <p:nvPicPr>
          <p:cNvPr id="4" name="Image 0" descr="bee.png">    </p:cNvPr>
          <p:cNvPicPr>
            <a:picLocks noChangeAspect="1"/>
          </p:cNvPicPr>
          <p:nvPr/>
        </p:nvPicPr>
        <p:blipFill>
          <a:blip r:embed="rId1"/>
          <a:stretch>
            <a:fillRect/>
          </a:stretch>
        </p:blipFill>
        <p:spPr>
          <a:xfrm>
            <a:off x="10332720" y="1234440"/>
            <a:ext cx="1188720" cy="1188720"/>
          </a:xfrm>
          <a:prstGeom prst="rect">
            <a:avLst/>
          </a:prstGeom>
        </p:spPr>
      </p:pic>
      <p:sp>
        <p:nvSpPr>
          <p:cNvPr id="5" name="Text 2"/>
          <p:cNvSpPr txBox="1"/>
          <p:nvPr/>
        </p:nvSpPr>
        <p:spPr>
          <a:xfrm>
            <a:off x="566928" y="1554480"/>
            <a:ext cx="11064240" cy="1188720"/>
          </a:xfrm>
          <a:prstGeom prst="rect">
            <a:avLst/>
          </a:prstGeom>
          <a:noFill/>
          <a:ln/>
        </p:spPr>
        <p:txBody>
          <a:bodyPr wrap="square" lIns="0" tIns="0" rIns="0" bIns="0" rtlCol="0" anchor="ctr"/>
          <a:lstStyle/>
          <a:p>
            <a:pPr indent="0" marL="0">
              <a:buNone/>
            </a:pPr>
            <a:r>
              <a:rPr lang="en-US" sz="6000" b="1" dirty="0">
                <a:solidFill>
                  <a:srgbClr val="141210"/>
                </a:solidFill>
                <a:latin typeface="Yu Gothic" pitchFamily="34" charset="0"/>
                <a:ea typeface="Yu Gothic" pitchFamily="34" charset="-122"/>
                <a:cs typeface="Yu Gothic" pitchFamily="34" charset="-120"/>
              </a:rPr>
              <a:t>御社の営業日</a:t>
            </a:r>
            <a:endParaRPr lang="en-US" sz="6000" dirty="0"/>
          </a:p>
        </p:txBody>
      </p:sp>
      <p:sp>
        <p:nvSpPr>
          <p:cNvPr id="6" name="Text 3"/>
          <p:cNvSpPr txBox="1"/>
          <p:nvPr/>
        </p:nvSpPr>
        <p:spPr>
          <a:xfrm>
            <a:off x="566928" y="2697480"/>
            <a:ext cx="11064240" cy="1325880"/>
          </a:xfrm>
          <a:prstGeom prst="rect">
            <a:avLst/>
          </a:prstGeom>
          <a:noFill/>
          <a:ln/>
        </p:spPr>
        <p:txBody>
          <a:bodyPr wrap="square" lIns="0" tIns="0" rIns="0" bIns="0" rtlCol="0" anchor="ctr"/>
          <a:lstStyle/>
          <a:p>
            <a:pPr indent="0" marL="0">
              <a:buNone/>
            </a:pPr>
            <a:r>
              <a:rPr lang="en-US" sz="7600" b="1" dirty="0">
                <a:solidFill>
                  <a:srgbClr val="FFFFFF"/>
                </a:solidFill>
                <a:latin typeface="Yu Gothic" pitchFamily="34" charset="0"/>
                <a:ea typeface="Yu Gothic" pitchFamily="34" charset="-122"/>
                <a:cs typeface="Yu Gothic" pitchFamily="34" charset="-120"/>
              </a:rPr>
              <a:t>毎日TikTok</a:t>
            </a:r>
            <a:endParaRPr lang="en-US" sz="7600" dirty="0"/>
          </a:p>
        </p:txBody>
      </p:sp>
      <p:sp>
        <p:nvSpPr>
          <p:cNvPr id="7" name="Text 4"/>
          <p:cNvSpPr txBox="1"/>
          <p:nvPr/>
        </p:nvSpPr>
        <p:spPr>
          <a:xfrm>
            <a:off x="566928" y="4023360"/>
            <a:ext cx="11064240" cy="1188720"/>
          </a:xfrm>
          <a:prstGeom prst="rect">
            <a:avLst/>
          </a:prstGeom>
          <a:noFill/>
          <a:ln/>
        </p:spPr>
        <p:txBody>
          <a:bodyPr wrap="square" lIns="0" tIns="0" rIns="0" bIns="0" rtlCol="0" anchor="ctr"/>
          <a:lstStyle/>
          <a:p>
            <a:pPr indent="0" marL="0">
              <a:buNone/>
            </a:pPr>
            <a:r>
              <a:rPr lang="en-US" sz="6000" b="1" dirty="0">
                <a:solidFill>
                  <a:srgbClr val="141210"/>
                </a:solidFill>
                <a:latin typeface="Yu Gothic" pitchFamily="34" charset="0"/>
                <a:ea typeface="Yu Gothic" pitchFamily="34" charset="-122"/>
                <a:cs typeface="Yu Gothic" pitchFamily="34" charset="-120"/>
              </a:rPr>
              <a:t>あげませんか？</a:t>
            </a:r>
            <a:endParaRPr lang="en-US" sz="6000" dirty="0"/>
          </a:p>
        </p:txBody>
      </p:sp>
      <p:sp>
        <p:nvSpPr>
          <p:cNvPr id="8" name="Shape 5"/>
          <p:cNvSpPr/>
          <p:nvPr/>
        </p:nvSpPr>
        <p:spPr>
          <a:xfrm>
            <a:off x="640080" y="5577840"/>
            <a:ext cx="10908792" cy="0"/>
          </a:xfrm>
          <a:prstGeom prst="line">
            <a:avLst/>
          </a:prstGeom>
          <a:noFill/>
          <a:ln w="31750">
            <a:solidFill>
              <a:srgbClr val="141210"/>
            </a:solidFill>
            <a:prstDash val="solid"/>
          </a:ln>
        </p:spPr>
      </p:sp>
      <p:sp>
        <p:nvSpPr>
          <p:cNvPr id="9" name="Text 6"/>
          <p:cNvSpPr txBox="1"/>
          <p:nvPr/>
        </p:nvSpPr>
        <p:spPr>
          <a:xfrm>
            <a:off x="640080" y="5715000"/>
            <a:ext cx="10972800" cy="365760"/>
          </a:xfrm>
          <a:prstGeom prst="rect">
            <a:avLst/>
          </a:prstGeom>
          <a:noFill/>
          <a:ln/>
        </p:spPr>
        <p:txBody>
          <a:bodyPr wrap="square" lIns="0" tIns="0" rIns="0" bIns="0" rtlCol="0" anchor="ctr"/>
          <a:lstStyle/>
          <a:p>
            <a:pPr indent="0" marL="0">
              <a:buNone/>
            </a:pPr>
            <a:r>
              <a:rPr lang="en-US" sz="1250" b="1" dirty="0">
                <a:solidFill>
                  <a:srgbClr val="141210"/>
                </a:solidFill>
                <a:latin typeface="Yu Gothic" pitchFamily="34" charset="0"/>
                <a:ea typeface="Yu Gothic" pitchFamily="34" charset="-122"/>
                <a:cs typeface="Yu Gothic" pitchFamily="34" charset="-120"/>
              </a:rPr>
              <a:t>TikTok、まだ始めていない会社へ。平日は毎日1本、2年で480本 — ぜんぶ「巣」から発注するだけ。</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210"/>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01 / </a:t>
            </a:r>
            <a:pPr indent="0" marL="0">
              <a:buNone/>
            </a:pPr>
            <a:r>
              <a:rPr lang="en-US" sz="1200" b="1" spc="300" kern="0" dirty="0">
                <a:solidFill>
                  <a:srgbClr val="FFC62E"/>
                </a:solidFill>
                <a:latin typeface="Arial" pitchFamily="34" charset="0"/>
                <a:ea typeface="Arial" pitchFamily="34" charset="-122"/>
                <a:cs typeface="Arial" pitchFamily="34" charset="-120"/>
              </a:rPr>
              <a:t>WHY NOW — DATA</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FFFFFF"/>
                </a:solidFill>
                <a:latin typeface="Yu Gothic" pitchFamily="34" charset="0"/>
                <a:ea typeface="Yu Gothic" pitchFamily="34" charset="-122"/>
                <a:cs typeface="Yu Gothic" pitchFamily="34" charset="-120"/>
              </a:rPr>
              <a:t>若い人は、TikTokの中にいます。</a:t>
            </a:r>
            <a:endParaRPr lang="en-US" sz="2600" dirty="0"/>
          </a:p>
        </p:txBody>
      </p:sp>
      <p:sp>
        <p:nvSpPr>
          <p:cNvPr id="5" name="Shape 3"/>
          <p:cNvSpPr/>
          <p:nvPr/>
        </p:nvSpPr>
        <p:spPr>
          <a:xfrm>
            <a:off x="548640" y="1389888"/>
            <a:ext cx="11091672" cy="0"/>
          </a:xfrm>
          <a:prstGeom prst="line">
            <a:avLst/>
          </a:prstGeom>
          <a:noFill/>
          <a:ln w="25400">
            <a:solidFill>
              <a:srgbClr val="FFFFFF"/>
            </a:solidFill>
            <a:prstDash val="solid"/>
          </a:ln>
        </p:spPr>
      </p:sp>
      <p:sp>
        <p:nvSpPr>
          <p:cNvPr id="6" name="Text 4"/>
          <p:cNvSpPr txBox="1"/>
          <p:nvPr/>
        </p:nvSpPr>
        <p:spPr>
          <a:xfrm>
            <a:off x="548640" y="1517904"/>
            <a:ext cx="11064240" cy="347472"/>
          </a:xfrm>
          <a:prstGeom prst="rect">
            <a:avLst/>
          </a:prstGeom>
          <a:noFill/>
          <a:ln/>
        </p:spPr>
        <p:txBody>
          <a:bodyPr wrap="square" lIns="0" tIns="0" rIns="0" bIns="0" rtlCol="0" anchor="ctr"/>
          <a:lstStyle/>
          <a:p>
            <a:pPr indent="0" marL="0">
              <a:buNone/>
            </a:pPr>
            <a:r>
              <a:rPr lang="en-US" sz="1350" b="1" dirty="0">
                <a:solidFill>
                  <a:srgbClr val="FFC62E"/>
                </a:solidFill>
                <a:latin typeface="Yu Gothic" pitchFamily="34" charset="0"/>
                <a:ea typeface="Yu Gothic" pitchFamily="34" charset="-122"/>
                <a:cs typeface="Yu Gothic" pitchFamily="34" charset="-120"/>
              </a:rPr>
              <a:t>テレビでも、求人サイトでもなく。若い人が会社やお店を“知る”場所は、スマホの縦動画に移りました。</a:t>
            </a:r>
            <a:endParaRPr lang="en-US" sz="1350" dirty="0"/>
          </a:p>
        </p:txBody>
      </p:sp>
      <p:sp>
        <p:nvSpPr>
          <p:cNvPr id="7" name="Text 5"/>
          <p:cNvSpPr txBox="1"/>
          <p:nvPr/>
        </p:nvSpPr>
        <p:spPr>
          <a:xfrm>
            <a:off x="685800" y="1938528"/>
            <a:ext cx="5486400" cy="256032"/>
          </a:xfrm>
          <a:prstGeom prst="rect">
            <a:avLst/>
          </a:prstGeom>
          <a:noFill/>
          <a:ln/>
        </p:spPr>
        <p:txBody>
          <a:bodyPr wrap="square" lIns="0" tIns="0" rIns="0" bIns="0" rtlCol="0" anchor="ctr"/>
          <a:lstStyle/>
          <a:p>
            <a:pPr indent="0" marL="0">
              <a:buNone/>
            </a:pPr>
            <a:r>
              <a:rPr lang="en-US" sz="1150" b="1" dirty="0">
                <a:solidFill>
                  <a:srgbClr val="FFFFFF"/>
                </a:solidFill>
                <a:latin typeface="Yu Gothic" pitchFamily="34" charset="0"/>
                <a:ea typeface="Yu Gothic" pitchFamily="34" charset="-122"/>
                <a:cs typeface="Yu Gothic" pitchFamily="34" charset="-120"/>
              </a:rPr>
              <a:t>TikTokの利用率（年代別・全国）</a:t>
            </a:r>
            <a:endParaRPr lang="en-US" sz="1150" dirty="0"/>
          </a:p>
        </p:txBody>
      </p:sp>
      <p:sp>
        <p:nvSpPr>
          <p:cNvPr id="8" name="Shape 6"/>
          <p:cNvSpPr/>
          <p:nvPr/>
        </p:nvSpPr>
        <p:spPr>
          <a:xfrm>
            <a:off x="713232" y="2631460"/>
            <a:ext cx="786384" cy="2763500"/>
          </a:xfrm>
          <a:prstGeom prst="rect">
            <a:avLst/>
          </a:prstGeom>
          <a:solidFill>
            <a:srgbClr val="FFC62E"/>
          </a:solidFill>
          <a:ln/>
        </p:spPr>
      </p:sp>
      <p:sp>
        <p:nvSpPr>
          <p:cNvPr id="9" name="Text 7"/>
          <p:cNvSpPr txBox="1"/>
          <p:nvPr/>
        </p:nvSpPr>
        <p:spPr>
          <a:xfrm>
            <a:off x="566928" y="2329708"/>
            <a:ext cx="1078992" cy="256032"/>
          </a:xfrm>
          <a:prstGeom prst="rect">
            <a:avLst/>
          </a:prstGeom>
          <a:noFill/>
          <a:ln/>
        </p:spPr>
        <p:txBody>
          <a:bodyPr wrap="square" lIns="0" tIns="0" rIns="0" bIns="0" rtlCol="0" anchor="ctr"/>
          <a:lstStyle/>
          <a:p>
            <a:pPr algn="ctr" indent="0" marL="0">
              <a:buNone/>
            </a:pPr>
            <a:r>
              <a:rPr lang="en-US" sz="1350" dirty="0">
                <a:solidFill>
                  <a:srgbClr val="FFC62E"/>
                </a:solidFill>
                <a:latin typeface="Arial Black" pitchFamily="34" charset="0"/>
                <a:ea typeface="Arial Black" pitchFamily="34" charset="-122"/>
                <a:cs typeface="Arial Black" pitchFamily="34" charset="-120"/>
              </a:rPr>
              <a:t>65.7%</a:t>
            </a:r>
            <a:endParaRPr lang="en-US" sz="1350" dirty="0"/>
          </a:p>
        </p:txBody>
      </p:sp>
      <p:sp>
        <p:nvSpPr>
          <p:cNvPr id="10" name="Text 8"/>
          <p:cNvSpPr txBox="1"/>
          <p:nvPr/>
        </p:nvSpPr>
        <p:spPr>
          <a:xfrm>
            <a:off x="566928" y="5486400"/>
            <a:ext cx="10789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10代</a:t>
            </a:r>
            <a:endParaRPr lang="en-US" sz="1100" dirty="0"/>
          </a:p>
        </p:txBody>
      </p:sp>
      <p:sp>
        <p:nvSpPr>
          <p:cNvPr id="11" name="Shape 9"/>
          <p:cNvSpPr/>
          <p:nvPr/>
        </p:nvSpPr>
        <p:spPr>
          <a:xfrm>
            <a:off x="1746504" y="2925897"/>
            <a:ext cx="786384" cy="2469063"/>
          </a:xfrm>
          <a:prstGeom prst="rect">
            <a:avLst/>
          </a:prstGeom>
          <a:solidFill>
            <a:srgbClr val="FFC62E"/>
          </a:solidFill>
          <a:ln/>
        </p:spPr>
      </p:sp>
      <p:sp>
        <p:nvSpPr>
          <p:cNvPr id="12" name="Text 10"/>
          <p:cNvSpPr txBox="1"/>
          <p:nvPr/>
        </p:nvSpPr>
        <p:spPr>
          <a:xfrm>
            <a:off x="1600200" y="2624145"/>
            <a:ext cx="1078992" cy="256032"/>
          </a:xfrm>
          <a:prstGeom prst="rect">
            <a:avLst/>
          </a:prstGeom>
          <a:noFill/>
          <a:ln/>
        </p:spPr>
        <p:txBody>
          <a:bodyPr wrap="square" lIns="0" tIns="0" rIns="0" bIns="0" rtlCol="0" anchor="ctr"/>
          <a:lstStyle/>
          <a:p>
            <a:pPr algn="ctr" indent="0" marL="0">
              <a:buNone/>
            </a:pPr>
            <a:r>
              <a:rPr lang="en-US" sz="1350" dirty="0">
                <a:solidFill>
                  <a:srgbClr val="FFC62E"/>
                </a:solidFill>
                <a:latin typeface="Arial Black" pitchFamily="34" charset="0"/>
                <a:ea typeface="Arial Black" pitchFamily="34" charset="-122"/>
                <a:cs typeface="Arial Black" pitchFamily="34" charset="-120"/>
              </a:rPr>
              <a:t>58.7%</a:t>
            </a:r>
            <a:endParaRPr lang="en-US" sz="1350" dirty="0"/>
          </a:p>
        </p:txBody>
      </p:sp>
      <p:sp>
        <p:nvSpPr>
          <p:cNvPr id="13" name="Text 11"/>
          <p:cNvSpPr txBox="1"/>
          <p:nvPr/>
        </p:nvSpPr>
        <p:spPr>
          <a:xfrm>
            <a:off x="1600200" y="5486400"/>
            <a:ext cx="10789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20代</a:t>
            </a:r>
            <a:endParaRPr lang="en-US" sz="1100" dirty="0"/>
          </a:p>
        </p:txBody>
      </p:sp>
      <p:sp>
        <p:nvSpPr>
          <p:cNvPr id="14" name="Shape 12"/>
          <p:cNvSpPr/>
          <p:nvPr/>
        </p:nvSpPr>
        <p:spPr>
          <a:xfrm>
            <a:off x="2779776" y="3725083"/>
            <a:ext cx="786384" cy="1669877"/>
          </a:xfrm>
          <a:prstGeom prst="rect">
            <a:avLst/>
          </a:prstGeom>
          <a:solidFill>
            <a:srgbClr val="4A4335"/>
          </a:solidFill>
          <a:ln/>
        </p:spPr>
      </p:sp>
      <p:sp>
        <p:nvSpPr>
          <p:cNvPr id="15" name="Text 13"/>
          <p:cNvSpPr txBox="1"/>
          <p:nvPr/>
        </p:nvSpPr>
        <p:spPr>
          <a:xfrm>
            <a:off x="2633472" y="3423331"/>
            <a:ext cx="1078992" cy="256032"/>
          </a:xfrm>
          <a:prstGeom prst="rect">
            <a:avLst/>
          </a:prstGeom>
          <a:noFill/>
          <a:ln/>
        </p:spPr>
        <p:txBody>
          <a:bodyPr wrap="square" lIns="0" tIns="0" rIns="0" bIns="0" rtlCol="0" anchor="ctr"/>
          <a:lstStyle/>
          <a:p>
            <a:pPr algn="ctr" indent="0" marL="0">
              <a:buNone/>
            </a:pPr>
            <a:r>
              <a:rPr lang="en-US" sz="1050" dirty="0">
                <a:solidFill>
                  <a:srgbClr val="B8B0A0"/>
                </a:solidFill>
                <a:latin typeface="Arial Black" pitchFamily="34" charset="0"/>
                <a:ea typeface="Arial Black" pitchFamily="34" charset="-122"/>
                <a:cs typeface="Arial Black" pitchFamily="34" charset="-120"/>
              </a:rPr>
              <a:t>39.7%</a:t>
            </a:r>
            <a:endParaRPr lang="en-US" sz="1050" dirty="0"/>
          </a:p>
        </p:txBody>
      </p:sp>
      <p:sp>
        <p:nvSpPr>
          <p:cNvPr id="16" name="Text 14"/>
          <p:cNvSpPr txBox="1"/>
          <p:nvPr/>
        </p:nvSpPr>
        <p:spPr>
          <a:xfrm>
            <a:off x="2633472" y="5486400"/>
            <a:ext cx="1078992" cy="274320"/>
          </a:xfrm>
          <a:prstGeom prst="rect">
            <a:avLst/>
          </a:prstGeom>
          <a:noFill/>
          <a:ln/>
        </p:spPr>
        <p:txBody>
          <a:bodyPr wrap="square" lIns="0" tIns="0" rIns="0" bIns="0" rtlCol="0" anchor="ctr"/>
          <a:lstStyle/>
          <a:p>
            <a:pPr algn="ctr" indent="0" marL="0">
              <a:buNone/>
            </a:pPr>
            <a:r>
              <a:rPr lang="en-US" sz="1100" dirty="0">
                <a:solidFill>
                  <a:srgbClr val="B8B0A0"/>
                </a:solidFill>
                <a:latin typeface="Yu Gothic" pitchFamily="34" charset="0"/>
                <a:ea typeface="Yu Gothic" pitchFamily="34" charset="-122"/>
                <a:cs typeface="Yu Gothic" pitchFamily="34" charset="-120"/>
              </a:rPr>
              <a:t>30代</a:t>
            </a:r>
            <a:endParaRPr lang="en-US" sz="1100" dirty="0"/>
          </a:p>
        </p:txBody>
      </p:sp>
      <p:sp>
        <p:nvSpPr>
          <p:cNvPr id="17" name="Shape 15"/>
          <p:cNvSpPr/>
          <p:nvPr/>
        </p:nvSpPr>
        <p:spPr>
          <a:xfrm>
            <a:off x="3813048" y="3716670"/>
            <a:ext cx="786384" cy="1678290"/>
          </a:xfrm>
          <a:prstGeom prst="rect">
            <a:avLst/>
          </a:prstGeom>
          <a:solidFill>
            <a:srgbClr val="4A4335"/>
          </a:solidFill>
          <a:ln/>
        </p:spPr>
      </p:sp>
      <p:sp>
        <p:nvSpPr>
          <p:cNvPr id="18" name="Text 16"/>
          <p:cNvSpPr txBox="1"/>
          <p:nvPr/>
        </p:nvSpPr>
        <p:spPr>
          <a:xfrm>
            <a:off x="3666744" y="3414918"/>
            <a:ext cx="1078992" cy="256032"/>
          </a:xfrm>
          <a:prstGeom prst="rect">
            <a:avLst/>
          </a:prstGeom>
          <a:noFill/>
          <a:ln/>
        </p:spPr>
        <p:txBody>
          <a:bodyPr wrap="square" lIns="0" tIns="0" rIns="0" bIns="0" rtlCol="0" anchor="ctr"/>
          <a:lstStyle/>
          <a:p>
            <a:pPr algn="ctr" indent="0" marL="0">
              <a:buNone/>
            </a:pPr>
            <a:r>
              <a:rPr lang="en-US" sz="1050" dirty="0">
                <a:solidFill>
                  <a:srgbClr val="B8B0A0"/>
                </a:solidFill>
                <a:latin typeface="Arial Black" pitchFamily="34" charset="0"/>
                <a:ea typeface="Arial Black" pitchFamily="34" charset="-122"/>
                <a:cs typeface="Arial Black" pitchFamily="34" charset="-120"/>
              </a:rPr>
              <a:t>39.9%</a:t>
            </a:r>
            <a:endParaRPr lang="en-US" sz="1050" dirty="0"/>
          </a:p>
        </p:txBody>
      </p:sp>
      <p:sp>
        <p:nvSpPr>
          <p:cNvPr id="19" name="Text 17"/>
          <p:cNvSpPr txBox="1"/>
          <p:nvPr/>
        </p:nvSpPr>
        <p:spPr>
          <a:xfrm>
            <a:off x="3666744" y="5486400"/>
            <a:ext cx="1078992" cy="274320"/>
          </a:xfrm>
          <a:prstGeom prst="rect">
            <a:avLst/>
          </a:prstGeom>
          <a:noFill/>
          <a:ln/>
        </p:spPr>
        <p:txBody>
          <a:bodyPr wrap="square" lIns="0" tIns="0" rIns="0" bIns="0" rtlCol="0" anchor="ctr"/>
          <a:lstStyle/>
          <a:p>
            <a:pPr algn="ctr" indent="0" marL="0">
              <a:buNone/>
            </a:pPr>
            <a:r>
              <a:rPr lang="en-US" sz="1100" dirty="0">
                <a:solidFill>
                  <a:srgbClr val="B8B0A0"/>
                </a:solidFill>
                <a:latin typeface="Yu Gothic" pitchFamily="34" charset="0"/>
                <a:ea typeface="Yu Gothic" pitchFamily="34" charset="-122"/>
                <a:cs typeface="Yu Gothic" pitchFamily="34" charset="-120"/>
              </a:rPr>
              <a:t>40代</a:t>
            </a:r>
            <a:endParaRPr lang="en-US" sz="1100" dirty="0"/>
          </a:p>
        </p:txBody>
      </p:sp>
      <p:sp>
        <p:nvSpPr>
          <p:cNvPr id="20" name="Shape 18"/>
          <p:cNvSpPr/>
          <p:nvPr/>
        </p:nvSpPr>
        <p:spPr>
          <a:xfrm>
            <a:off x="4846320" y="4322369"/>
            <a:ext cx="786384" cy="1072591"/>
          </a:xfrm>
          <a:prstGeom prst="rect">
            <a:avLst/>
          </a:prstGeom>
          <a:solidFill>
            <a:srgbClr val="4A4335"/>
          </a:solidFill>
          <a:ln/>
        </p:spPr>
      </p:sp>
      <p:sp>
        <p:nvSpPr>
          <p:cNvPr id="21" name="Text 19"/>
          <p:cNvSpPr txBox="1"/>
          <p:nvPr/>
        </p:nvSpPr>
        <p:spPr>
          <a:xfrm>
            <a:off x="4700016" y="4020617"/>
            <a:ext cx="1078992" cy="256032"/>
          </a:xfrm>
          <a:prstGeom prst="rect">
            <a:avLst/>
          </a:prstGeom>
          <a:noFill/>
          <a:ln/>
        </p:spPr>
        <p:txBody>
          <a:bodyPr wrap="square" lIns="0" tIns="0" rIns="0" bIns="0" rtlCol="0" anchor="ctr"/>
          <a:lstStyle/>
          <a:p>
            <a:pPr algn="ctr" indent="0" marL="0">
              <a:buNone/>
            </a:pPr>
            <a:r>
              <a:rPr lang="en-US" sz="1050" dirty="0">
                <a:solidFill>
                  <a:srgbClr val="B8B0A0"/>
                </a:solidFill>
                <a:latin typeface="Arial Black" pitchFamily="34" charset="0"/>
                <a:ea typeface="Arial Black" pitchFamily="34" charset="-122"/>
                <a:cs typeface="Arial Black" pitchFamily="34" charset="-120"/>
              </a:rPr>
              <a:t>25.5%</a:t>
            </a:r>
            <a:endParaRPr lang="en-US" sz="1050" dirty="0"/>
          </a:p>
        </p:txBody>
      </p:sp>
      <p:sp>
        <p:nvSpPr>
          <p:cNvPr id="22" name="Text 20"/>
          <p:cNvSpPr txBox="1"/>
          <p:nvPr/>
        </p:nvSpPr>
        <p:spPr>
          <a:xfrm>
            <a:off x="4700016" y="5486400"/>
            <a:ext cx="1078992" cy="274320"/>
          </a:xfrm>
          <a:prstGeom prst="rect">
            <a:avLst/>
          </a:prstGeom>
          <a:noFill/>
          <a:ln/>
        </p:spPr>
        <p:txBody>
          <a:bodyPr wrap="square" lIns="0" tIns="0" rIns="0" bIns="0" rtlCol="0" anchor="ctr"/>
          <a:lstStyle/>
          <a:p>
            <a:pPr algn="ctr" indent="0" marL="0">
              <a:buNone/>
            </a:pPr>
            <a:r>
              <a:rPr lang="en-US" sz="1100" dirty="0">
                <a:solidFill>
                  <a:srgbClr val="B8B0A0"/>
                </a:solidFill>
                <a:latin typeface="Yu Gothic" pitchFamily="34" charset="0"/>
                <a:ea typeface="Yu Gothic" pitchFamily="34" charset="-122"/>
                <a:cs typeface="Yu Gothic" pitchFamily="34" charset="-120"/>
              </a:rPr>
              <a:t>50代</a:t>
            </a:r>
            <a:endParaRPr lang="en-US" sz="1100" dirty="0"/>
          </a:p>
        </p:txBody>
      </p:sp>
      <p:sp>
        <p:nvSpPr>
          <p:cNvPr id="23" name="Shape 21"/>
          <p:cNvSpPr/>
          <p:nvPr/>
        </p:nvSpPr>
        <p:spPr>
          <a:xfrm>
            <a:off x="5879592" y="4604187"/>
            <a:ext cx="786384" cy="790773"/>
          </a:xfrm>
          <a:prstGeom prst="rect">
            <a:avLst/>
          </a:prstGeom>
          <a:solidFill>
            <a:srgbClr val="4A4335"/>
          </a:solidFill>
          <a:ln/>
        </p:spPr>
      </p:sp>
      <p:sp>
        <p:nvSpPr>
          <p:cNvPr id="24" name="Text 22"/>
          <p:cNvSpPr txBox="1"/>
          <p:nvPr/>
        </p:nvSpPr>
        <p:spPr>
          <a:xfrm>
            <a:off x="5733288" y="4302435"/>
            <a:ext cx="1078992" cy="256032"/>
          </a:xfrm>
          <a:prstGeom prst="rect">
            <a:avLst/>
          </a:prstGeom>
          <a:noFill/>
          <a:ln/>
        </p:spPr>
        <p:txBody>
          <a:bodyPr wrap="square" lIns="0" tIns="0" rIns="0" bIns="0" rtlCol="0" anchor="ctr"/>
          <a:lstStyle/>
          <a:p>
            <a:pPr algn="ctr" indent="0" marL="0">
              <a:buNone/>
            </a:pPr>
            <a:r>
              <a:rPr lang="en-US" sz="1050" dirty="0">
                <a:solidFill>
                  <a:srgbClr val="B8B0A0"/>
                </a:solidFill>
                <a:latin typeface="Arial Black" pitchFamily="34" charset="0"/>
                <a:ea typeface="Arial Black" pitchFamily="34" charset="-122"/>
                <a:cs typeface="Arial Black" pitchFamily="34" charset="-120"/>
              </a:rPr>
              <a:t>18.8%</a:t>
            </a:r>
            <a:endParaRPr lang="en-US" sz="1050" dirty="0"/>
          </a:p>
        </p:txBody>
      </p:sp>
      <p:sp>
        <p:nvSpPr>
          <p:cNvPr id="25" name="Text 23"/>
          <p:cNvSpPr txBox="1"/>
          <p:nvPr/>
        </p:nvSpPr>
        <p:spPr>
          <a:xfrm>
            <a:off x="5733288" y="5486400"/>
            <a:ext cx="1078992" cy="274320"/>
          </a:xfrm>
          <a:prstGeom prst="rect">
            <a:avLst/>
          </a:prstGeom>
          <a:noFill/>
          <a:ln/>
        </p:spPr>
        <p:txBody>
          <a:bodyPr wrap="square" lIns="0" tIns="0" rIns="0" bIns="0" rtlCol="0" anchor="ctr"/>
          <a:lstStyle/>
          <a:p>
            <a:pPr algn="ctr" indent="0" marL="0">
              <a:buNone/>
            </a:pPr>
            <a:r>
              <a:rPr lang="en-US" sz="1100" dirty="0">
                <a:solidFill>
                  <a:srgbClr val="B8B0A0"/>
                </a:solidFill>
                <a:latin typeface="Yu Gothic" pitchFamily="34" charset="0"/>
                <a:ea typeface="Yu Gothic" pitchFamily="34" charset="-122"/>
                <a:cs typeface="Yu Gothic" pitchFamily="34" charset="-120"/>
              </a:rPr>
              <a:t>60代</a:t>
            </a:r>
            <a:endParaRPr lang="en-US" sz="1100" dirty="0"/>
          </a:p>
        </p:txBody>
      </p:sp>
      <p:sp>
        <p:nvSpPr>
          <p:cNvPr id="26" name="Shape 24"/>
          <p:cNvSpPr/>
          <p:nvPr/>
        </p:nvSpPr>
        <p:spPr>
          <a:xfrm>
            <a:off x="640080" y="5394960"/>
            <a:ext cx="6355080" cy="0"/>
          </a:xfrm>
          <a:prstGeom prst="line">
            <a:avLst/>
          </a:prstGeom>
          <a:noFill/>
          <a:ln w="25400">
            <a:solidFill>
              <a:srgbClr val="FFFFFF"/>
            </a:solidFill>
            <a:prstDash val="solid"/>
          </a:ln>
        </p:spPr>
      </p:sp>
      <p:sp>
        <p:nvSpPr>
          <p:cNvPr id="27" name="Shape 25"/>
          <p:cNvSpPr/>
          <p:nvPr/>
        </p:nvSpPr>
        <p:spPr>
          <a:xfrm>
            <a:off x="7315200" y="2057400"/>
            <a:ext cx="0" cy="3749040"/>
          </a:xfrm>
          <a:prstGeom prst="line">
            <a:avLst/>
          </a:prstGeom>
          <a:noFill/>
          <a:ln w="12700">
            <a:solidFill>
              <a:srgbClr val="3A352C"/>
            </a:solidFill>
            <a:prstDash val="solid"/>
          </a:ln>
        </p:spPr>
      </p:sp>
      <p:sp>
        <p:nvSpPr>
          <p:cNvPr id="28" name="Shape 26"/>
          <p:cNvSpPr/>
          <p:nvPr/>
        </p:nvSpPr>
        <p:spPr>
          <a:xfrm>
            <a:off x="7680960" y="2084832"/>
            <a:ext cx="329184" cy="82296"/>
          </a:xfrm>
          <a:prstGeom prst="rect">
            <a:avLst/>
          </a:prstGeom>
          <a:solidFill>
            <a:srgbClr val="FFC62E"/>
          </a:solidFill>
          <a:ln/>
        </p:spPr>
      </p:sp>
      <p:sp>
        <p:nvSpPr>
          <p:cNvPr id="29" name="Text 27"/>
          <p:cNvSpPr txBox="1"/>
          <p:nvPr/>
        </p:nvSpPr>
        <p:spPr>
          <a:xfrm>
            <a:off x="7680960" y="2249424"/>
            <a:ext cx="3840480" cy="274320"/>
          </a:xfrm>
          <a:prstGeom prst="rect">
            <a:avLst/>
          </a:prstGeom>
          <a:noFill/>
          <a:ln/>
        </p:spPr>
        <p:txBody>
          <a:bodyPr wrap="square" lIns="0" tIns="0" rIns="0" bIns="0" rtlCol="0" anchor="ctr"/>
          <a:lstStyle/>
          <a:p>
            <a:pPr indent="0" marL="0">
              <a:buNone/>
            </a:pPr>
            <a:r>
              <a:rPr lang="en-US" sz="1050" dirty="0">
                <a:solidFill>
                  <a:srgbClr val="B8B0A0"/>
                </a:solidFill>
                <a:latin typeface="Yu Gothic" pitchFamily="34" charset="0"/>
                <a:ea typeface="Yu Gothic" pitchFamily="34" charset="-122"/>
                <a:cs typeface="Yu Gothic" pitchFamily="34" charset="-120"/>
              </a:rPr>
              <a:t>10代のTikTok利用率 — 3人に2人</a:t>
            </a:r>
            <a:endParaRPr lang="en-US" sz="1050" dirty="0"/>
          </a:p>
        </p:txBody>
      </p:sp>
      <p:sp>
        <p:nvSpPr>
          <p:cNvPr id="30" name="Text 28"/>
          <p:cNvSpPr txBox="1"/>
          <p:nvPr/>
        </p:nvSpPr>
        <p:spPr>
          <a:xfrm>
            <a:off x="7653528" y="2505456"/>
            <a:ext cx="4023360" cy="755374"/>
          </a:xfrm>
          <a:prstGeom prst="rect">
            <a:avLst/>
          </a:prstGeom>
          <a:noFill/>
          <a:ln/>
        </p:spPr>
        <p:txBody>
          <a:bodyPr wrap="square" lIns="0" tIns="0" rIns="0" bIns="0" rtlCol="0" anchor="ctr"/>
          <a:lstStyle/>
          <a:p>
            <a:pPr indent="0" marL="0">
              <a:buNone/>
            </a:pPr>
            <a:r>
              <a:rPr lang="en-US" sz="3800" dirty="0">
                <a:solidFill>
                  <a:srgbClr val="FFFFFF"/>
                </a:solidFill>
                <a:latin typeface="Arial Black" pitchFamily="34" charset="0"/>
                <a:ea typeface="Arial Black" pitchFamily="34" charset="-122"/>
                <a:cs typeface="Arial Black" pitchFamily="34" charset="-120"/>
              </a:rPr>
              <a:t>65.7</a:t>
            </a:r>
            <a:pPr indent="0" marL="0">
              <a:buNone/>
            </a:pPr>
            <a:r>
              <a:rPr lang="en-US" sz="1444" b="1" dirty="0">
                <a:solidFill>
                  <a:srgbClr val="B8B0A0"/>
                </a:solidFill>
                <a:latin typeface="Yu Gothic" pitchFamily="34" charset="0"/>
                <a:ea typeface="Yu Gothic" pitchFamily="34" charset="-122"/>
                <a:cs typeface="Yu Gothic" pitchFamily="34" charset="-120"/>
              </a:rPr>
              <a:t> %</a:t>
            </a:r>
            <a:endParaRPr lang="en-US" sz="3800" dirty="0"/>
          </a:p>
        </p:txBody>
      </p:sp>
      <p:sp>
        <p:nvSpPr>
          <p:cNvPr id="31" name="Shape 29"/>
          <p:cNvSpPr/>
          <p:nvPr/>
        </p:nvSpPr>
        <p:spPr>
          <a:xfrm>
            <a:off x="7680960" y="3364992"/>
            <a:ext cx="329184" cy="82296"/>
          </a:xfrm>
          <a:prstGeom prst="rect">
            <a:avLst/>
          </a:prstGeom>
          <a:solidFill>
            <a:srgbClr val="FFC62E"/>
          </a:solidFill>
          <a:ln/>
        </p:spPr>
      </p:sp>
      <p:sp>
        <p:nvSpPr>
          <p:cNvPr id="32" name="Text 30"/>
          <p:cNvSpPr txBox="1"/>
          <p:nvPr/>
        </p:nvSpPr>
        <p:spPr>
          <a:xfrm>
            <a:off x="7680960" y="3529584"/>
            <a:ext cx="3840480" cy="274320"/>
          </a:xfrm>
          <a:prstGeom prst="rect">
            <a:avLst/>
          </a:prstGeom>
          <a:noFill/>
          <a:ln/>
        </p:spPr>
        <p:txBody>
          <a:bodyPr wrap="square" lIns="0" tIns="0" rIns="0" bIns="0" rtlCol="0" anchor="ctr"/>
          <a:lstStyle/>
          <a:p>
            <a:pPr indent="0" marL="0">
              <a:buNone/>
            </a:pPr>
            <a:r>
              <a:rPr lang="en-US" sz="1050" dirty="0">
                <a:solidFill>
                  <a:srgbClr val="B8B0A0"/>
                </a:solidFill>
                <a:latin typeface="Yu Gothic" pitchFamily="34" charset="0"/>
                <a:ea typeface="Yu Gothic" pitchFamily="34" charset="-122"/>
                <a:cs typeface="Yu Gothic" pitchFamily="34" charset="-120"/>
              </a:rPr>
              <a:t>10代・20代がSNSを見る時間（平日1日）</a:t>
            </a:r>
            <a:endParaRPr lang="en-US" sz="1050" dirty="0"/>
          </a:p>
        </p:txBody>
      </p:sp>
      <p:sp>
        <p:nvSpPr>
          <p:cNvPr id="33" name="Text 31"/>
          <p:cNvSpPr txBox="1"/>
          <p:nvPr/>
        </p:nvSpPr>
        <p:spPr>
          <a:xfrm>
            <a:off x="7653528" y="3785616"/>
            <a:ext cx="4023360" cy="755374"/>
          </a:xfrm>
          <a:prstGeom prst="rect">
            <a:avLst/>
          </a:prstGeom>
          <a:noFill/>
          <a:ln/>
        </p:spPr>
        <p:txBody>
          <a:bodyPr wrap="square" lIns="0" tIns="0" rIns="0" bIns="0" rtlCol="0" anchor="ctr"/>
          <a:lstStyle/>
          <a:p>
            <a:pPr indent="0" marL="0">
              <a:buNone/>
            </a:pPr>
            <a:r>
              <a:rPr lang="en-US" sz="3800" dirty="0">
                <a:solidFill>
                  <a:srgbClr val="FFFFFF"/>
                </a:solidFill>
                <a:latin typeface="Arial Black" pitchFamily="34" charset="0"/>
                <a:ea typeface="Arial Black" pitchFamily="34" charset="-122"/>
                <a:cs typeface="Arial Black" pitchFamily="34" charset="-120"/>
              </a:rPr>
              <a:t>67</a:t>
            </a:r>
            <a:pPr indent="0" marL="0">
              <a:buNone/>
            </a:pPr>
            <a:r>
              <a:rPr lang="en-US" sz="1444" b="1" dirty="0">
                <a:solidFill>
                  <a:srgbClr val="B8B0A0"/>
                </a:solidFill>
                <a:latin typeface="Yu Gothic" pitchFamily="34" charset="0"/>
                <a:ea typeface="Yu Gothic" pitchFamily="34" charset="-122"/>
                <a:cs typeface="Yu Gothic" pitchFamily="34" charset="-120"/>
              </a:rPr>
              <a:t> 分</a:t>
            </a:r>
            <a:endParaRPr lang="en-US" sz="3800" dirty="0"/>
          </a:p>
        </p:txBody>
      </p:sp>
      <p:sp>
        <p:nvSpPr>
          <p:cNvPr id="34" name="Shape 32"/>
          <p:cNvSpPr/>
          <p:nvPr/>
        </p:nvSpPr>
        <p:spPr>
          <a:xfrm>
            <a:off x="7680960" y="4645152"/>
            <a:ext cx="329184" cy="82296"/>
          </a:xfrm>
          <a:prstGeom prst="rect">
            <a:avLst/>
          </a:prstGeom>
          <a:solidFill>
            <a:srgbClr val="FFC62E"/>
          </a:solidFill>
          <a:ln/>
        </p:spPr>
      </p:sp>
      <p:sp>
        <p:nvSpPr>
          <p:cNvPr id="35" name="Text 33"/>
          <p:cNvSpPr txBox="1"/>
          <p:nvPr/>
        </p:nvSpPr>
        <p:spPr>
          <a:xfrm>
            <a:off x="7680960" y="4809744"/>
            <a:ext cx="3840480" cy="274320"/>
          </a:xfrm>
          <a:prstGeom prst="rect">
            <a:avLst/>
          </a:prstGeom>
          <a:noFill/>
          <a:ln/>
        </p:spPr>
        <p:txBody>
          <a:bodyPr wrap="square" lIns="0" tIns="0" rIns="0" bIns="0" rtlCol="0" anchor="ctr"/>
          <a:lstStyle/>
          <a:p>
            <a:pPr indent="0" marL="0">
              <a:buNone/>
            </a:pPr>
            <a:r>
              <a:rPr lang="en-US" sz="1050" dirty="0">
                <a:solidFill>
                  <a:srgbClr val="B8B0A0"/>
                </a:solidFill>
                <a:latin typeface="Yu Gothic" pitchFamily="34" charset="0"/>
                <a:ea typeface="Yu Gothic" pitchFamily="34" charset="-122"/>
                <a:cs typeface="Yu Gothic" pitchFamily="34" charset="-120"/>
              </a:rPr>
              <a:t>TikTokで企業の動画を見る就活生</a:t>
            </a:r>
            <a:endParaRPr lang="en-US" sz="1050" dirty="0"/>
          </a:p>
        </p:txBody>
      </p:sp>
      <p:sp>
        <p:nvSpPr>
          <p:cNvPr id="36" name="Text 34"/>
          <p:cNvSpPr txBox="1"/>
          <p:nvPr/>
        </p:nvSpPr>
        <p:spPr>
          <a:xfrm>
            <a:off x="7653528" y="5065776"/>
            <a:ext cx="4023360" cy="755374"/>
          </a:xfrm>
          <a:prstGeom prst="rect">
            <a:avLst/>
          </a:prstGeom>
          <a:noFill/>
          <a:ln/>
        </p:spPr>
        <p:txBody>
          <a:bodyPr wrap="square" lIns="0" tIns="0" rIns="0" bIns="0" rtlCol="0" anchor="ctr"/>
          <a:lstStyle/>
          <a:p>
            <a:pPr indent="0" marL="0">
              <a:buNone/>
            </a:pPr>
            <a:r>
              <a:rPr lang="en-US" sz="3800" dirty="0">
                <a:solidFill>
                  <a:srgbClr val="FFFFFF"/>
                </a:solidFill>
                <a:latin typeface="Arial Black" pitchFamily="34" charset="0"/>
                <a:ea typeface="Arial Black" pitchFamily="34" charset="-122"/>
                <a:cs typeface="Arial Black" pitchFamily="34" charset="-120"/>
              </a:rPr>
              <a:t>80</a:t>
            </a:r>
            <a:pPr indent="0" marL="0">
              <a:buNone/>
            </a:pPr>
            <a:r>
              <a:rPr lang="en-US" sz="1444" b="1" dirty="0">
                <a:solidFill>
                  <a:srgbClr val="B8B0A0"/>
                </a:solidFill>
                <a:latin typeface="Yu Gothic" pitchFamily="34" charset="0"/>
                <a:ea typeface="Yu Gothic" pitchFamily="34" charset="-122"/>
                <a:cs typeface="Yu Gothic" pitchFamily="34" charset="-120"/>
              </a:rPr>
              <a:t> %超</a:t>
            </a:r>
            <a:endParaRPr lang="en-US" sz="3800" dirty="0"/>
          </a:p>
        </p:txBody>
      </p:sp>
      <p:sp>
        <p:nvSpPr>
          <p:cNvPr id="37" name="Text 35"/>
          <p:cNvSpPr txBox="1"/>
          <p:nvPr/>
        </p:nvSpPr>
        <p:spPr>
          <a:xfrm>
            <a:off x="548640" y="6035040"/>
            <a:ext cx="11064240" cy="256032"/>
          </a:xfrm>
          <a:prstGeom prst="rect">
            <a:avLst/>
          </a:prstGeom>
          <a:noFill/>
          <a:ln/>
        </p:spPr>
        <p:txBody>
          <a:bodyPr wrap="square" lIns="0" tIns="0" rIns="0" bIns="0" rtlCol="0" anchor="ctr"/>
          <a:lstStyle/>
          <a:p>
            <a:pPr indent="0" marL="0">
              <a:buNone/>
            </a:pPr>
            <a:r>
              <a:rPr lang="en-US" sz="850" dirty="0">
                <a:solidFill>
                  <a:srgbClr val="877F6E"/>
                </a:solidFill>
                <a:latin typeface="Yu Gothic" pitchFamily="34" charset="0"/>
                <a:ea typeface="Yu Gothic" pitchFamily="34" charset="-122"/>
                <a:cs typeface="Yu Gothic" pitchFamily="34" charset="-120"/>
              </a:rPr>
              <a:t>出典：総務省「令和6年度 情報通信メディアの利用時間と情報行動に関する調査」（2025年6月公表）／株式会社Suneight 就活生調査</a:t>
            </a:r>
            <a:endParaRPr lang="en-US" sz="850" dirty="0"/>
          </a:p>
        </p:txBody>
      </p:sp>
      <p:sp>
        <p:nvSpPr>
          <p:cNvPr id="38" name="Shape 36"/>
          <p:cNvSpPr/>
          <p:nvPr/>
        </p:nvSpPr>
        <p:spPr>
          <a:xfrm>
            <a:off x="548640" y="6455664"/>
            <a:ext cx="11091672" cy="0"/>
          </a:xfrm>
          <a:prstGeom prst="line">
            <a:avLst/>
          </a:prstGeom>
          <a:noFill/>
          <a:ln w="12700">
            <a:solidFill>
              <a:srgbClr val="3A352C"/>
            </a:solidFill>
            <a:prstDash val="solid"/>
          </a:ln>
        </p:spPr>
      </p:sp>
      <p:sp>
        <p:nvSpPr>
          <p:cNvPr id="39" name="Text 37"/>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877F6E"/>
                </a:solidFill>
                <a:latin typeface="Arial" pitchFamily="34" charset="0"/>
                <a:ea typeface="Arial" pitchFamily="34" charset="-122"/>
                <a:cs typeface="Arial" pitchFamily="34" charset="-120"/>
              </a:rPr>
              <a:t>BRIDGE HATCH</a:t>
            </a:r>
            <a:endParaRPr lang="en-US" sz="850" dirty="0"/>
          </a:p>
        </p:txBody>
      </p:sp>
      <p:sp>
        <p:nvSpPr>
          <p:cNvPr id="40" name="Text 38"/>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877F6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01 / </a:t>
            </a:r>
            <a:pPr indent="0" marL="0">
              <a:buNone/>
            </a:pPr>
            <a:r>
              <a:rPr lang="en-US" sz="1200" b="1" spc="300" kern="0" dirty="0">
                <a:solidFill>
                  <a:srgbClr val="B8860B"/>
                </a:solidFill>
                <a:latin typeface="Arial" pitchFamily="34" charset="0"/>
                <a:ea typeface="Arial" pitchFamily="34" charset="-122"/>
                <a:cs typeface="Arial" pitchFamily="34" charset="-120"/>
              </a:rPr>
              <a:t>WHY NOW — SEARCH</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“検索”は、もう始まっています。</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548640" y="1536192"/>
            <a:ext cx="11064240" cy="365760"/>
          </a:xfrm>
          <a:prstGeom prst="rect">
            <a:avLst/>
          </a:prstGeom>
          <a:noFill/>
          <a:ln/>
        </p:spPr>
        <p:txBody>
          <a:bodyPr wrap="square" lIns="0" tIns="0" rIns="0" bIns="0" rtlCol="0" anchor="ctr"/>
          <a:lstStyle/>
          <a:p>
            <a:pPr indent="0" marL="0">
              <a:buNone/>
            </a:pPr>
            <a:r>
              <a:rPr lang="en-US" sz="1350" b="1" dirty="0">
                <a:solidFill>
                  <a:srgbClr val="141210"/>
                </a:solidFill>
                <a:latin typeface="Yu Gothic" pitchFamily="34" charset="0"/>
                <a:ea typeface="Yu Gothic" pitchFamily="34" charset="-122"/>
                <a:cs typeface="Yu Gothic" pitchFamily="34" charset="-120"/>
              </a:rPr>
              <a:t>いまの若い人は、気になった会社やお店をまずTikTokやInstagramで検索します。応募の前に、来店の前に、動画で中身を確かめてから動く時代です。</a:t>
            </a:r>
            <a:endParaRPr lang="en-US" sz="1350" dirty="0"/>
          </a:p>
        </p:txBody>
      </p:sp>
      <p:sp>
        <p:nvSpPr>
          <p:cNvPr id="7" name="Shape 5"/>
          <p:cNvSpPr/>
          <p:nvPr/>
        </p:nvSpPr>
        <p:spPr>
          <a:xfrm>
            <a:off x="548640" y="2286000"/>
            <a:ext cx="3611880" cy="1005840"/>
          </a:xfrm>
          <a:prstGeom prst="chevron">
            <a:avLst/>
          </a:prstGeom>
          <a:solidFill>
            <a:srgbClr val="F1EBDD"/>
          </a:solidFill>
          <a:ln/>
        </p:spPr>
      </p:sp>
      <p:sp>
        <p:nvSpPr>
          <p:cNvPr id="8" name="Text 6"/>
          <p:cNvSpPr txBox="1"/>
          <p:nvPr/>
        </p:nvSpPr>
        <p:spPr>
          <a:xfrm>
            <a:off x="1005840" y="2432304"/>
            <a:ext cx="3017520" cy="329184"/>
          </a:xfrm>
          <a:prstGeom prst="rect">
            <a:avLst/>
          </a:prstGeom>
          <a:noFill/>
          <a:ln/>
        </p:spPr>
        <p:txBody>
          <a:bodyPr wrap="square" lIns="0" tIns="0" rIns="0" bIns="0" rtlCol="0" anchor="ctr"/>
          <a:lstStyle/>
          <a:p>
            <a:pPr indent="0" marL="0">
              <a:buNone/>
            </a:pPr>
            <a:r>
              <a:rPr lang="en-US" sz="1300" dirty="0">
                <a:solidFill>
                  <a:srgbClr val="B8860B"/>
                </a:solidFill>
                <a:latin typeface="Arial Black" pitchFamily="34" charset="0"/>
                <a:ea typeface="Arial Black" pitchFamily="34" charset="-122"/>
                <a:cs typeface="Arial Black" pitchFamily="34" charset="-120"/>
              </a:rPr>
              <a:t>01  </a:t>
            </a:r>
            <a:pPr indent="0" marL="0">
              <a:buNone/>
            </a:pPr>
            <a:r>
              <a:rPr lang="en-US" sz="1550" b="1" dirty="0">
                <a:solidFill>
                  <a:srgbClr val="141210"/>
                </a:solidFill>
                <a:latin typeface="Yu Gothic" pitchFamily="34" charset="0"/>
                <a:ea typeface="Yu Gothic" pitchFamily="34" charset="-122"/>
                <a:cs typeface="Yu Gothic" pitchFamily="34" charset="-120"/>
              </a:rPr>
              <a:t>気になる</a:t>
            </a:r>
            <a:endParaRPr lang="en-US" sz="1300" dirty="0"/>
          </a:p>
        </p:txBody>
      </p:sp>
      <p:sp>
        <p:nvSpPr>
          <p:cNvPr id="9" name="Text 7"/>
          <p:cNvSpPr txBox="1"/>
          <p:nvPr/>
        </p:nvSpPr>
        <p:spPr>
          <a:xfrm>
            <a:off x="1005840" y="2779776"/>
            <a:ext cx="2926080" cy="274320"/>
          </a:xfrm>
          <a:prstGeom prst="rect">
            <a:avLst/>
          </a:prstGeom>
          <a:noFill/>
          <a:ln/>
        </p:spPr>
        <p:txBody>
          <a:bodyPr wrap="square" lIns="0" tIns="0" rIns="0" bIns="0" rtlCol="0" anchor="ctr"/>
          <a:lstStyle/>
          <a:p>
            <a:pPr indent="0" marL="0">
              <a:buNone/>
            </a:pPr>
            <a:r>
              <a:rPr lang="en-US" sz="950" dirty="0">
                <a:solidFill>
                  <a:srgbClr val="5F594E"/>
                </a:solidFill>
                <a:latin typeface="Yu Gothic" pitchFamily="34" charset="0"/>
                <a:ea typeface="Yu Gothic" pitchFamily="34" charset="-122"/>
                <a:cs typeface="Yu Gothic" pitchFamily="34" charset="-120"/>
              </a:rPr>
              <a:t>求人・お店・商品に出会う</a:t>
            </a:r>
            <a:endParaRPr lang="en-US" sz="950" dirty="0"/>
          </a:p>
        </p:txBody>
      </p:sp>
      <p:sp>
        <p:nvSpPr>
          <p:cNvPr id="10" name="Shape 8"/>
          <p:cNvSpPr/>
          <p:nvPr/>
        </p:nvSpPr>
        <p:spPr>
          <a:xfrm>
            <a:off x="4370832" y="2286000"/>
            <a:ext cx="3611880" cy="1005840"/>
          </a:xfrm>
          <a:prstGeom prst="chevron">
            <a:avLst/>
          </a:prstGeom>
          <a:solidFill>
            <a:srgbClr val="F1EBDD"/>
          </a:solidFill>
          <a:ln/>
        </p:spPr>
      </p:sp>
      <p:sp>
        <p:nvSpPr>
          <p:cNvPr id="11" name="Text 9"/>
          <p:cNvSpPr txBox="1"/>
          <p:nvPr/>
        </p:nvSpPr>
        <p:spPr>
          <a:xfrm>
            <a:off x="4828032" y="2432304"/>
            <a:ext cx="3017520" cy="329184"/>
          </a:xfrm>
          <a:prstGeom prst="rect">
            <a:avLst/>
          </a:prstGeom>
          <a:noFill/>
          <a:ln/>
        </p:spPr>
        <p:txBody>
          <a:bodyPr wrap="square" lIns="0" tIns="0" rIns="0" bIns="0" rtlCol="0" anchor="ctr"/>
          <a:lstStyle/>
          <a:p>
            <a:pPr indent="0" marL="0">
              <a:buNone/>
            </a:pPr>
            <a:r>
              <a:rPr lang="en-US" sz="1300" dirty="0">
                <a:solidFill>
                  <a:srgbClr val="B8860B"/>
                </a:solidFill>
                <a:latin typeface="Arial Black" pitchFamily="34" charset="0"/>
                <a:ea typeface="Arial Black" pitchFamily="34" charset="-122"/>
                <a:cs typeface="Arial Black" pitchFamily="34" charset="-120"/>
              </a:rPr>
              <a:t>02  </a:t>
            </a:r>
            <a:pPr indent="0" marL="0">
              <a:buNone/>
            </a:pPr>
            <a:r>
              <a:rPr lang="en-US" sz="1550" b="1" dirty="0">
                <a:solidFill>
                  <a:srgbClr val="141210"/>
                </a:solidFill>
                <a:latin typeface="Yu Gothic" pitchFamily="34" charset="0"/>
                <a:ea typeface="Yu Gothic" pitchFamily="34" charset="-122"/>
                <a:cs typeface="Yu Gothic" pitchFamily="34" charset="-120"/>
              </a:rPr>
              <a:t>検索する</a:t>
            </a:r>
            <a:endParaRPr lang="en-US" sz="1300" dirty="0"/>
          </a:p>
        </p:txBody>
      </p:sp>
      <p:sp>
        <p:nvSpPr>
          <p:cNvPr id="12" name="Text 10"/>
          <p:cNvSpPr txBox="1"/>
          <p:nvPr/>
        </p:nvSpPr>
        <p:spPr>
          <a:xfrm>
            <a:off x="4828032" y="2779776"/>
            <a:ext cx="2926080" cy="274320"/>
          </a:xfrm>
          <a:prstGeom prst="rect">
            <a:avLst/>
          </a:prstGeom>
          <a:noFill/>
          <a:ln/>
        </p:spPr>
        <p:txBody>
          <a:bodyPr wrap="square" lIns="0" tIns="0" rIns="0" bIns="0" rtlCol="0" anchor="ctr"/>
          <a:lstStyle/>
          <a:p>
            <a:pPr indent="0" marL="0">
              <a:buNone/>
            </a:pPr>
            <a:r>
              <a:rPr lang="en-US" sz="950" dirty="0">
                <a:solidFill>
                  <a:srgbClr val="5F594E"/>
                </a:solidFill>
                <a:latin typeface="Yu Gothic" pitchFamily="34" charset="0"/>
                <a:ea typeface="Yu Gothic" pitchFamily="34" charset="-122"/>
                <a:cs typeface="Yu Gothic" pitchFamily="34" charset="-120"/>
              </a:rPr>
              <a:t>社名・店名をTikTokで調べる</a:t>
            </a:r>
            <a:endParaRPr lang="en-US" sz="950" dirty="0"/>
          </a:p>
        </p:txBody>
      </p:sp>
      <p:sp>
        <p:nvSpPr>
          <p:cNvPr id="13" name="Shape 11"/>
          <p:cNvSpPr/>
          <p:nvPr/>
        </p:nvSpPr>
        <p:spPr>
          <a:xfrm>
            <a:off x="8193024" y="2286000"/>
            <a:ext cx="3611880" cy="1005840"/>
          </a:xfrm>
          <a:prstGeom prst="chevron">
            <a:avLst/>
          </a:prstGeom>
          <a:solidFill>
            <a:srgbClr val="FFC62E"/>
          </a:solidFill>
          <a:ln/>
        </p:spPr>
      </p:sp>
      <p:sp>
        <p:nvSpPr>
          <p:cNvPr id="14" name="Text 12"/>
          <p:cNvSpPr txBox="1"/>
          <p:nvPr/>
        </p:nvSpPr>
        <p:spPr>
          <a:xfrm>
            <a:off x="8650224" y="2432304"/>
            <a:ext cx="3017520" cy="329184"/>
          </a:xfrm>
          <a:prstGeom prst="rect">
            <a:avLst/>
          </a:prstGeom>
          <a:noFill/>
          <a:ln/>
        </p:spPr>
        <p:txBody>
          <a:bodyPr wrap="square" lIns="0" tIns="0" rIns="0" bIns="0" rtlCol="0" anchor="ctr"/>
          <a:lstStyle/>
          <a:p>
            <a:pPr indent="0" marL="0">
              <a:buNone/>
            </a:pPr>
            <a:r>
              <a:rPr lang="en-US" sz="1300" dirty="0">
                <a:solidFill>
                  <a:srgbClr val="141210"/>
                </a:solidFill>
                <a:latin typeface="Arial Black" pitchFamily="34" charset="0"/>
                <a:ea typeface="Arial Black" pitchFamily="34" charset="-122"/>
                <a:cs typeface="Arial Black" pitchFamily="34" charset="-120"/>
              </a:rPr>
              <a:t>03  </a:t>
            </a:r>
            <a:pPr indent="0" marL="0">
              <a:buNone/>
            </a:pPr>
            <a:r>
              <a:rPr lang="en-US" sz="1550" b="1" dirty="0">
                <a:solidFill>
                  <a:srgbClr val="141210"/>
                </a:solidFill>
                <a:latin typeface="Yu Gothic" pitchFamily="34" charset="0"/>
                <a:ea typeface="Yu Gothic" pitchFamily="34" charset="-122"/>
                <a:cs typeface="Yu Gothic" pitchFamily="34" charset="-120"/>
              </a:rPr>
              <a:t>動画で決める</a:t>
            </a:r>
            <a:endParaRPr lang="en-US" sz="1300" dirty="0"/>
          </a:p>
        </p:txBody>
      </p:sp>
      <p:sp>
        <p:nvSpPr>
          <p:cNvPr id="15" name="Text 13"/>
          <p:cNvSpPr txBox="1"/>
          <p:nvPr/>
        </p:nvSpPr>
        <p:spPr>
          <a:xfrm>
            <a:off x="8650224" y="2779776"/>
            <a:ext cx="2926080" cy="274320"/>
          </a:xfrm>
          <a:prstGeom prst="rect">
            <a:avLst/>
          </a:prstGeom>
          <a:noFill/>
          <a:ln/>
        </p:spPr>
        <p:txBody>
          <a:bodyPr wrap="square" lIns="0" tIns="0" rIns="0" bIns="0" rtlCol="0" anchor="ctr"/>
          <a:lstStyle/>
          <a:p>
            <a:pPr indent="0" marL="0">
              <a:buNone/>
            </a:pPr>
            <a:r>
              <a:rPr lang="en-US" sz="950" dirty="0">
                <a:solidFill>
                  <a:srgbClr val="5F594E"/>
                </a:solidFill>
                <a:latin typeface="Yu Gothic" pitchFamily="34" charset="0"/>
                <a:ea typeface="Yu Gothic" pitchFamily="34" charset="-122"/>
                <a:cs typeface="Yu Gothic" pitchFamily="34" charset="-120"/>
              </a:rPr>
              <a:t>中身を見てから、応募・来店</a:t>
            </a:r>
            <a:endParaRPr lang="en-US" sz="950" dirty="0"/>
          </a:p>
        </p:txBody>
      </p:sp>
      <p:sp>
        <p:nvSpPr>
          <p:cNvPr id="16" name="Shape 14"/>
          <p:cNvSpPr/>
          <p:nvPr/>
        </p:nvSpPr>
        <p:spPr>
          <a:xfrm>
            <a:off x="548640" y="3703320"/>
            <a:ext cx="5486400" cy="1691640"/>
          </a:xfrm>
          <a:prstGeom prst="rect">
            <a:avLst/>
          </a:prstGeom>
          <a:solidFill>
            <a:srgbClr val="141210"/>
          </a:solidFill>
          <a:ln/>
        </p:spPr>
      </p:sp>
      <p:sp>
        <p:nvSpPr>
          <p:cNvPr id="17" name="Text 15"/>
          <p:cNvSpPr txBox="1"/>
          <p:nvPr/>
        </p:nvSpPr>
        <p:spPr>
          <a:xfrm>
            <a:off x="868680" y="3931920"/>
            <a:ext cx="4846320" cy="41148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動画が </a:t>
            </a:r>
            <a:pPr indent="0" marL="0">
              <a:buNone/>
            </a:pPr>
            <a:r>
              <a:rPr lang="en-US" sz="2200" dirty="0">
                <a:solidFill>
                  <a:srgbClr val="B8B0A0"/>
                </a:solidFill>
                <a:latin typeface="Arial Black" pitchFamily="34" charset="0"/>
                <a:ea typeface="Arial Black" pitchFamily="34" charset="-122"/>
                <a:cs typeface="Arial Black" pitchFamily="34" charset="-120"/>
              </a:rPr>
              <a:t>0本</a:t>
            </a:r>
            <a:pPr indent="0" marL="0">
              <a:buNone/>
            </a:pPr>
            <a:r>
              <a:rPr lang="en-US" sz="1600" b="1" dirty="0">
                <a:solidFill>
                  <a:srgbClr val="FFFFFF"/>
                </a:solidFill>
                <a:latin typeface="Yu Gothic" pitchFamily="34" charset="0"/>
                <a:ea typeface="Yu Gothic" pitchFamily="34" charset="-122"/>
                <a:cs typeface="Yu Gothic" pitchFamily="34" charset="-120"/>
              </a:rPr>
              <a:t> の会社</a:t>
            </a:r>
            <a:endParaRPr lang="en-US" sz="1600" dirty="0"/>
          </a:p>
        </p:txBody>
      </p:sp>
      <p:sp>
        <p:nvSpPr>
          <p:cNvPr id="18" name="Text 16"/>
          <p:cNvSpPr txBox="1"/>
          <p:nvPr/>
        </p:nvSpPr>
        <p:spPr>
          <a:xfrm>
            <a:off x="868680" y="4526280"/>
            <a:ext cx="4846320" cy="685800"/>
          </a:xfrm>
          <a:prstGeom prst="rect">
            <a:avLst/>
          </a:prstGeom>
          <a:noFill/>
          <a:ln/>
        </p:spPr>
        <p:txBody>
          <a:bodyPr wrap="square" lIns="0" tIns="0" rIns="0" bIns="0" rtlCol="0" anchor="ctr"/>
          <a:lstStyle/>
          <a:p>
            <a:pPr indent="0" marL="0">
              <a:lnSpc>
                <a:spcPts val="1700"/>
              </a:lnSpc>
              <a:buNone/>
            </a:pPr>
            <a:r>
              <a:rPr lang="en-US" sz="1100" dirty="0">
                <a:solidFill>
                  <a:srgbClr val="B8B0A0"/>
                </a:solidFill>
                <a:latin typeface="Yu Gothic" pitchFamily="34" charset="0"/>
                <a:ea typeface="Yu Gothic" pitchFamily="34" charset="-122"/>
                <a:cs typeface="Yu Gothic" pitchFamily="34" charset="-120"/>
              </a:rPr>
              <a:t>検索しても、何も出てこない。比較の土俵に乗れないまま、候補から“静かに”外れていきます。</a:t>
            </a:r>
            <a:endParaRPr lang="en-US" sz="1100" dirty="0"/>
          </a:p>
        </p:txBody>
      </p:sp>
      <p:sp>
        <p:nvSpPr>
          <p:cNvPr id="19" name="Shape 17"/>
          <p:cNvSpPr/>
          <p:nvPr/>
        </p:nvSpPr>
        <p:spPr>
          <a:xfrm>
            <a:off x="6153912" y="3703320"/>
            <a:ext cx="5486400" cy="1691640"/>
          </a:xfrm>
          <a:prstGeom prst="rect">
            <a:avLst/>
          </a:prstGeom>
          <a:solidFill>
            <a:srgbClr val="FFC62E"/>
          </a:solidFill>
          <a:ln/>
        </p:spPr>
      </p:sp>
      <p:sp>
        <p:nvSpPr>
          <p:cNvPr id="20" name="Text 18"/>
          <p:cNvSpPr txBox="1"/>
          <p:nvPr/>
        </p:nvSpPr>
        <p:spPr>
          <a:xfrm>
            <a:off x="6473952" y="3931920"/>
            <a:ext cx="4846320" cy="411480"/>
          </a:xfrm>
          <a:prstGeom prst="rect">
            <a:avLst/>
          </a:prstGeom>
          <a:noFill/>
          <a:ln/>
        </p:spPr>
        <p:txBody>
          <a:bodyPr wrap="square" lIns="0" tIns="0" rIns="0" bIns="0" rtlCol="0" anchor="ctr"/>
          <a:lstStyle/>
          <a:p>
            <a:pPr indent="0" marL="0">
              <a:buNone/>
            </a:pPr>
            <a:r>
              <a:rPr lang="en-US" sz="1600" b="1" dirty="0">
                <a:solidFill>
                  <a:srgbClr val="141210"/>
                </a:solidFill>
                <a:latin typeface="Yu Gothic" pitchFamily="34" charset="0"/>
                <a:ea typeface="Yu Gothic" pitchFamily="34" charset="-122"/>
                <a:cs typeface="Yu Gothic" pitchFamily="34" charset="-120"/>
              </a:rPr>
              <a:t>動画が </a:t>
            </a:r>
            <a:pPr indent="0" marL="0">
              <a:buNone/>
            </a:pPr>
            <a:r>
              <a:rPr lang="en-US" sz="2200" dirty="0">
                <a:solidFill>
                  <a:srgbClr val="FFFFFF"/>
                </a:solidFill>
                <a:latin typeface="Arial Black" pitchFamily="34" charset="0"/>
                <a:ea typeface="Arial Black" pitchFamily="34" charset="-122"/>
                <a:cs typeface="Arial Black" pitchFamily="34" charset="-120"/>
              </a:rPr>
              <a:t>毎日</a:t>
            </a:r>
            <a:pPr indent="0" marL="0">
              <a:buNone/>
            </a:pPr>
            <a:r>
              <a:rPr lang="en-US" sz="1600" b="1" dirty="0">
                <a:solidFill>
                  <a:srgbClr val="141210"/>
                </a:solidFill>
                <a:latin typeface="Yu Gothic" pitchFamily="34" charset="0"/>
                <a:ea typeface="Yu Gothic" pitchFamily="34" charset="-122"/>
                <a:cs typeface="Yu Gothic" pitchFamily="34" charset="-120"/>
              </a:rPr>
              <a:t> ある会社</a:t>
            </a:r>
            <a:endParaRPr lang="en-US" sz="1600" dirty="0"/>
          </a:p>
        </p:txBody>
      </p:sp>
      <p:sp>
        <p:nvSpPr>
          <p:cNvPr id="21" name="Text 19"/>
          <p:cNvSpPr txBox="1"/>
          <p:nvPr/>
        </p:nvSpPr>
        <p:spPr>
          <a:xfrm>
            <a:off x="6473952" y="4526280"/>
            <a:ext cx="4846320" cy="685800"/>
          </a:xfrm>
          <a:prstGeom prst="rect">
            <a:avLst/>
          </a:prstGeom>
          <a:noFill/>
          <a:ln/>
        </p:spPr>
        <p:txBody>
          <a:bodyPr wrap="square" lIns="0" tIns="0" rIns="0" bIns="0" rtlCol="0" anchor="ctr"/>
          <a:lstStyle/>
          <a:p>
            <a:pPr indent="0" marL="0">
              <a:lnSpc>
                <a:spcPts val="1700"/>
              </a:lnSpc>
              <a:buNone/>
            </a:pPr>
            <a:r>
              <a:rPr lang="en-US" sz="1100" b="1" dirty="0">
                <a:solidFill>
                  <a:srgbClr val="141210"/>
                </a:solidFill>
                <a:latin typeface="Yu Gothic" pitchFamily="34" charset="0"/>
                <a:ea typeface="Yu Gothic" pitchFamily="34" charset="-122"/>
                <a:cs typeface="Yu Gothic" pitchFamily="34" charset="-120"/>
              </a:rPr>
              <a:t>人も、職場も、商品も見える。「ここなら大丈夫」と確かめられた人だけが、会いに来てくれます。</a:t>
            </a:r>
            <a:endParaRPr lang="en-US" sz="1100" dirty="0"/>
          </a:p>
        </p:txBody>
      </p:sp>
      <p:sp>
        <p:nvSpPr>
          <p:cNvPr id="22" name="Shape 20"/>
          <p:cNvSpPr/>
          <p:nvPr/>
        </p:nvSpPr>
        <p:spPr>
          <a:xfrm>
            <a:off x="548640" y="5715000"/>
            <a:ext cx="11091672" cy="0"/>
          </a:xfrm>
          <a:prstGeom prst="line">
            <a:avLst/>
          </a:prstGeom>
          <a:noFill/>
          <a:ln w="12700">
            <a:solidFill>
              <a:srgbClr val="E2DCCE"/>
            </a:solidFill>
            <a:prstDash val="solid"/>
          </a:ln>
        </p:spPr>
      </p:sp>
      <p:sp>
        <p:nvSpPr>
          <p:cNvPr id="23" name="Text 21"/>
          <p:cNvSpPr txBox="1"/>
          <p:nvPr/>
        </p:nvSpPr>
        <p:spPr>
          <a:xfrm>
            <a:off x="548640" y="5852160"/>
            <a:ext cx="11064240" cy="347472"/>
          </a:xfrm>
          <a:prstGeom prst="rect">
            <a:avLst/>
          </a:prstGeom>
          <a:noFill/>
          <a:ln/>
        </p:spPr>
        <p:txBody>
          <a:bodyPr wrap="square" lIns="0" tIns="0" rIns="0" bIns="0" rtlCol="0" anchor="ctr"/>
          <a:lstStyle/>
          <a:p>
            <a:pPr indent="0" marL="0">
              <a:buNone/>
            </a:pPr>
            <a:r>
              <a:rPr lang="en-US" sz="1250" b="1" dirty="0">
                <a:solidFill>
                  <a:srgbClr val="141210"/>
                </a:solidFill>
                <a:latin typeface="Yu Gothic" pitchFamily="34" charset="0"/>
                <a:ea typeface="Yu Gothic" pitchFamily="34" charset="-122"/>
                <a:cs typeface="Yu Gothic" pitchFamily="34" charset="-120"/>
              </a:rPr>
              <a:t>それでも始められなかった理由は、価格 — “バズ請負”は月40〜60万円。だから私たちは、次のページの約束から始めます。</a:t>
            </a:r>
            <a:endParaRPr lang="en-US" sz="1250" dirty="0"/>
          </a:p>
        </p:txBody>
      </p:sp>
      <p:sp>
        <p:nvSpPr>
          <p:cNvPr id="24" name="Shape 22"/>
          <p:cNvSpPr/>
          <p:nvPr/>
        </p:nvSpPr>
        <p:spPr>
          <a:xfrm>
            <a:off x="548640" y="6455664"/>
            <a:ext cx="11091672" cy="0"/>
          </a:xfrm>
          <a:prstGeom prst="line">
            <a:avLst/>
          </a:prstGeom>
          <a:noFill/>
          <a:ln w="12700">
            <a:solidFill>
              <a:srgbClr val="E2DCCE"/>
            </a:solidFill>
            <a:prstDash val="solid"/>
          </a:ln>
        </p:spPr>
      </p:sp>
      <p:sp>
        <p:nvSpPr>
          <p:cNvPr id="25" name="Text 23"/>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26" name="Text 24"/>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210"/>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400" kern="0" dirty="0">
                <a:solidFill>
                  <a:srgbClr val="FFC62E"/>
                </a:solidFill>
                <a:latin typeface="Arial" pitchFamily="34" charset="0"/>
                <a:ea typeface="Arial" pitchFamily="34" charset="-122"/>
                <a:cs typeface="Arial" pitchFamily="34" charset="-120"/>
              </a:rPr>
              <a:t>02 / THE PROMISE</a:t>
            </a:r>
            <a:endParaRPr lang="en-US" sz="1200" dirty="0"/>
          </a:p>
        </p:txBody>
      </p:sp>
      <p:sp>
        <p:nvSpPr>
          <p:cNvPr id="3" name="Text 1"/>
          <p:cNvSpPr txBox="1"/>
          <p:nvPr/>
        </p:nvSpPr>
        <p:spPr>
          <a:xfrm>
            <a:off x="566928" y="1234440"/>
            <a:ext cx="11064240" cy="1371600"/>
          </a:xfrm>
          <a:prstGeom prst="rect">
            <a:avLst/>
          </a:prstGeom>
          <a:noFill/>
          <a:ln/>
        </p:spPr>
        <p:txBody>
          <a:bodyPr wrap="square" lIns="0" tIns="0" rIns="0" bIns="0" rtlCol="0" anchor="ctr"/>
          <a:lstStyle/>
          <a:p>
            <a:pPr indent="0" marL="0">
              <a:buNone/>
            </a:pPr>
            <a:r>
              <a:rPr lang="en-US" sz="6600" b="1" dirty="0">
                <a:solidFill>
                  <a:srgbClr val="FFFFFF"/>
                </a:solidFill>
                <a:latin typeface="Yu Gothic" pitchFamily="34" charset="0"/>
                <a:ea typeface="Yu Gothic" pitchFamily="34" charset="-122"/>
                <a:cs typeface="Yu Gothic" pitchFamily="34" charset="-120"/>
              </a:rPr>
              <a:t>平日は、毎日1本。</a:t>
            </a:r>
            <a:endParaRPr lang="en-US" sz="6600" dirty="0"/>
          </a:p>
        </p:txBody>
      </p:sp>
      <p:sp>
        <p:nvSpPr>
          <p:cNvPr id="4" name="Text 2"/>
          <p:cNvSpPr txBox="1"/>
          <p:nvPr/>
        </p:nvSpPr>
        <p:spPr>
          <a:xfrm>
            <a:off x="640080" y="2697480"/>
            <a:ext cx="10972800" cy="411480"/>
          </a:xfrm>
          <a:prstGeom prst="rect">
            <a:avLst/>
          </a:prstGeom>
          <a:noFill/>
          <a:ln/>
        </p:spPr>
        <p:txBody>
          <a:bodyPr wrap="square" lIns="0" tIns="0" rIns="0" bIns="0" rtlCol="0" anchor="ctr"/>
          <a:lstStyle/>
          <a:p>
            <a:pPr indent="0" marL="0">
              <a:buNone/>
            </a:pPr>
            <a:r>
              <a:rPr lang="en-US" sz="1500" dirty="0">
                <a:solidFill>
                  <a:srgbClr val="B8B0A0"/>
                </a:solidFill>
                <a:latin typeface="Yu Gothic" pitchFamily="34" charset="0"/>
                <a:ea typeface="Yu Gothic" pitchFamily="34" charset="-122"/>
                <a:cs typeface="Yu Gothic" pitchFamily="34" charset="-120"/>
              </a:rPr>
              <a:t>月20本は、営業日とほぼ同じ数。バズ請負なら月40〜60万円かかる物量を、はじめての会社が持てる価格で — それが私たちの約束です。</a:t>
            </a:r>
            <a:endParaRPr lang="en-US" sz="1500" dirty="0"/>
          </a:p>
        </p:txBody>
      </p:sp>
      <p:sp>
        <p:nvSpPr>
          <p:cNvPr id="5" name="Shape 3"/>
          <p:cNvSpPr/>
          <p:nvPr/>
        </p:nvSpPr>
        <p:spPr>
          <a:xfrm>
            <a:off x="640080" y="3383280"/>
            <a:ext cx="10908792" cy="0"/>
          </a:xfrm>
          <a:prstGeom prst="line">
            <a:avLst/>
          </a:prstGeom>
          <a:noFill/>
          <a:ln w="25400">
            <a:solidFill>
              <a:srgbClr val="FFFFFF"/>
            </a:solidFill>
            <a:prstDash val="solid"/>
          </a:ln>
        </p:spPr>
      </p:sp>
      <p:sp>
        <p:nvSpPr>
          <p:cNvPr id="6" name="Text 4"/>
          <p:cNvSpPr txBox="1"/>
          <p:nvPr/>
        </p:nvSpPr>
        <p:spPr>
          <a:xfrm>
            <a:off x="640080" y="3657600"/>
            <a:ext cx="3291840" cy="320040"/>
          </a:xfrm>
          <a:prstGeom prst="rect">
            <a:avLst/>
          </a:prstGeom>
          <a:noFill/>
          <a:ln/>
        </p:spPr>
        <p:txBody>
          <a:bodyPr wrap="square" lIns="0" tIns="0" rIns="0" bIns="0" rtlCol="0" anchor="ctr"/>
          <a:lstStyle/>
          <a:p>
            <a:pPr indent="0" marL="0">
              <a:buNone/>
            </a:pPr>
            <a:r>
              <a:rPr lang="en-US" sz="1300" dirty="0">
                <a:solidFill>
                  <a:srgbClr val="B8B0A0"/>
                </a:solidFill>
                <a:latin typeface="Yu Gothic" pitchFamily="34" charset="0"/>
                <a:ea typeface="Yu Gothic" pitchFamily="34" charset="-122"/>
                <a:cs typeface="Yu Gothic" pitchFamily="34" charset="-120"/>
              </a:rPr>
              <a:t>月に</a:t>
            </a:r>
            <a:endParaRPr lang="en-US" sz="1300" dirty="0"/>
          </a:p>
        </p:txBody>
      </p:sp>
      <p:sp>
        <p:nvSpPr>
          <p:cNvPr id="7" name="Text 5"/>
          <p:cNvSpPr txBox="1"/>
          <p:nvPr/>
        </p:nvSpPr>
        <p:spPr>
          <a:xfrm>
            <a:off x="594360" y="3977640"/>
            <a:ext cx="3657600" cy="1234440"/>
          </a:xfrm>
          <a:prstGeom prst="rect">
            <a:avLst/>
          </a:prstGeom>
          <a:noFill/>
          <a:ln/>
        </p:spPr>
        <p:txBody>
          <a:bodyPr wrap="square" lIns="0" tIns="0" rIns="0" bIns="0" rtlCol="0" anchor="ctr"/>
          <a:lstStyle/>
          <a:p>
            <a:pPr indent="0" marL="0">
              <a:buNone/>
            </a:pPr>
            <a:r>
              <a:rPr lang="en-US" sz="6400" dirty="0">
                <a:solidFill>
                  <a:srgbClr val="FFFFFF"/>
                </a:solidFill>
                <a:latin typeface="Arial Black" pitchFamily="34" charset="0"/>
                <a:ea typeface="Arial Black" pitchFamily="34" charset="-122"/>
                <a:cs typeface="Arial Black" pitchFamily="34" charset="-120"/>
              </a:rPr>
              <a:t>20</a:t>
            </a:r>
            <a:pPr indent="0" marL="0">
              <a:buNone/>
            </a:pPr>
            <a:r>
              <a:rPr lang="en-US" sz="2200" b="1" dirty="0">
                <a:solidFill>
                  <a:srgbClr val="B8B0A0"/>
                </a:solidFill>
                <a:latin typeface="Yu Gothic" pitchFamily="34" charset="0"/>
                <a:ea typeface="Yu Gothic" pitchFamily="34" charset="-122"/>
                <a:cs typeface="Yu Gothic" pitchFamily="34" charset="-120"/>
              </a:rPr>
              <a:t> 本</a:t>
            </a:r>
            <a:endParaRPr lang="en-US" sz="6400" dirty="0"/>
          </a:p>
        </p:txBody>
      </p:sp>
      <p:sp>
        <p:nvSpPr>
          <p:cNvPr id="8" name="Text 6"/>
          <p:cNvSpPr txBox="1"/>
          <p:nvPr/>
        </p:nvSpPr>
        <p:spPr>
          <a:xfrm>
            <a:off x="4389120" y="3657600"/>
            <a:ext cx="3291840" cy="320040"/>
          </a:xfrm>
          <a:prstGeom prst="rect">
            <a:avLst/>
          </a:prstGeom>
          <a:noFill/>
          <a:ln/>
        </p:spPr>
        <p:txBody>
          <a:bodyPr wrap="square" lIns="0" tIns="0" rIns="0" bIns="0" rtlCol="0" anchor="ctr"/>
          <a:lstStyle/>
          <a:p>
            <a:pPr indent="0" marL="0">
              <a:buNone/>
            </a:pPr>
            <a:r>
              <a:rPr lang="en-US" sz="1300" dirty="0">
                <a:solidFill>
                  <a:srgbClr val="B8B0A0"/>
                </a:solidFill>
                <a:latin typeface="Yu Gothic" pitchFamily="34" charset="0"/>
                <a:ea typeface="Yu Gothic" pitchFamily="34" charset="-122"/>
                <a:cs typeface="Yu Gothic" pitchFamily="34" charset="-120"/>
              </a:rPr>
              <a:t>2年で</a:t>
            </a:r>
            <a:endParaRPr lang="en-US" sz="1300" dirty="0"/>
          </a:p>
        </p:txBody>
      </p:sp>
      <p:sp>
        <p:nvSpPr>
          <p:cNvPr id="9" name="Text 7"/>
          <p:cNvSpPr txBox="1"/>
          <p:nvPr/>
        </p:nvSpPr>
        <p:spPr>
          <a:xfrm>
            <a:off x="4343400" y="3977640"/>
            <a:ext cx="3657600" cy="1234440"/>
          </a:xfrm>
          <a:prstGeom prst="rect">
            <a:avLst/>
          </a:prstGeom>
          <a:noFill/>
          <a:ln/>
        </p:spPr>
        <p:txBody>
          <a:bodyPr wrap="square" lIns="0" tIns="0" rIns="0" bIns="0" rtlCol="0" anchor="ctr"/>
          <a:lstStyle/>
          <a:p>
            <a:pPr indent="0" marL="0">
              <a:buNone/>
            </a:pPr>
            <a:r>
              <a:rPr lang="en-US" sz="6400" dirty="0">
                <a:solidFill>
                  <a:srgbClr val="FFC62E"/>
                </a:solidFill>
                <a:latin typeface="Arial Black" pitchFamily="34" charset="0"/>
                <a:ea typeface="Arial Black" pitchFamily="34" charset="-122"/>
                <a:cs typeface="Arial Black" pitchFamily="34" charset="-120"/>
              </a:rPr>
              <a:t>480</a:t>
            </a:r>
            <a:pPr indent="0" marL="0">
              <a:buNone/>
            </a:pPr>
            <a:r>
              <a:rPr lang="en-US" sz="2200" b="1" dirty="0">
                <a:solidFill>
                  <a:srgbClr val="B8B0A0"/>
                </a:solidFill>
                <a:latin typeface="Yu Gothic" pitchFamily="34" charset="0"/>
                <a:ea typeface="Yu Gothic" pitchFamily="34" charset="-122"/>
                <a:cs typeface="Yu Gothic" pitchFamily="34" charset="-120"/>
              </a:rPr>
              <a:t> 本</a:t>
            </a:r>
            <a:endParaRPr lang="en-US" sz="6400" dirty="0"/>
          </a:p>
        </p:txBody>
      </p:sp>
      <p:sp>
        <p:nvSpPr>
          <p:cNvPr id="10" name="Shape 8"/>
          <p:cNvSpPr/>
          <p:nvPr/>
        </p:nvSpPr>
        <p:spPr>
          <a:xfrm>
            <a:off x="4114800" y="3749040"/>
            <a:ext cx="0" cy="1371600"/>
          </a:xfrm>
          <a:prstGeom prst="line">
            <a:avLst/>
          </a:prstGeom>
          <a:noFill/>
          <a:ln w="12700">
            <a:solidFill>
              <a:srgbClr val="3A352C"/>
            </a:solidFill>
            <a:prstDash val="solid"/>
          </a:ln>
        </p:spPr>
      </p:sp>
      <p:sp>
        <p:nvSpPr>
          <p:cNvPr id="11" name="Text 9"/>
          <p:cNvSpPr txBox="1"/>
          <p:nvPr/>
        </p:nvSpPr>
        <p:spPr>
          <a:xfrm>
            <a:off x="8138160" y="3657600"/>
            <a:ext cx="3291840" cy="320040"/>
          </a:xfrm>
          <a:prstGeom prst="rect">
            <a:avLst/>
          </a:prstGeom>
          <a:noFill/>
          <a:ln/>
        </p:spPr>
        <p:txBody>
          <a:bodyPr wrap="square" lIns="0" tIns="0" rIns="0" bIns="0" rtlCol="0" anchor="ctr"/>
          <a:lstStyle/>
          <a:p>
            <a:pPr indent="0" marL="0">
              <a:buNone/>
            </a:pPr>
            <a:r>
              <a:rPr lang="en-US" sz="1300" dirty="0">
                <a:solidFill>
                  <a:srgbClr val="B8B0A0"/>
                </a:solidFill>
                <a:latin typeface="Yu Gothic" pitchFamily="34" charset="0"/>
                <a:ea typeface="Yu Gothic" pitchFamily="34" charset="-122"/>
                <a:cs typeface="Yu Gothic" pitchFamily="34" charset="-120"/>
              </a:rPr>
              <a:t>実質1本あたり</a:t>
            </a:r>
            <a:endParaRPr lang="en-US" sz="1300" dirty="0"/>
          </a:p>
        </p:txBody>
      </p:sp>
      <p:sp>
        <p:nvSpPr>
          <p:cNvPr id="12" name="Text 10"/>
          <p:cNvSpPr txBox="1"/>
          <p:nvPr/>
        </p:nvSpPr>
        <p:spPr>
          <a:xfrm>
            <a:off x="8092440" y="3977640"/>
            <a:ext cx="3657600" cy="1234440"/>
          </a:xfrm>
          <a:prstGeom prst="rect">
            <a:avLst/>
          </a:prstGeom>
          <a:noFill/>
          <a:ln/>
        </p:spPr>
        <p:txBody>
          <a:bodyPr wrap="square" lIns="0" tIns="0" rIns="0" bIns="0" rtlCol="0" anchor="ctr"/>
          <a:lstStyle/>
          <a:p>
            <a:pPr indent="0" marL="0">
              <a:buNone/>
            </a:pPr>
            <a:r>
              <a:rPr lang="en-US" sz="6400" dirty="0">
                <a:solidFill>
                  <a:srgbClr val="FFFFFF"/>
                </a:solidFill>
                <a:latin typeface="Arial Black" pitchFamily="34" charset="0"/>
                <a:ea typeface="Arial Black" pitchFamily="34" charset="-122"/>
                <a:cs typeface="Arial Black" pitchFamily="34" charset="-120"/>
              </a:rPr>
              <a:t>4,167</a:t>
            </a:r>
            <a:pPr indent="0" marL="0">
              <a:buNone/>
            </a:pPr>
            <a:r>
              <a:rPr lang="en-US" sz="2200" b="1" dirty="0">
                <a:solidFill>
                  <a:srgbClr val="B8B0A0"/>
                </a:solidFill>
                <a:latin typeface="Yu Gothic" pitchFamily="34" charset="0"/>
                <a:ea typeface="Yu Gothic" pitchFamily="34" charset="-122"/>
                <a:cs typeface="Yu Gothic" pitchFamily="34" charset="-120"/>
              </a:rPr>
              <a:t> 円</a:t>
            </a:r>
            <a:endParaRPr lang="en-US" sz="6400" dirty="0"/>
          </a:p>
        </p:txBody>
      </p:sp>
      <p:sp>
        <p:nvSpPr>
          <p:cNvPr id="13" name="Shape 11"/>
          <p:cNvSpPr/>
          <p:nvPr/>
        </p:nvSpPr>
        <p:spPr>
          <a:xfrm>
            <a:off x="7863840" y="3749040"/>
            <a:ext cx="0" cy="1371600"/>
          </a:xfrm>
          <a:prstGeom prst="line">
            <a:avLst/>
          </a:prstGeom>
          <a:noFill/>
          <a:ln w="12700">
            <a:solidFill>
              <a:srgbClr val="3A352C"/>
            </a:solidFill>
            <a:prstDash val="solid"/>
          </a:ln>
        </p:spPr>
      </p:sp>
      <p:sp>
        <p:nvSpPr>
          <p:cNvPr id="14" name="Text 12"/>
          <p:cNvSpPr txBox="1"/>
          <p:nvPr/>
        </p:nvSpPr>
        <p:spPr>
          <a:xfrm>
            <a:off x="640080" y="5760720"/>
            <a:ext cx="10972800" cy="411480"/>
          </a:xfrm>
          <a:prstGeom prst="rect">
            <a:avLst/>
          </a:prstGeom>
          <a:noFill/>
          <a:ln/>
        </p:spPr>
        <p:txBody>
          <a:bodyPr wrap="square" lIns="0" tIns="0" rIns="0" bIns="0" rtlCol="0" anchor="ctr"/>
          <a:lstStyle/>
          <a:p>
            <a:pPr indent="0" marL="0">
              <a:buNone/>
            </a:pPr>
            <a:r>
              <a:rPr lang="en-US" sz="1400" b="1" dirty="0">
                <a:solidFill>
                  <a:srgbClr val="FFC62E"/>
                </a:solidFill>
                <a:latin typeface="Yu Gothic" pitchFamily="34" charset="0"/>
                <a:ea typeface="Yu Gothic" pitchFamily="34" charset="-122"/>
                <a:cs typeface="Yu Gothic" pitchFamily="34" charset="-120"/>
              </a:rPr>
              <a:t>集客も、認知拡大も、採用も。動画は投稿した数だけ資産になります — 2年後、480本を持っている会社と、0本の会社。</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03 / </a:t>
            </a:r>
            <a:pPr indent="0" marL="0">
              <a:buNone/>
            </a:pPr>
            <a:r>
              <a:rPr lang="en-US" sz="1200" b="1" spc="300" kern="0" dirty="0">
                <a:solidFill>
                  <a:srgbClr val="B8860B"/>
                </a:solidFill>
                <a:latin typeface="Arial" pitchFamily="34" charset="0"/>
                <a:ea typeface="Arial" pitchFamily="34" charset="-122"/>
                <a:cs typeface="Arial" pitchFamily="34" charset="-120"/>
              </a:rPr>
              <a:t>WHY TIKTOK</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バズらなくても、伝わる。</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548640" y="1499616"/>
            <a:ext cx="11064240" cy="347472"/>
          </a:xfrm>
          <a:prstGeom prst="rect">
            <a:avLst/>
          </a:prstGeom>
          <a:noFill/>
          <a:ln/>
        </p:spPr>
        <p:txBody>
          <a:bodyPr wrap="square" lIns="0" tIns="0" rIns="0" bIns="0" rtlCol="0" anchor="ctr"/>
          <a:lstStyle/>
          <a:p>
            <a:pPr indent="0" marL="0">
              <a:buNone/>
            </a:pPr>
            <a:r>
              <a:rPr lang="en-US" sz="1300" b="1" dirty="0">
                <a:solidFill>
                  <a:srgbClr val="141210"/>
                </a:solidFill>
                <a:latin typeface="Yu Gothic" pitchFamily="34" charset="0"/>
                <a:ea typeface="Yu Gothic" pitchFamily="34" charset="-122"/>
                <a:cs typeface="Yu Gothic" pitchFamily="34" charset="-120"/>
              </a:rPr>
              <a:t>私たちは“バズらせる業者”ではありません。御社の中身を毎日伝える、“本数をつくる会社”です — 誰が出るかで、動画は違う仕事をします。</a:t>
            </a:r>
            <a:endParaRPr lang="en-US" sz="1300" dirty="0"/>
          </a:p>
        </p:txBody>
      </p:sp>
      <p:sp>
        <p:nvSpPr>
          <p:cNvPr id="7" name="Shape 5"/>
          <p:cNvSpPr/>
          <p:nvPr/>
        </p:nvSpPr>
        <p:spPr>
          <a:xfrm>
            <a:off x="548640" y="2029968"/>
            <a:ext cx="5376672" cy="1828800"/>
          </a:xfrm>
          <a:prstGeom prst="rect">
            <a:avLst/>
          </a:prstGeom>
          <a:solidFill>
            <a:srgbClr val="F5F0E1"/>
          </a:solidFill>
          <a:ln/>
        </p:spPr>
      </p:sp>
      <p:sp>
        <p:nvSpPr>
          <p:cNvPr id="8" name="Shape 6"/>
          <p:cNvSpPr/>
          <p:nvPr/>
        </p:nvSpPr>
        <p:spPr>
          <a:xfrm>
            <a:off x="548640" y="2029968"/>
            <a:ext cx="82296" cy="1828800"/>
          </a:xfrm>
          <a:prstGeom prst="rect">
            <a:avLst/>
          </a:prstGeom>
          <a:solidFill>
            <a:srgbClr val="FFC62E"/>
          </a:solidFill>
          <a:ln/>
        </p:spPr>
      </p:sp>
      <p:sp>
        <p:nvSpPr>
          <p:cNvPr id="9" name="Shape 7"/>
          <p:cNvSpPr/>
          <p:nvPr/>
        </p:nvSpPr>
        <p:spPr>
          <a:xfrm>
            <a:off x="822960" y="2203704"/>
            <a:ext cx="859536" cy="1481328"/>
          </a:xfrm>
          <a:prstGeom prst="roundRect">
            <a:avLst>
              <a:gd name="adj" fmla="val 7447"/>
            </a:avLst>
          </a:prstGeom>
          <a:solidFill>
            <a:srgbClr val="141210"/>
          </a:solidFill>
          <a:ln/>
        </p:spPr>
      </p:sp>
      <p:sp>
        <p:nvSpPr>
          <p:cNvPr id="10" name="Text 8"/>
          <p:cNvSpPr txBox="1"/>
          <p:nvPr/>
        </p:nvSpPr>
        <p:spPr>
          <a:xfrm>
            <a:off x="877824" y="2258568"/>
            <a:ext cx="768096" cy="128016"/>
          </a:xfrm>
          <a:prstGeom prst="rect">
            <a:avLst/>
          </a:prstGeom>
          <a:noFill/>
          <a:ln/>
        </p:spPr>
        <p:txBody>
          <a:bodyPr wrap="square" lIns="0" tIns="0" rIns="0" bIns="0" rtlCol="0" anchor="ctr"/>
          <a:lstStyle/>
          <a:p>
            <a:pPr indent="0" marL="0">
              <a:buNone/>
            </a:pPr>
            <a:r>
              <a:rPr lang="en-US" sz="500" dirty="0">
                <a:solidFill>
                  <a:srgbClr val="B8B0A0"/>
                </a:solidFill>
                <a:latin typeface="Arial" pitchFamily="34" charset="0"/>
                <a:ea typeface="Arial" pitchFamily="34" charset="-122"/>
                <a:cs typeface="Arial" pitchFamily="34" charset="-120"/>
              </a:rPr>
              <a:t>@yourcompany</a:t>
            </a:r>
            <a:endParaRPr lang="en-US" sz="500" dirty="0"/>
          </a:p>
        </p:txBody>
      </p:sp>
      <p:sp>
        <p:nvSpPr>
          <p:cNvPr id="11" name="Shape 9"/>
          <p:cNvSpPr/>
          <p:nvPr/>
        </p:nvSpPr>
        <p:spPr>
          <a:xfrm rot="5400000">
            <a:off x="1170432" y="2724912"/>
            <a:ext cx="164592" cy="164592"/>
          </a:xfrm>
          <a:prstGeom prst="triangle">
            <a:avLst/>
          </a:prstGeom>
          <a:solidFill>
            <a:srgbClr val="FFC62E"/>
          </a:solidFill>
          <a:ln/>
        </p:spPr>
      </p:sp>
      <p:sp>
        <p:nvSpPr>
          <p:cNvPr id="12" name="Shape 10"/>
          <p:cNvSpPr/>
          <p:nvPr/>
        </p:nvSpPr>
        <p:spPr>
          <a:xfrm>
            <a:off x="1545336" y="2679192"/>
            <a:ext cx="68580" cy="68580"/>
          </a:xfrm>
          <a:prstGeom prst="ellipse">
            <a:avLst/>
          </a:prstGeom>
          <a:solidFill>
            <a:srgbClr val="FFC62E"/>
          </a:solidFill>
          <a:ln/>
        </p:spPr>
      </p:sp>
      <p:sp>
        <p:nvSpPr>
          <p:cNvPr id="13" name="Shape 11"/>
          <p:cNvSpPr/>
          <p:nvPr/>
        </p:nvSpPr>
        <p:spPr>
          <a:xfrm>
            <a:off x="1545336" y="2834640"/>
            <a:ext cx="68580" cy="68580"/>
          </a:xfrm>
          <a:prstGeom prst="ellipse">
            <a:avLst/>
          </a:prstGeom>
          <a:solidFill>
            <a:srgbClr val="FFFFFF"/>
          </a:solidFill>
          <a:ln/>
        </p:spPr>
      </p:sp>
      <p:sp>
        <p:nvSpPr>
          <p:cNvPr id="14" name="Shape 12"/>
          <p:cNvSpPr/>
          <p:nvPr/>
        </p:nvSpPr>
        <p:spPr>
          <a:xfrm>
            <a:off x="1545336" y="2990088"/>
            <a:ext cx="68580" cy="68580"/>
          </a:xfrm>
          <a:prstGeom prst="ellipse">
            <a:avLst/>
          </a:prstGeom>
          <a:solidFill>
            <a:srgbClr val="FFFFFF"/>
          </a:solidFill>
          <a:ln/>
        </p:spPr>
      </p:sp>
      <p:sp>
        <p:nvSpPr>
          <p:cNvPr id="15" name="Text 13"/>
          <p:cNvSpPr txBox="1"/>
          <p:nvPr/>
        </p:nvSpPr>
        <p:spPr>
          <a:xfrm>
            <a:off x="868680" y="3227832"/>
            <a:ext cx="768096" cy="292608"/>
          </a:xfrm>
          <a:prstGeom prst="rect">
            <a:avLst/>
          </a:prstGeom>
          <a:noFill/>
          <a:ln/>
        </p:spPr>
        <p:txBody>
          <a:bodyPr wrap="square" lIns="0" tIns="0" rIns="0" bIns="0" rtlCol="0" anchor="ctr"/>
          <a:lstStyle/>
          <a:p>
            <a:pPr indent="0" marL="0">
              <a:buNone/>
            </a:pPr>
            <a:r>
              <a:rPr lang="en-US" sz="850" b="1" dirty="0">
                <a:solidFill>
                  <a:srgbClr val="FFFFFF"/>
                </a:solidFill>
                <a:latin typeface="Yu Gothic" pitchFamily="34" charset="0"/>
                <a:ea typeface="Yu Gothic" pitchFamily="34" charset="-122"/>
                <a:cs typeface="Yu Gothic" pitchFamily="34" charset="-120"/>
              </a:rPr>
              <a:t>理念と人柄</a:t>
            </a:r>
            <a:endParaRPr lang="en-US" sz="850" dirty="0"/>
          </a:p>
        </p:txBody>
      </p:sp>
      <p:sp>
        <p:nvSpPr>
          <p:cNvPr id="16" name="Shape 14"/>
          <p:cNvSpPr/>
          <p:nvPr/>
        </p:nvSpPr>
        <p:spPr>
          <a:xfrm>
            <a:off x="877824" y="3566160"/>
            <a:ext cx="464881" cy="32004"/>
          </a:xfrm>
          <a:prstGeom prst="rect">
            <a:avLst/>
          </a:prstGeom>
          <a:solidFill>
            <a:srgbClr val="FFC62E"/>
          </a:solidFill>
          <a:ln/>
        </p:spPr>
      </p:sp>
      <p:sp>
        <p:nvSpPr>
          <p:cNvPr id="17" name="Shape 15"/>
          <p:cNvSpPr/>
          <p:nvPr/>
        </p:nvSpPr>
        <p:spPr>
          <a:xfrm>
            <a:off x="1342705" y="3566160"/>
            <a:ext cx="284927" cy="32004"/>
          </a:xfrm>
          <a:prstGeom prst="rect">
            <a:avLst/>
          </a:prstGeom>
          <a:solidFill>
            <a:srgbClr val="4A4335"/>
          </a:solidFill>
          <a:ln/>
        </p:spPr>
      </p:sp>
      <p:sp>
        <p:nvSpPr>
          <p:cNvPr id="18" name="Text 16"/>
          <p:cNvSpPr txBox="1"/>
          <p:nvPr/>
        </p:nvSpPr>
        <p:spPr>
          <a:xfrm>
            <a:off x="1920240" y="2194560"/>
            <a:ext cx="3886200" cy="310896"/>
          </a:xfrm>
          <a:prstGeom prst="rect">
            <a:avLst/>
          </a:prstGeom>
          <a:noFill/>
          <a:ln/>
        </p:spPr>
        <p:txBody>
          <a:bodyPr wrap="square" lIns="0" tIns="0" rIns="0" bIns="0" rtlCol="0" anchor="ctr"/>
          <a:lstStyle/>
          <a:p>
            <a:pPr indent="0" marL="0">
              <a:buNone/>
            </a:pPr>
            <a:r>
              <a:rPr lang="en-US" sz="1400" b="1" dirty="0">
                <a:solidFill>
                  <a:srgbClr val="141210"/>
                </a:solidFill>
                <a:latin typeface="Yu Gothic" pitchFamily="34" charset="0"/>
                <a:ea typeface="Yu Gothic" pitchFamily="34" charset="-122"/>
                <a:cs typeface="Yu Gothic" pitchFamily="34" charset="-120"/>
              </a:rPr>
              <a:t>社長が出るなら</a:t>
            </a:r>
            <a:endParaRPr lang="en-US" sz="1400" dirty="0"/>
          </a:p>
        </p:txBody>
      </p:sp>
      <p:sp>
        <p:nvSpPr>
          <p:cNvPr id="19" name="Text 17"/>
          <p:cNvSpPr txBox="1"/>
          <p:nvPr/>
        </p:nvSpPr>
        <p:spPr>
          <a:xfrm>
            <a:off x="1920240" y="2578608"/>
            <a:ext cx="3840480" cy="868680"/>
          </a:xfrm>
          <a:prstGeom prst="rect">
            <a:avLst/>
          </a:prstGeom>
          <a:noFill/>
          <a:ln/>
        </p:spPr>
        <p:txBody>
          <a:bodyPr wrap="square" lIns="0" tIns="0" rIns="0" bIns="0" rtlCol="0" anchor="ctr"/>
          <a:lstStyle/>
          <a:p>
            <a:pPr indent="0" marL="0">
              <a:lnSpc>
                <a:spcPts val="1500"/>
              </a:lnSpc>
              <a:buNone/>
            </a:pPr>
            <a:r>
              <a:rPr lang="en-US" sz="950" dirty="0">
                <a:solidFill>
                  <a:srgbClr val="5F594E"/>
                </a:solidFill>
                <a:latin typeface="Yu Gothic" pitchFamily="34" charset="0"/>
                <a:ea typeface="Yu Gothic" pitchFamily="34" charset="-122"/>
                <a:cs typeface="Yu Gothic" pitchFamily="34" charset="-120"/>
              </a:rPr>
              <a:t>会社の理念と人柄が伝わり、「どんな人の会社か」に共感した人が集まってきます。</a:t>
            </a:r>
            <a:endParaRPr lang="en-US" sz="950" dirty="0"/>
          </a:p>
        </p:txBody>
      </p:sp>
      <p:sp>
        <p:nvSpPr>
          <p:cNvPr id="20" name="Text 18"/>
          <p:cNvSpPr txBox="1"/>
          <p:nvPr/>
        </p:nvSpPr>
        <p:spPr>
          <a:xfrm>
            <a:off x="1920240" y="3493008"/>
            <a:ext cx="3840480" cy="274320"/>
          </a:xfrm>
          <a:prstGeom prst="rect">
            <a:avLst/>
          </a:prstGeom>
          <a:noFill/>
          <a:ln/>
        </p:spPr>
        <p:txBody>
          <a:bodyPr wrap="square" lIns="0" tIns="0" rIns="0" bIns="0" rtlCol="0" anchor="ctr"/>
          <a:lstStyle/>
          <a:p>
            <a:pPr indent="0" marL="0">
              <a:buNone/>
            </a:pPr>
            <a:r>
              <a:rPr lang="en-US" sz="900" b="1" dirty="0">
                <a:solidFill>
                  <a:srgbClr val="B8860B"/>
                </a:solidFill>
                <a:latin typeface="Yu Gothic" pitchFamily="34" charset="0"/>
                <a:ea typeface="Yu Gothic" pitchFamily="34" charset="-122"/>
                <a:cs typeface="Yu Gothic" pitchFamily="34" charset="-120"/>
              </a:rPr>
              <a:t>例：「創業の話」「社長の一日」</a:t>
            </a:r>
            <a:endParaRPr lang="en-US" sz="900" dirty="0"/>
          </a:p>
        </p:txBody>
      </p:sp>
      <p:sp>
        <p:nvSpPr>
          <p:cNvPr id="21" name="Shape 19"/>
          <p:cNvSpPr/>
          <p:nvPr/>
        </p:nvSpPr>
        <p:spPr>
          <a:xfrm>
            <a:off x="6263640" y="2029968"/>
            <a:ext cx="5376672" cy="1828800"/>
          </a:xfrm>
          <a:prstGeom prst="rect">
            <a:avLst/>
          </a:prstGeom>
          <a:solidFill>
            <a:srgbClr val="F5F0E1"/>
          </a:solidFill>
          <a:ln/>
        </p:spPr>
      </p:sp>
      <p:sp>
        <p:nvSpPr>
          <p:cNvPr id="22" name="Shape 20"/>
          <p:cNvSpPr/>
          <p:nvPr/>
        </p:nvSpPr>
        <p:spPr>
          <a:xfrm>
            <a:off x="6263640" y="2029968"/>
            <a:ext cx="82296" cy="1828800"/>
          </a:xfrm>
          <a:prstGeom prst="rect">
            <a:avLst/>
          </a:prstGeom>
          <a:solidFill>
            <a:srgbClr val="FFC62E"/>
          </a:solidFill>
          <a:ln/>
        </p:spPr>
      </p:sp>
      <p:sp>
        <p:nvSpPr>
          <p:cNvPr id="23" name="Shape 21"/>
          <p:cNvSpPr/>
          <p:nvPr/>
        </p:nvSpPr>
        <p:spPr>
          <a:xfrm>
            <a:off x="6537960" y="2203704"/>
            <a:ext cx="859536" cy="1481328"/>
          </a:xfrm>
          <a:prstGeom prst="roundRect">
            <a:avLst>
              <a:gd name="adj" fmla="val 7447"/>
            </a:avLst>
          </a:prstGeom>
          <a:solidFill>
            <a:srgbClr val="141210"/>
          </a:solidFill>
          <a:ln/>
        </p:spPr>
      </p:sp>
      <p:sp>
        <p:nvSpPr>
          <p:cNvPr id="24" name="Text 22"/>
          <p:cNvSpPr txBox="1"/>
          <p:nvPr/>
        </p:nvSpPr>
        <p:spPr>
          <a:xfrm>
            <a:off x="6592824" y="2258568"/>
            <a:ext cx="768096" cy="128016"/>
          </a:xfrm>
          <a:prstGeom prst="rect">
            <a:avLst/>
          </a:prstGeom>
          <a:noFill/>
          <a:ln/>
        </p:spPr>
        <p:txBody>
          <a:bodyPr wrap="square" lIns="0" tIns="0" rIns="0" bIns="0" rtlCol="0" anchor="ctr"/>
          <a:lstStyle/>
          <a:p>
            <a:pPr indent="0" marL="0">
              <a:buNone/>
            </a:pPr>
            <a:r>
              <a:rPr lang="en-US" sz="500" dirty="0">
                <a:solidFill>
                  <a:srgbClr val="B8B0A0"/>
                </a:solidFill>
                <a:latin typeface="Arial" pitchFamily="34" charset="0"/>
                <a:ea typeface="Arial" pitchFamily="34" charset="-122"/>
                <a:cs typeface="Arial" pitchFamily="34" charset="-120"/>
              </a:rPr>
              <a:t>@yourcompany</a:t>
            </a:r>
            <a:endParaRPr lang="en-US" sz="500" dirty="0"/>
          </a:p>
        </p:txBody>
      </p:sp>
      <p:sp>
        <p:nvSpPr>
          <p:cNvPr id="25" name="Shape 23"/>
          <p:cNvSpPr/>
          <p:nvPr/>
        </p:nvSpPr>
        <p:spPr>
          <a:xfrm rot="5400000">
            <a:off x="6885432" y="2724912"/>
            <a:ext cx="164592" cy="164592"/>
          </a:xfrm>
          <a:prstGeom prst="triangle">
            <a:avLst/>
          </a:prstGeom>
          <a:solidFill>
            <a:srgbClr val="FFC62E"/>
          </a:solidFill>
          <a:ln/>
        </p:spPr>
      </p:sp>
      <p:sp>
        <p:nvSpPr>
          <p:cNvPr id="26" name="Shape 24"/>
          <p:cNvSpPr/>
          <p:nvPr/>
        </p:nvSpPr>
        <p:spPr>
          <a:xfrm>
            <a:off x="7260336" y="2679192"/>
            <a:ext cx="68580" cy="68580"/>
          </a:xfrm>
          <a:prstGeom prst="ellipse">
            <a:avLst/>
          </a:prstGeom>
          <a:solidFill>
            <a:srgbClr val="FFC62E"/>
          </a:solidFill>
          <a:ln/>
        </p:spPr>
      </p:sp>
      <p:sp>
        <p:nvSpPr>
          <p:cNvPr id="27" name="Shape 25"/>
          <p:cNvSpPr/>
          <p:nvPr/>
        </p:nvSpPr>
        <p:spPr>
          <a:xfrm>
            <a:off x="7260336" y="2834640"/>
            <a:ext cx="68580" cy="68580"/>
          </a:xfrm>
          <a:prstGeom prst="ellipse">
            <a:avLst/>
          </a:prstGeom>
          <a:solidFill>
            <a:srgbClr val="FFFFFF"/>
          </a:solidFill>
          <a:ln/>
        </p:spPr>
      </p:sp>
      <p:sp>
        <p:nvSpPr>
          <p:cNvPr id="28" name="Shape 26"/>
          <p:cNvSpPr/>
          <p:nvPr/>
        </p:nvSpPr>
        <p:spPr>
          <a:xfrm>
            <a:off x="7260336" y="2990088"/>
            <a:ext cx="68580" cy="68580"/>
          </a:xfrm>
          <a:prstGeom prst="ellipse">
            <a:avLst/>
          </a:prstGeom>
          <a:solidFill>
            <a:srgbClr val="FFFFFF"/>
          </a:solidFill>
          <a:ln/>
        </p:spPr>
      </p:sp>
      <p:sp>
        <p:nvSpPr>
          <p:cNvPr id="29" name="Text 27"/>
          <p:cNvSpPr txBox="1"/>
          <p:nvPr/>
        </p:nvSpPr>
        <p:spPr>
          <a:xfrm>
            <a:off x="6583680" y="3227832"/>
            <a:ext cx="768096" cy="292608"/>
          </a:xfrm>
          <a:prstGeom prst="rect">
            <a:avLst/>
          </a:prstGeom>
          <a:noFill/>
          <a:ln/>
        </p:spPr>
        <p:txBody>
          <a:bodyPr wrap="square" lIns="0" tIns="0" rIns="0" bIns="0" rtlCol="0" anchor="ctr"/>
          <a:lstStyle/>
          <a:p>
            <a:pPr indent="0" marL="0">
              <a:buNone/>
            </a:pPr>
            <a:r>
              <a:rPr lang="en-US" sz="850" b="1" dirty="0">
                <a:solidFill>
                  <a:srgbClr val="FFFFFF"/>
                </a:solidFill>
                <a:latin typeface="Yu Gothic" pitchFamily="34" charset="0"/>
                <a:ea typeface="Yu Gothic" pitchFamily="34" charset="-122"/>
                <a:cs typeface="Yu Gothic" pitchFamily="34" charset="-120"/>
              </a:rPr>
              <a:t>職場の日常</a:t>
            </a:r>
            <a:endParaRPr lang="en-US" sz="850" dirty="0"/>
          </a:p>
        </p:txBody>
      </p:sp>
      <p:sp>
        <p:nvSpPr>
          <p:cNvPr id="30" name="Shape 28"/>
          <p:cNvSpPr/>
          <p:nvPr/>
        </p:nvSpPr>
        <p:spPr>
          <a:xfrm>
            <a:off x="6592824" y="3566160"/>
            <a:ext cx="464881" cy="32004"/>
          </a:xfrm>
          <a:prstGeom prst="rect">
            <a:avLst/>
          </a:prstGeom>
          <a:solidFill>
            <a:srgbClr val="FFC62E"/>
          </a:solidFill>
          <a:ln/>
        </p:spPr>
      </p:sp>
      <p:sp>
        <p:nvSpPr>
          <p:cNvPr id="31" name="Shape 29"/>
          <p:cNvSpPr/>
          <p:nvPr/>
        </p:nvSpPr>
        <p:spPr>
          <a:xfrm>
            <a:off x="7057705" y="3566160"/>
            <a:ext cx="284927" cy="32004"/>
          </a:xfrm>
          <a:prstGeom prst="rect">
            <a:avLst/>
          </a:prstGeom>
          <a:solidFill>
            <a:srgbClr val="4A4335"/>
          </a:solidFill>
          <a:ln/>
        </p:spPr>
      </p:sp>
      <p:sp>
        <p:nvSpPr>
          <p:cNvPr id="32" name="Text 30"/>
          <p:cNvSpPr txBox="1"/>
          <p:nvPr/>
        </p:nvSpPr>
        <p:spPr>
          <a:xfrm>
            <a:off x="7635240" y="2194560"/>
            <a:ext cx="3886200" cy="310896"/>
          </a:xfrm>
          <a:prstGeom prst="rect">
            <a:avLst/>
          </a:prstGeom>
          <a:noFill/>
          <a:ln/>
        </p:spPr>
        <p:txBody>
          <a:bodyPr wrap="square" lIns="0" tIns="0" rIns="0" bIns="0" rtlCol="0" anchor="ctr"/>
          <a:lstStyle/>
          <a:p>
            <a:pPr indent="0" marL="0">
              <a:buNone/>
            </a:pPr>
            <a:r>
              <a:rPr lang="en-US" sz="1400" b="1" dirty="0">
                <a:solidFill>
                  <a:srgbClr val="141210"/>
                </a:solidFill>
                <a:latin typeface="Yu Gothic" pitchFamily="34" charset="0"/>
                <a:ea typeface="Yu Gothic" pitchFamily="34" charset="-122"/>
                <a:cs typeface="Yu Gothic" pitchFamily="34" charset="-120"/>
              </a:rPr>
              <a:t>人事・社員が出るなら</a:t>
            </a:r>
            <a:endParaRPr lang="en-US" sz="1400" dirty="0"/>
          </a:p>
        </p:txBody>
      </p:sp>
      <p:sp>
        <p:nvSpPr>
          <p:cNvPr id="33" name="Text 31"/>
          <p:cNvSpPr txBox="1"/>
          <p:nvPr/>
        </p:nvSpPr>
        <p:spPr>
          <a:xfrm>
            <a:off x="7635240" y="2578608"/>
            <a:ext cx="3840480" cy="868680"/>
          </a:xfrm>
          <a:prstGeom prst="rect">
            <a:avLst/>
          </a:prstGeom>
          <a:noFill/>
          <a:ln/>
        </p:spPr>
        <p:txBody>
          <a:bodyPr wrap="square" lIns="0" tIns="0" rIns="0" bIns="0" rtlCol="0" anchor="ctr"/>
          <a:lstStyle/>
          <a:p>
            <a:pPr indent="0" marL="0">
              <a:lnSpc>
                <a:spcPts val="1500"/>
              </a:lnSpc>
              <a:buNone/>
            </a:pPr>
            <a:r>
              <a:rPr lang="en-US" sz="950" dirty="0">
                <a:solidFill>
                  <a:srgbClr val="5F594E"/>
                </a:solidFill>
                <a:latin typeface="Yu Gothic" pitchFamily="34" charset="0"/>
                <a:ea typeface="Yu Gothic" pitchFamily="34" charset="-122"/>
                <a:cs typeface="Yu Gothic" pitchFamily="34" charset="-120"/>
              </a:rPr>
              <a:t>職場の空気と、一緒に働く人の顔。入社前に「誰と働くか」が見えて、ミスマッチが減ります。</a:t>
            </a:r>
            <a:endParaRPr lang="en-US" sz="950" dirty="0"/>
          </a:p>
        </p:txBody>
      </p:sp>
      <p:sp>
        <p:nvSpPr>
          <p:cNvPr id="34" name="Text 32"/>
          <p:cNvSpPr txBox="1"/>
          <p:nvPr/>
        </p:nvSpPr>
        <p:spPr>
          <a:xfrm>
            <a:off x="7635240" y="3493008"/>
            <a:ext cx="3840480" cy="274320"/>
          </a:xfrm>
          <a:prstGeom prst="rect">
            <a:avLst/>
          </a:prstGeom>
          <a:noFill/>
          <a:ln/>
        </p:spPr>
        <p:txBody>
          <a:bodyPr wrap="square" lIns="0" tIns="0" rIns="0" bIns="0" rtlCol="0" anchor="ctr"/>
          <a:lstStyle/>
          <a:p>
            <a:pPr indent="0" marL="0">
              <a:buNone/>
            </a:pPr>
            <a:r>
              <a:rPr lang="en-US" sz="900" b="1" dirty="0">
                <a:solidFill>
                  <a:srgbClr val="B8860B"/>
                </a:solidFill>
                <a:latin typeface="Yu Gothic" pitchFamily="34" charset="0"/>
                <a:ea typeface="Yu Gothic" pitchFamily="34" charset="-122"/>
                <a:cs typeface="Yu Gothic" pitchFamily="34" charset="-120"/>
              </a:rPr>
              <a:t>例：「先輩社員の一日」「オフィスツアー」</a:t>
            </a:r>
            <a:endParaRPr lang="en-US" sz="900" dirty="0"/>
          </a:p>
        </p:txBody>
      </p:sp>
      <p:sp>
        <p:nvSpPr>
          <p:cNvPr id="35" name="Shape 33"/>
          <p:cNvSpPr/>
          <p:nvPr/>
        </p:nvSpPr>
        <p:spPr>
          <a:xfrm>
            <a:off x="548640" y="3968496"/>
            <a:ext cx="5376672" cy="1828800"/>
          </a:xfrm>
          <a:prstGeom prst="rect">
            <a:avLst/>
          </a:prstGeom>
          <a:solidFill>
            <a:srgbClr val="F5F0E1"/>
          </a:solidFill>
          <a:ln/>
        </p:spPr>
      </p:sp>
      <p:sp>
        <p:nvSpPr>
          <p:cNvPr id="36" name="Shape 34"/>
          <p:cNvSpPr/>
          <p:nvPr/>
        </p:nvSpPr>
        <p:spPr>
          <a:xfrm>
            <a:off x="548640" y="3968496"/>
            <a:ext cx="82296" cy="1828800"/>
          </a:xfrm>
          <a:prstGeom prst="rect">
            <a:avLst/>
          </a:prstGeom>
          <a:solidFill>
            <a:srgbClr val="FFC62E"/>
          </a:solidFill>
          <a:ln/>
        </p:spPr>
      </p:sp>
      <p:sp>
        <p:nvSpPr>
          <p:cNvPr id="37" name="Shape 35"/>
          <p:cNvSpPr/>
          <p:nvPr/>
        </p:nvSpPr>
        <p:spPr>
          <a:xfrm>
            <a:off x="822960" y="4142232"/>
            <a:ext cx="859536" cy="1481328"/>
          </a:xfrm>
          <a:prstGeom prst="roundRect">
            <a:avLst>
              <a:gd name="adj" fmla="val 7447"/>
            </a:avLst>
          </a:prstGeom>
          <a:solidFill>
            <a:srgbClr val="141210"/>
          </a:solidFill>
          <a:ln/>
        </p:spPr>
      </p:sp>
      <p:sp>
        <p:nvSpPr>
          <p:cNvPr id="38" name="Text 36"/>
          <p:cNvSpPr txBox="1"/>
          <p:nvPr/>
        </p:nvSpPr>
        <p:spPr>
          <a:xfrm>
            <a:off x="877824" y="4197096"/>
            <a:ext cx="768096" cy="128016"/>
          </a:xfrm>
          <a:prstGeom prst="rect">
            <a:avLst/>
          </a:prstGeom>
          <a:noFill/>
          <a:ln/>
        </p:spPr>
        <p:txBody>
          <a:bodyPr wrap="square" lIns="0" tIns="0" rIns="0" bIns="0" rtlCol="0" anchor="ctr"/>
          <a:lstStyle/>
          <a:p>
            <a:pPr indent="0" marL="0">
              <a:buNone/>
            </a:pPr>
            <a:r>
              <a:rPr lang="en-US" sz="500" dirty="0">
                <a:solidFill>
                  <a:srgbClr val="B8B0A0"/>
                </a:solidFill>
                <a:latin typeface="Arial" pitchFamily="34" charset="0"/>
                <a:ea typeface="Arial" pitchFamily="34" charset="-122"/>
                <a:cs typeface="Arial" pitchFamily="34" charset="-120"/>
              </a:rPr>
              <a:t>@yourcompany</a:t>
            </a:r>
            <a:endParaRPr lang="en-US" sz="500" dirty="0"/>
          </a:p>
        </p:txBody>
      </p:sp>
      <p:sp>
        <p:nvSpPr>
          <p:cNvPr id="39" name="Shape 37"/>
          <p:cNvSpPr/>
          <p:nvPr/>
        </p:nvSpPr>
        <p:spPr>
          <a:xfrm rot="5400000">
            <a:off x="1170432" y="4663440"/>
            <a:ext cx="164592" cy="164592"/>
          </a:xfrm>
          <a:prstGeom prst="triangle">
            <a:avLst/>
          </a:prstGeom>
          <a:solidFill>
            <a:srgbClr val="FFC62E"/>
          </a:solidFill>
          <a:ln/>
        </p:spPr>
      </p:sp>
      <p:sp>
        <p:nvSpPr>
          <p:cNvPr id="40" name="Shape 38"/>
          <p:cNvSpPr/>
          <p:nvPr/>
        </p:nvSpPr>
        <p:spPr>
          <a:xfrm>
            <a:off x="1545336" y="4617720"/>
            <a:ext cx="68580" cy="68580"/>
          </a:xfrm>
          <a:prstGeom prst="ellipse">
            <a:avLst/>
          </a:prstGeom>
          <a:solidFill>
            <a:srgbClr val="FFC62E"/>
          </a:solidFill>
          <a:ln/>
        </p:spPr>
      </p:sp>
      <p:sp>
        <p:nvSpPr>
          <p:cNvPr id="41" name="Shape 39"/>
          <p:cNvSpPr/>
          <p:nvPr/>
        </p:nvSpPr>
        <p:spPr>
          <a:xfrm>
            <a:off x="1545336" y="4773168"/>
            <a:ext cx="68580" cy="68580"/>
          </a:xfrm>
          <a:prstGeom prst="ellipse">
            <a:avLst/>
          </a:prstGeom>
          <a:solidFill>
            <a:srgbClr val="FFFFFF"/>
          </a:solidFill>
          <a:ln/>
        </p:spPr>
      </p:sp>
      <p:sp>
        <p:nvSpPr>
          <p:cNvPr id="42" name="Shape 40"/>
          <p:cNvSpPr/>
          <p:nvPr/>
        </p:nvSpPr>
        <p:spPr>
          <a:xfrm>
            <a:off x="1545336" y="4928616"/>
            <a:ext cx="68580" cy="68580"/>
          </a:xfrm>
          <a:prstGeom prst="ellipse">
            <a:avLst/>
          </a:prstGeom>
          <a:solidFill>
            <a:srgbClr val="FFFFFF"/>
          </a:solidFill>
          <a:ln/>
        </p:spPr>
      </p:sp>
      <p:sp>
        <p:nvSpPr>
          <p:cNvPr id="43" name="Text 41"/>
          <p:cNvSpPr txBox="1"/>
          <p:nvPr/>
        </p:nvSpPr>
        <p:spPr>
          <a:xfrm>
            <a:off x="868680" y="5166360"/>
            <a:ext cx="768096" cy="292608"/>
          </a:xfrm>
          <a:prstGeom prst="rect">
            <a:avLst/>
          </a:prstGeom>
          <a:noFill/>
          <a:ln/>
        </p:spPr>
        <p:txBody>
          <a:bodyPr wrap="square" lIns="0" tIns="0" rIns="0" bIns="0" rtlCol="0" anchor="ctr"/>
          <a:lstStyle/>
          <a:p>
            <a:pPr indent="0" marL="0">
              <a:buNone/>
            </a:pPr>
            <a:r>
              <a:rPr lang="en-US" sz="850" b="1" dirty="0">
                <a:solidFill>
                  <a:srgbClr val="FFFFFF"/>
                </a:solidFill>
                <a:latin typeface="Yu Gothic" pitchFamily="34" charset="0"/>
                <a:ea typeface="Yu Gothic" pitchFamily="34" charset="-122"/>
                <a:cs typeface="Yu Gothic" pitchFamily="34" charset="-120"/>
              </a:rPr>
              <a:t>動く名刺</a:t>
            </a:r>
            <a:endParaRPr lang="en-US" sz="850" dirty="0"/>
          </a:p>
        </p:txBody>
      </p:sp>
      <p:sp>
        <p:nvSpPr>
          <p:cNvPr id="44" name="Shape 42"/>
          <p:cNvSpPr/>
          <p:nvPr/>
        </p:nvSpPr>
        <p:spPr>
          <a:xfrm>
            <a:off x="877824" y="5504688"/>
            <a:ext cx="464881" cy="32004"/>
          </a:xfrm>
          <a:prstGeom prst="rect">
            <a:avLst/>
          </a:prstGeom>
          <a:solidFill>
            <a:srgbClr val="FFC62E"/>
          </a:solidFill>
          <a:ln/>
        </p:spPr>
      </p:sp>
      <p:sp>
        <p:nvSpPr>
          <p:cNvPr id="45" name="Shape 43"/>
          <p:cNvSpPr/>
          <p:nvPr/>
        </p:nvSpPr>
        <p:spPr>
          <a:xfrm>
            <a:off x="1342705" y="5504688"/>
            <a:ext cx="284927" cy="32004"/>
          </a:xfrm>
          <a:prstGeom prst="rect">
            <a:avLst/>
          </a:prstGeom>
          <a:solidFill>
            <a:srgbClr val="4A4335"/>
          </a:solidFill>
          <a:ln/>
        </p:spPr>
      </p:sp>
      <p:sp>
        <p:nvSpPr>
          <p:cNvPr id="46" name="Text 44"/>
          <p:cNvSpPr txBox="1"/>
          <p:nvPr/>
        </p:nvSpPr>
        <p:spPr>
          <a:xfrm>
            <a:off x="1920240" y="4133088"/>
            <a:ext cx="3886200" cy="310896"/>
          </a:xfrm>
          <a:prstGeom prst="rect">
            <a:avLst/>
          </a:prstGeom>
          <a:noFill/>
          <a:ln/>
        </p:spPr>
        <p:txBody>
          <a:bodyPr wrap="square" lIns="0" tIns="0" rIns="0" bIns="0" rtlCol="0" anchor="ctr"/>
          <a:lstStyle/>
          <a:p>
            <a:pPr indent="0" marL="0">
              <a:buNone/>
            </a:pPr>
            <a:r>
              <a:rPr lang="en-US" sz="1400" b="1" dirty="0">
                <a:solidFill>
                  <a:srgbClr val="141210"/>
                </a:solidFill>
                <a:latin typeface="Yu Gothic" pitchFamily="34" charset="0"/>
                <a:ea typeface="Yu Gothic" pitchFamily="34" charset="-122"/>
                <a:cs typeface="Yu Gothic" pitchFamily="34" charset="-120"/>
              </a:rPr>
              <a:t>営業が出るなら</a:t>
            </a:r>
            <a:endParaRPr lang="en-US" sz="1400" dirty="0"/>
          </a:p>
        </p:txBody>
      </p:sp>
      <p:sp>
        <p:nvSpPr>
          <p:cNvPr id="47" name="Text 45"/>
          <p:cNvSpPr txBox="1"/>
          <p:nvPr/>
        </p:nvSpPr>
        <p:spPr>
          <a:xfrm>
            <a:off x="1920240" y="4517136"/>
            <a:ext cx="3840480" cy="868680"/>
          </a:xfrm>
          <a:prstGeom prst="rect">
            <a:avLst/>
          </a:prstGeom>
          <a:noFill/>
          <a:ln/>
        </p:spPr>
        <p:txBody>
          <a:bodyPr wrap="square" lIns="0" tIns="0" rIns="0" bIns="0" rtlCol="0" anchor="ctr"/>
          <a:lstStyle/>
          <a:p>
            <a:pPr indent="0" marL="0">
              <a:lnSpc>
                <a:spcPts val="1500"/>
              </a:lnSpc>
              <a:buNone/>
            </a:pPr>
            <a:r>
              <a:rPr lang="en-US" sz="950" dirty="0">
                <a:solidFill>
                  <a:srgbClr val="5F594E"/>
                </a:solidFill>
                <a:latin typeface="Yu Gothic" pitchFamily="34" charset="0"/>
                <a:ea typeface="Yu Gothic" pitchFamily="34" charset="-122"/>
                <a:cs typeface="Yu Gothic" pitchFamily="34" charset="-120"/>
              </a:rPr>
              <a:t>会う前に顔と名前を覚えてもらえます。動画は商談の前に働く「名刺」になります。</a:t>
            </a:r>
            <a:endParaRPr lang="en-US" sz="950" dirty="0"/>
          </a:p>
        </p:txBody>
      </p:sp>
      <p:sp>
        <p:nvSpPr>
          <p:cNvPr id="48" name="Text 46"/>
          <p:cNvSpPr txBox="1"/>
          <p:nvPr/>
        </p:nvSpPr>
        <p:spPr>
          <a:xfrm>
            <a:off x="1920240" y="5431536"/>
            <a:ext cx="3840480" cy="274320"/>
          </a:xfrm>
          <a:prstGeom prst="rect">
            <a:avLst/>
          </a:prstGeom>
          <a:noFill/>
          <a:ln/>
        </p:spPr>
        <p:txBody>
          <a:bodyPr wrap="square" lIns="0" tIns="0" rIns="0" bIns="0" rtlCol="0" anchor="ctr"/>
          <a:lstStyle/>
          <a:p>
            <a:pPr indent="0" marL="0">
              <a:buNone/>
            </a:pPr>
            <a:r>
              <a:rPr lang="en-US" sz="900" b="1" dirty="0">
                <a:solidFill>
                  <a:srgbClr val="B8860B"/>
                </a:solidFill>
                <a:latin typeface="Yu Gothic" pitchFamily="34" charset="0"/>
                <a:ea typeface="Yu Gothic" pitchFamily="34" charset="-122"/>
                <a:cs typeface="Yu Gothic" pitchFamily="34" charset="-120"/>
              </a:rPr>
              <a:t>例：「営業の現場に密着」「自己紹介30秒」</a:t>
            </a:r>
            <a:endParaRPr lang="en-US" sz="900" dirty="0"/>
          </a:p>
        </p:txBody>
      </p:sp>
      <p:sp>
        <p:nvSpPr>
          <p:cNvPr id="49" name="Shape 47"/>
          <p:cNvSpPr/>
          <p:nvPr/>
        </p:nvSpPr>
        <p:spPr>
          <a:xfrm>
            <a:off x="6263640" y="3968496"/>
            <a:ext cx="5376672" cy="1828800"/>
          </a:xfrm>
          <a:prstGeom prst="rect">
            <a:avLst/>
          </a:prstGeom>
          <a:solidFill>
            <a:srgbClr val="F5F0E1"/>
          </a:solidFill>
          <a:ln/>
        </p:spPr>
      </p:sp>
      <p:sp>
        <p:nvSpPr>
          <p:cNvPr id="50" name="Shape 48"/>
          <p:cNvSpPr/>
          <p:nvPr/>
        </p:nvSpPr>
        <p:spPr>
          <a:xfrm>
            <a:off x="6263640" y="3968496"/>
            <a:ext cx="82296" cy="1828800"/>
          </a:xfrm>
          <a:prstGeom prst="rect">
            <a:avLst/>
          </a:prstGeom>
          <a:solidFill>
            <a:srgbClr val="FFC62E"/>
          </a:solidFill>
          <a:ln/>
        </p:spPr>
      </p:sp>
      <p:sp>
        <p:nvSpPr>
          <p:cNvPr id="51" name="Shape 49"/>
          <p:cNvSpPr/>
          <p:nvPr/>
        </p:nvSpPr>
        <p:spPr>
          <a:xfrm>
            <a:off x="6537960" y="4142232"/>
            <a:ext cx="859536" cy="1481328"/>
          </a:xfrm>
          <a:prstGeom prst="roundRect">
            <a:avLst>
              <a:gd name="adj" fmla="val 7447"/>
            </a:avLst>
          </a:prstGeom>
          <a:solidFill>
            <a:srgbClr val="141210"/>
          </a:solidFill>
          <a:ln/>
        </p:spPr>
      </p:sp>
      <p:sp>
        <p:nvSpPr>
          <p:cNvPr id="52" name="Text 50"/>
          <p:cNvSpPr txBox="1"/>
          <p:nvPr/>
        </p:nvSpPr>
        <p:spPr>
          <a:xfrm>
            <a:off x="6592824" y="4197096"/>
            <a:ext cx="768096" cy="128016"/>
          </a:xfrm>
          <a:prstGeom prst="rect">
            <a:avLst/>
          </a:prstGeom>
          <a:noFill/>
          <a:ln/>
        </p:spPr>
        <p:txBody>
          <a:bodyPr wrap="square" lIns="0" tIns="0" rIns="0" bIns="0" rtlCol="0" anchor="ctr"/>
          <a:lstStyle/>
          <a:p>
            <a:pPr indent="0" marL="0">
              <a:buNone/>
            </a:pPr>
            <a:r>
              <a:rPr lang="en-US" sz="500" dirty="0">
                <a:solidFill>
                  <a:srgbClr val="B8B0A0"/>
                </a:solidFill>
                <a:latin typeface="Arial" pitchFamily="34" charset="0"/>
                <a:ea typeface="Arial" pitchFamily="34" charset="-122"/>
                <a:cs typeface="Arial" pitchFamily="34" charset="-120"/>
              </a:rPr>
              <a:t>@yourcompany</a:t>
            </a:r>
            <a:endParaRPr lang="en-US" sz="500" dirty="0"/>
          </a:p>
        </p:txBody>
      </p:sp>
      <p:sp>
        <p:nvSpPr>
          <p:cNvPr id="53" name="Shape 51"/>
          <p:cNvSpPr/>
          <p:nvPr/>
        </p:nvSpPr>
        <p:spPr>
          <a:xfrm rot="5400000">
            <a:off x="6885432" y="4663440"/>
            <a:ext cx="164592" cy="164592"/>
          </a:xfrm>
          <a:prstGeom prst="triangle">
            <a:avLst/>
          </a:prstGeom>
          <a:solidFill>
            <a:srgbClr val="FFC62E"/>
          </a:solidFill>
          <a:ln/>
        </p:spPr>
      </p:sp>
      <p:sp>
        <p:nvSpPr>
          <p:cNvPr id="54" name="Shape 52"/>
          <p:cNvSpPr/>
          <p:nvPr/>
        </p:nvSpPr>
        <p:spPr>
          <a:xfrm>
            <a:off x="7260336" y="4617720"/>
            <a:ext cx="68580" cy="68580"/>
          </a:xfrm>
          <a:prstGeom prst="ellipse">
            <a:avLst/>
          </a:prstGeom>
          <a:solidFill>
            <a:srgbClr val="FFC62E"/>
          </a:solidFill>
          <a:ln/>
        </p:spPr>
      </p:sp>
      <p:sp>
        <p:nvSpPr>
          <p:cNvPr id="55" name="Shape 53"/>
          <p:cNvSpPr/>
          <p:nvPr/>
        </p:nvSpPr>
        <p:spPr>
          <a:xfrm>
            <a:off x="7260336" y="4773168"/>
            <a:ext cx="68580" cy="68580"/>
          </a:xfrm>
          <a:prstGeom prst="ellipse">
            <a:avLst/>
          </a:prstGeom>
          <a:solidFill>
            <a:srgbClr val="FFFFFF"/>
          </a:solidFill>
          <a:ln/>
        </p:spPr>
      </p:sp>
      <p:sp>
        <p:nvSpPr>
          <p:cNvPr id="56" name="Shape 54"/>
          <p:cNvSpPr/>
          <p:nvPr/>
        </p:nvSpPr>
        <p:spPr>
          <a:xfrm>
            <a:off x="7260336" y="4928616"/>
            <a:ext cx="68580" cy="68580"/>
          </a:xfrm>
          <a:prstGeom prst="ellipse">
            <a:avLst/>
          </a:prstGeom>
          <a:solidFill>
            <a:srgbClr val="FFFFFF"/>
          </a:solidFill>
          <a:ln/>
        </p:spPr>
      </p:sp>
      <p:sp>
        <p:nvSpPr>
          <p:cNvPr id="57" name="Text 55"/>
          <p:cNvSpPr txBox="1"/>
          <p:nvPr/>
        </p:nvSpPr>
        <p:spPr>
          <a:xfrm>
            <a:off x="6583680" y="5166360"/>
            <a:ext cx="768096" cy="292608"/>
          </a:xfrm>
          <a:prstGeom prst="rect">
            <a:avLst/>
          </a:prstGeom>
          <a:noFill/>
          <a:ln/>
        </p:spPr>
        <p:txBody>
          <a:bodyPr wrap="square" lIns="0" tIns="0" rIns="0" bIns="0" rtlCol="0" anchor="ctr"/>
          <a:lstStyle/>
          <a:p>
            <a:pPr indent="0" marL="0">
              <a:buNone/>
            </a:pPr>
            <a:r>
              <a:rPr lang="en-US" sz="850" b="1" dirty="0">
                <a:solidFill>
                  <a:srgbClr val="FFFFFF"/>
                </a:solidFill>
                <a:latin typeface="Yu Gothic" pitchFamily="34" charset="0"/>
                <a:ea typeface="Yu Gothic" pitchFamily="34" charset="-122"/>
                <a:cs typeface="Yu Gothic" pitchFamily="34" charset="-120"/>
              </a:rPr>
              <a:t>作り手の顔</a:t>
            </a:r>
            <a:endParaRPr lang="en-US" sz="850" dirty="0"/>
          </a:p>
        </p:txBody>
      </p:sp>
      <p:sp>
        <p:nvSpPr>
          <p:cNvPr id="58" name="Shape 56"/>
          <p:cNvSpPr/>
          <p:nvPr/>
        </p:nvSpPr>
        <p:spPr>
          <a:xfrm>
            <a:off x="6592824" y="5504688"/>
            <a:ext cx="464881" cy="32004"/>
          </a:xfrm>
          <a:prstGeom prst="rect">
            <a:avLst/>
          </a:prstGeom>
          <a:solidFill>
            <a:srgbClr val="FFC62E"/>
          </a:solidFill>
          <a:ln/>
        </p:spPr>
      </p:sp>
      <p:sp>
        <p:nvSpPr>
          <p:cNvPr id="59" name="Shape 57"/>
          <p:cNvSpPr/>
          <p:nvPr/>
        </p:nvSpPr>
        <p:spPr>
          <a:xfrm>
            <a:off x="7057705" y="5504688"/>
            <a:ext cx="284927" cy="32004"/>
          </a:xfrm>
          <a:prstGeom prst="rect">
            <a:avLst/>
          </a:prstGeom>
          <a:solidFill>
            <a:srgbClr val="4A4335"/>
          </a:solidFill>
          <a:ln/>
        </p:spPr>
      </p:sp>
      <p:sp>
        <p:nvSpPr>
          <p:cNvPr id="60" name="Text 58"/>
          <p:cNvSpPr txBox="1"/>
          <p:nvPr/>
        </p:nvSpPr>
        <p:spPr>
          <a:xfrm>
            <a:off x="7635240" y="4133088"/>
            <a:ext cx="3886200" cy="310896"/>
          </a:xfrm>
          <a:prstGeom prst="rect">
            <a:avLst/>
          </a:prstGeom>
          <a:noFill/>
          <a:ln/>
        </p:spPr>
        <p:txBody>
          <a:bodyPr wrap="square" lIns="0" tIns="0" rIns="0" bIns="0" rtlCol="0" anchor="ctr"/>
          <a:lstStyle/>
          <a:p>
            <a:pPr indent="0" marL="0">
              <a:buNone/>
            </a:pPr>
            <a:r>
              <a:rPr lang="en-US" sz="1400" b="1" dirty="0">
                <a:solidFill>
                  <a:srgbClr val="141210"/>
                </a:solidFill>
                <a:latin typeface="Yu Gothic" pitchFamily="34" charset="0"/>
                <a:ea typeface="Yu Gothic" pitchFamily="34" charset="-122"/>
                <a:cs typeface="Yu Gothic" pitchFamily="34" charset="-120"/>
              </a:rPr>
              <a:t>お店・商品なら</a:t>
            </a:r>
            <a:endParaRPr lang="en-US" sz="1400" dirty="0"/>
          </a:p>
        </p:txBody>
      </p:sp>
      <p:sp>
        <p:nvSpPr>
          <p:cNvPr id="61" name="Text 59"/>
          <p:cNvSpPr txBox="1"/>
          <p:nvPr/>
        </p:nvSpPr>
        <p:spPr>
          <a:xfrm>
            <a:off x="7635240" y="4517136"/>
            <a:ext cx="3840480" cy="868680"/>
          </a:xfrm>
          <a:prstGeom prst="rect">
            <a:avLst/>
          </a:prstGeom>
          <a:noFill/>
          <a:ln/>
        </p:spPr>
        <p:txBody>
          <a:bodyPr wrap="square" lIns="0" tIns="0" rIns="0" bIns="0" rtlCol="0" anchor="ctr"/>
          <a:lstStyle/>
          <a:p>
            <a:pPr indent="0" marL="0">
              <a:lnSpc>
                <a:spcPts val="1500"/>
              </a:lnSpc>
              <a:buNone/>
            </a:pPr>
            <a:r>
              <a:rPr lang="en-US" sz="950" dirty="0">
                <a:solidFill>
                  <a:srgbClr val="5F594E"/>
                </a:solidFill>
                <a:latin typeface="Yu Gothic" pitchFamily="34" charset="0"/>
                <a:ea typeface="Yu Gothic" pitchFamily="34" charset="-122"/>
                <a:cs typeface="Yu Gothic" pitchFamily="34" charset="-120"/>
              </a:rPr>
              <a:t>どんな商品を、どんな人が作っているのか。作り手の顔を知って来るお客様は、常連になります。</a:t>
            </a:r>
            <a:endParaRPr lang="en-US" sz="950" dirty="0"/>
          </a:p>
        </p:txBody>
      </p:sp>
      <p:sp>
        <p:nvSpPr>
          <p:cNvPr id="62" name="Text 60"/>
          <p:cNvSpPr txBox="1"/>
          <p:nvPr/>
        </p:nvSpPr>
        <p:spPr>
          <a:xfrm>
            <a:off x="7635240" y="5431536"/>
            <a:ext cx="3840480" cy="274320"/>
          </a:xfrm>
          <a:prstGeom prst="rect">
            <a:avLst/>
          </a:prstGeom>
          <a:noFill/>
          <a:ln/>
        </p:spPr>
        <p:txBody>
          <a:bodyPr wrap="square" lIns="0" tIns="0" rIns="0" bIns="0" rtlCol="0" anchor="ctr"/>
          <a:lstStyle/>
          <a:p>
            <a:pPr indent="0" marL="0">
              <a:buNone/>
            </a:pPr>
            <a:r>
              <a:rPr lang="en-US" sz="900" b="1" dirty="0">
                <a:solidFill>
                  <a:srgbClr val="B8860B"/>
                </a:solidFill>
                <a:latin typeface="Yu Gothic" pitchFamily="34" charset="0"/>
                <a:ea typeface="Yu Gothic" pitchFamily="34" charset="-122"/>
                <a:cs typeface="Yu Gothic" pitchFamily="34" charset="-120"/>
              </a:rPr>
              <a:t>例：「仕込みの裏側」「店主のこだわり」</a:t>
            </a:r>
            <a:endParaRPr lang="en-US" sz="900" dirty="0"/>
          </a:p>
        </p:txBody>
      </p:sp>
      <p:sp>
        <p:nvSpPr>
          <p:cNvPr id="63" name="Shape 61"/>
          <p:cNvSpPr/>
          <p:nvPr/>
        </p:nvSpPr>
        <p:spPr>
          <a:xfrm>
            <a:off x="548640" y="5925312"/>
            <a:ext cx="11091672" cy="475488"/>
          </a:xfrm>
          <a:prstGeom prst="rect">
            <a:avLst/>
          </a:prstGeom>
          <a:solidFill>
            <a:srgbClr val="FFC62E"/>
          </a:solidFill>
          <a:ln/>
        </p:spPr>
      </p:sp>
      <p:sp>
        <p:nvSpPr>
          <p:cNvPr id="64" name="Text 62"/>
          <p:cNvSpPr txBox="1"/>
          <p:nvPr/>
        </p:nvSpPr>
        <p:spPr>
          <a:xfrm>
            <a:off x="777240" y="6035040"/>
            <a:ext cx="10698480" cy="292608"/>
          </a:xfrm>
          <a:prstGeom prst="rect">
            <a:avLst/>
          </a:prstGeom>
          <a:noFill/>
          <a:ln/>
        </p:spPr>
        <p:txBody>
          <a:bodyPr wrap="square" lIns="0" tIns="0" rIns="0" bIns="0" rtlCol="0" anchor="ctr"/>
          <a:lstStyle/>
          <a:p>
            <a:pPr indent="0" marL="0">
              <a:buNone/>
            </a:pPr>
            <a:r>
              <a:rPr lang="en-US" sz="1200" b="1" dirty="0">
                <a:solidFill>
                  <a:srgbClr val="141210"/>
                </a:solidFill>
                <a:latin typeface="Yu Gothic" pitchFamily="34" charset="0"/>
                <a:ea typeface="Yu Gothic" pitchFamily="34" charset="-122"/>
                <a:cs typeface="Yu Gothic" pitchFamily="34" charset="-120"/>
              </a:rPr>
              <a:t>再生数より、届く相手。100再生でも、その100人が求職者とご近所のお客様なら十分 — 必要なのはバズではなく、本数です。</a:t>
            </a:r>
            <a:endParaRPr lang="en-US" sz="1200" dirty="0"/>
          </a:p>
        </p:txBody>
      </p:sp>
      <p:sp>
        <p:nvSpPr>
          <p:cNvPr id="65" name="Shape 63"/>
          <p:cNvSpPr/>
          <p:nvPr/>
        </p:nvSpPr>
        <p:spPr>
          <a:xfrm>
            <a:off x="548640" y="6455664"/>
            <a:ext cx="11091672" cy="0"/>
          </a:xfrm>
          <a:prstGeom prst="line">
            <a:avLst/>
          </a:prstGeom>
          <a:noFill/>
          <a:ln w="12700">
            <a:solidFill>
              <a:srgbClr val="E2DCCE"/>
            </a:solidFill>
            <a:prstDash val="solid"/>
          </a:ln>
        </p:spPr>
      </p:sp>
      <p:sp>
        <p:nvSpPr>
          <p:cNvPr id="66" name="Text 64"/>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67" name="Text 65"/>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03 / </a:t>
            </a:r>
            <a:pPr indent="0" marL="0">
              <a:buNone/>
            </a:pPr>
            <a:r>
              <a:rPr lang="en-US" sz="1200" b="1" spc="300" kern="0" dirty="0">
                <a:solidFill>
                  <a:srgbClr val="B8860B"/>
                </a:solidFill>
                <a:latin typeface="Arial" pitchFamily="34" charset="0"/>
                <a:ea typeface="Arial" pitchFamily="34" charset="-122"/>
                <a:cs typeface="Arial" pitchFamily="34" charset="-120"/>
              </a:rPr>
              <a:t>WHY TIKTOK — RECRUIT</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入社前に職場が見えると、ミスマッチが消える。</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Shape 4"/>
          <p:cNvSpPr/>
          <p:nvPr/>
        </p:nvSpPr>
        <p:spPr>
          <a:xfrm>
            <a:off x="548640" y="1828800"/>
            <a:ext cx="329184" cy="82296"/>
          </a:xfrm>
          <a:prstGeom prst="rect">
            <a:avLst/>
          </a:prstGeom>
          <a:solidFill>
            <a:srgbClr val="FFC62E"/>
          </a:solidFill>
          <a:ln/>
        </p:spPr>
      </p:sp>
      <p:sp>
        <p:nvSpPr>
          <p:cNvPr id="7" name="Text 5"/>
          <p:cNvSpPr txBox="1"/>
          <p:nvPr/>
        </p:nvSpPr>
        <p:spPr>
          <a:xfrm>
            <a:off x="548640" y="1993392"/>
            <a:ext cx="3383280" cy="27432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大卒新入社員の3年以内離職率</a:t>
            </a:r>
            <a:endParaRPr lang="en-US" sz="1050" dirty="0"/>
          </a:p>
        </p:txBody>
      </p:sp>
      <p:sp>
        <p:nvSpPr>
          <p:cNvPr id="8" name="Text 6"/>
          <p:cNvSpPr txBox="1"/>
          <p:nvPr/>
        </p:nvSpPr>
        <p:spPr>
          <a:xfrm>
            <a:off x="521208" y="2249424"/>
            <a:ext cx="3566160" cy="914400"/>
          </a:xfrm>
          <a:prstGeom prst="rect">
            <a:avLst/>
          </a:prstGeom>
          <a:noFill/>
          <a:ln/>
        </p:spPr>
        <p:txBody>
          <a:bodyPr wrap="square" lIns="0" tIns="0" rIns="0" bIns="0" rtlCol="0" anchor="ctr"/>
          <a:lstStyle/>
          <a:p>
            <a:pPr indent="0" marL="0">
              <a:buNone/>
            </a:pPr>
            <a:r>
              <a:rPr lang="en-US" sz="4600" dirty="0">
                <a:solidFill>
                  <a:srgbClr val="141210"/>
                </a:solidFill>
                <a:latin typeface="Arial Black" pitchFamily="34" charset="0"/>
                <a:ea typeface="Arial Black" pitchFamily="34" charset="-122"/>
                <a:cs typeface="Arial Black" pitchFamily="34" charset="-120"/>
              </a:rPr>
              <a:t>33.8</a:t>
            </a:r>
            <a:pPr indent="0" marL="0">
              <a:buNone/>
            </a:pPr>
            <a:r>
              <a:rPr lang="en-US" sz="1748" b="1" dirty="0">
                <a:solidFill>
                  <a:srgbClr val="5F594E"/>
                </a:solidFill>
                <a:latin typeface="Yu Gothic" pitchFamily="34" charset="0"/>
                <a:ea typeface="Yu Gothic" pitchFamily="34" charset="-122"/>
                <a:cs typeface="Yu Gothic" pitchFamily="34" charset="-120"/>
              </a:rPr>
              <a:t> %</a:t>
            </a:r>
            <a:endParaRPr lang="en-US" sz="4600" dirty="0"/>
          </a:p>
        </p:txBody>
      </p:sp>
      <p:sp>
        <p:nvSpPr>
          <p:cNvPr id="9" name="Text 7"/>
          <p:cNvSpPr txBox="1"/>
          <p:nvPr/>
        </p:nvSpPr>
        <p:spPr>
          <a:xfrm>
            <a:off x="548640" y="3154680"/>
            <a:ext cx="3246120" cy="1737360"/>
          </a:xfrm>
          <a:prstGeom prst="rect">
            <a:avLst/>
          </a:prstGeom>
          <a:noFill/>
          <a:ln/>
        </p:spPr>
        <p:txBody>
          <a:bodyPr wrap="square" lIns="0" tIns="0" rIns="0" bIns="0" rtlCol="0" anchor="ctr"/>
          <a:lstStyle/>
          <a:p>
            <a:pPr indent="0" marL="0">
              <a:lnSpc>
                <a:spcPts val="1700"/>
              </a:lnSpc>
              <a:buNone/>
            </a:pPr>
            <a:r>
              <a:rPr lang="en-US" sz="1100" dirty="0">
                <a:solidFill>
                  <a:srgbClr val="5F594E"/>
                </a:solidFill>
                <a:latin typeface="Yu Gothic" pitchFamily="34" charset="0"/>
                <a:ea typeface="Yu Gothic" pitchFamily="34" charset="-122"/>
                <a:cs typeface="Yu Gothic" pitchFamily="34" charset="-120"/>
              </a:rPr>
              <a:t>約3人に1人が、3年以内に辞めています。理由の多くは、入ってみたら「想像と違った」。入社の日まで会社の中身が見えないことが、ミスマッチを生んでいます。</a:t>
            </a:r>
            <a:endParaRPr lang="en-US" sz="1100" dirty="0"/>
          </a:p>
        </p:txBody>
      </p:sp>
      <p:sp>
        <p:nvSpPr>
          <p:cNvPr id="10" name="Shape 8"/>
          <p:cNvSpPr/>
          <p:nvPr/>
        </p:nvSpPr>
        <p:spPr>
          <a:xfrm>
            <a:off x="4160520" y="1828800"/>
            <a:ext cx="0" cy="3246120"/>
          </a:xfrm>
          <a:prstGeom prst="line">
            <a:avLst/>
          </a:prstGeom>
          <a:noFill/>
          <a:ln w="12700">
            <a:solidFill>
              <a:srgbClr val="E2DCCE"/>
            </a:solidFill>
            <a:prstDash val="solid"/>
          </a:ln>
        </p:spPr>
      </p:sp>
      <p:sp>
        <p:nvSpPr>
          <p:cNvPr id="11" name="Text 9"/>
          <p:cNvSpPr txBox="1"/>
          <p:nvPr/>
        </p:nvSpPr>
        <p:spPr>
          <a:xfrm>
            <a:off x="4434840" y="1984248"/>
            <a:ext cx="5486400" cy="274320"/>
          </a:xfrm>
          <a:prstGeom prst="rect">
            <a:avLst/>
          </a:prstGeom>
          <a:noFill/>
          <a:ln/>
        </p:spPr>
        <p:txBody>
          <a:bodyPr wrap="square" lIns="0" tIns="0" rIns="0" bIns="0" rtlCol="0" anchor="ctr"/>
          <a:lstStyle/>
          <a:p>
            <a:pPr indent="0" marL="0">
              <a:buNone/>
            </a:pPr>
            <a:r>
              <a:rPr lang="en-US" sz="1150" b="1" dirty="0">
                <a:solidFill>
                  <a:srgbClr val="5F594E"/>
                </a:solidFill>
                <a:latin typeface="Yu Gothic" pitchFamily="34" charset="0"/>
                <a:ea typeface="Yu Gothic" pitchFamily="34" charset="-122"/>
                <a:cs typeface="Yu Gothic" pitchFamily="34" charset="-120"/>
              </a:rPr>
              <a:t>これまでの採用</a:t>
            </a:r>
            <a:endParaRPr lang="en-US" sz="1150" dirty="0"/>
          </a:p>
        </p:txBody>
      </p:sp>
      <p:sp>
        <p:nvSpPr>
          <p:cNvPr id="12" name="Shape 10"/>
          <p:cNvSpPr/>
          <p:nvPr/>
        </p:nvSpPr>
        <p:spPr>
          <a:xfrm>
            <a:off x="4434840" y="2331720"/>
            <a:ext cx="1755648" cy="841248"/>
          </a:xfrm>
          <a:prstGeom prst="chevron">
            <a:avLst/>
          </a:prstGeom>
          <a:solidFill>
            <a:srgbClr val="F1EBDD"/>
          </a:solidFill>
          <a:ln/>
        </p:spPr>
      </p:sp>
      <p:sp>
        <p:nvSpPr>
          <p:cNvPr id="13" name="Text 11"/>
          <p:cNvSpPr txBox="1"/>
          <p:nvPr/>
        </p:nvSpPr>
        <p:spPr>
          <a:xfrm>
            <a:off x="4636008" y="2404872"/>
            <a:ext cx="1417320" cy="694944"/>
          </a:xfrm>
          <a:prstGeom prst="rect">
            <a:avLst/>
          </a:prstGeom>
          <a:noFill/>
          <a:ln/>
        </p:spPr>
        <p:txBody>
          <a:bodyPr wrap="square" lIns="0" tIns="0" rIns="0" bIns="0" rtlCol="0" anchor="ctr"/>
          <a:lstStyle/>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求人票と</a:t>
            </a:r>
            <a:endParaRPr lang="en-US" sz="1000" dirty="0"/>
          </a:p>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面接だけ</a:t>
            </a:r>
            <a:endParaRPr lang="en-US" sz="1000" dirty="0"/>
          </a:p>
        </p:txBody>
      </p:sp>
      <p:sp>
        <p:nvSpPr>
          <p:cNvPr id="14" name="Shape 12"/>
          <p:cNvSpPr/>
          <p:nvPr/>
        </p:nvSpPr>
        <p:spPr>
          <a:xfrm>
            <a:off x="6263640" y="2331720"/>
            <a:ext cx="1755648" cy="841248"/>
          </a:xfrm>
          <a:prstGeom prst="chevron">
            <a:avLst/>
          </a:prstGeom>
          <a:solidFill>
            <a:srgbClr val="F1EBDD"/>
          </a:solidFill>
          <a:ln/>
        </p:spPr>
      </p:sp>
      <p:sp>
        <p:nvSpPr>
          <p:cNvPr id="15" name="Text 13"/>
          <p:cNvSpPr txBox="1"/>
          <p:nvPr/>
        </p:nvSpPr>
        <p:spPr>
          <a:xfrm>
            <a:off x="6464808" y="2404872"/>
            <a:ext cx="1417320" cy="694944"/>
          </a:xfrm>
          <a:prstGeom prst="rect">
            <a:avLst/>
          </a:prstGeom>
          <a:noFill/>
          <a:ln/>
        </p:spPr>
        <p:txBody>
          <a:bodyPr wrap="square" lIns="0" tIns="0" rIns="0" bIns="0" rtlCol="0" anchor="ctr"/>
          <a:lstStyle/>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よく知らずに</a:t>
            </a:r>
            <a:endParaRPr lang="en-US" sz="1000" dirty="0"/>
          </a:p>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入社</a:t>
            </a:r>
            <a:endParaRPr lang="en-US" sz="1000" dirty="0"/>
          </a:p>
        </p:txBody>
      </p:sp>
      <p:sp>
        <p:nvSpPr>
          <p:cNvPr id="16" name="Shape 14"/>
          <p:cNvSpPr/>
          <p:nvPr/>
        </p:nvSpPr>
        <p:spPr>
          <a:xfrm>
            <a:off x="8092440" y="2331720"/>
            <a:ext cx="1755648" cy="841248"/>
          </a:xfrm>
          <a:prstGeom prst="chevron">
            <a:avLst/>
          </a:prstGeom>
          <a:solidFill>
            <a:srgbClr val="F1EBDD"/>
          </a:solidFill>
          <a:ln/>
        </p:spPr>
      </p:sp>
      <p:sp>
        <p:nvSpPr>
          <p:cNvPr id="17" name="Text 15"/>
          <p:cNvSpPr txBox="1"/>
          <p:nvPr/>
        </p:nvSpPr>
        <p:spPr>
          <a:xfrm>
            <a:off x="8293608" y="2404872"/>
            <a:ext cx="1417320" cy="694944"/>
          </a:xfrm>
          <a:prstGeom prst="rect">
            <a:avLst/>
          </a:prstGeom>
          <a:noFill/>
          <a:ln/>
        </p:spPr>
        <p:txBody>
          <a:bodyPr wrap="square" lIns="0" tIns="0" rIns="0" bIns="0" rtlCol="0" anchor="ctr"/>
          <a:lstStyle/>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「想像と</a:t>
            </a:r>
            <a:endParaRPr lang="en-US" sz="1000" dirty="0"/>
          </a:p>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違った」</a:t>
            </a:r>
            <a:endParaRPr lang="en-US" sz="1000" dirty="0"/>
          </a:p>
        </p:txBody>
      </p:sp>
      <p:sp>
        <p:nvSpPr>
          <p:cNvPr id="18" name="Shape 16"/>
          <p:cNvSpPr/>
          <p:nvPr/>
        </p:nvSpPr>
        <p:spPr>
          <a:xfrm>
            <a:off x="9921240" y="2331720"/>
            <a:ext cx="1755648" cy="841248"/>
          </a:xfrm>
          <a:prstGeom prst="chevron">
            <a:avLst/>
          </a:prstGeom>
          <a:solidFill>
            <a:srgbClr val="141210"/>
          </a:solidFill>
          <a:ln/>
        </p:spPr>
      </p:sp>
      <p:sp>
        <p:nvSpPr>
          <p:cNvPr id="19" name="Text 17"/>
          <p:cNvSpPr txBox="1"/>
          <p:nvPr/>
        </p:nvSpPr>
        <p:spPr>
          <a:xfrm>
            <a:off x="10122408" y="2404872"/>
            <a:ext cx="1417320" cy="694944"/>
          </a:xfrm>
          <a:prstGeom prst="rect">
            <a:avLst/>
          </a:prstGeom>
          <a:noFill/>
          <a:ln/>
        </p:spPr>
        <p:txBody>
          <a:bodyPr wrap="square" lIns="0" tIns="0" rIns="0" bIns="0" rtlCol="0" anchor="ctr"/>
          <a:lstStyle/>
          <a:p>
            <a:pPr algn="ctr" indent="0" marL="0">
              <a:lnSpc>
                <a:spcPts val="1300"/>
              </a:lnSpc>
              <a:buNone/>
            </a:pPr>
            <a:r>
              <a:rPr lang="en-US" sz="1000" b="1" dirty="0">
                <a:solidFill>
                  <a:srgbClr val="FFFFFF"/>
                </a:solidFill>
                <a:latin typeface="Yu Gothic" pitchFamily="34" charset="0"/>
                <a:ea typeface="Yu Gothic" pitchFamily="34" charset="-122"/>
                <a:cs typeface="Yu Gothic" pitchFamily="34" charset="-120"/>
              </a:rPr>
              <a:t>早期離職</a:t>
            </a:r>
            <a:endParaRPr lang="en-US" sz="1000" dirty="0"/>
          </a:p>
        </p:txBody>
      </p:sp>
      <p:sp>
        <p:nvSpPr>
          <p:cNvPr id="20" name="Text 18"/>
          <p:cNvSpPr txBox="1"/>
          <p:nvPr/>
        </p:nvSpPr>
        <p:spPr>
          <a:xfrm>
            <a:off x="4434840" y="3721608"/>
            <a:ext cx="5486400" cy="274320"/>
          </a:xfrm>
          <a:prstGeom prst="rect">
            <a:avLst/>
          </a:prstGeom>
          <a:noFill/>
          <a:ln/>
        </p:spPr>
        <p:txBody>
          <a:bodyPr wrap="square" lIns="0" tIns="0" rIns="0" bIns="0" rtlCol="0" anchor="ctr"/>
          <a:lstStyle/>
          <a:p>
            <a:pPr indent="0" marL="0">
              <a:buNone/>
            </a:pPr>
            <a:r>
              <a:rPr lang="en-US" sz="1150" b="1" dirty="0">
                <a:solidFill>
                  <a:srgbClr val="B8860B"/>
                </a:solidFill>
                <a:latin typeface="Yu Gothic" pitchFamily="34" charset="0"/>
                <a:ea typeface="Yu Gothic" pitchFamily="34" charset="-122"/>
                <a:cs typeface="Yu Gothic" pitchFamily="34" charset="-120"/>
              </a:rPr>
              <a:t>BRIDGE HATCHのある採用</a:t>
            </a:r>
            <a:endParaRPr lang="en-US" sz="1150" dirty="0"/>
          </a:p>
        </p:txBody>
      </p:sp>
      <p:sp>
        <p:nvSpPr>
          <p:cNvPr id="21" name="Shape 19"/>
          <p:cNvSpPr/>
          <p:nvPr/>
        </p:nvSpPr>
        <p:spPr>
          <a:xfrm>
            <a:off x="4434840" y="4069080"/>
            <a:ext cx="1755648" cy="841248"/>
          </a:xfrm>
          <a:prstGeom prst="chevron">
            <a:avLst/>
          </a:prstGeom>
          <a:solidFill>
            <a:srgbClr val="FFC62E"/>
          </a:solidFill>
          <a:ln/>
        </p:spPr>
      </p:sp>
      <p:sp>
        <p:nvSpPr>
          <p:cNvPr id="22" name="Text 20"/>
          <p:cNvSpPr txBox="1"/>
          <p:nvPr/>
        </p:nvSpPr>
        <p:spPr>
          <a:xfrm>
            <a:off x="4636008" y="4142232"/>
            <a:ext cx="1417320" cy="694944"/>
          </a:xfrm>
          <a:prstGeom prst="rect">
            <a:avLst/>
          </a:prstGeom>
          <a:noFill/>
          <a:ln/>
        </p:spPr>
        <p:txBody>
          <a:bodyPr wrap="square" lIns="0" tIns="0" rIns="0" bIns="0" rtlCol="0" anchor="ctr"/>
          <a:lstStyle/>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毎日の動画で</a:t>
            </a:r>
            <a:endParaRPr lang="en-US" sz="1000" dirty="0"/>
          </a:p>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職場と人が見える</a:t>
            </a:r>
            <a:endParaRPr lang="en-US" sz="1000" dirty="0"/>
          </a:p>
        </p:txBody>
      </p:sp>
      <p:sp>
        <p:nvSpPr>
          <p:cNvPr id="23" name="Shape 21"/>
          <p:cNvSpPr/>
          <p:nvPr/>
        </p:nvSpPr>
        <p:spPr>
          <a:xfrm>
            <a:off x="6263640" y="4069080"/>
            <a:ext cx="1755648" cy="841248"/>
          </a:xfrm>
          <a:prstGeom prst="chevron">
            <a:avLst/>
          </a:prstGeom>
          <a:solidFill>
            <a:srgbClr val="FFC62E"/>
          </a:solidFill>
          <a:ln/>
        </p:spPr>
      </p:sp>
      <p:sp>
        <p:nvSpPr>
          <p:cNvPr id="24" name="Text 22"/>
          <p:cNvSpPr txBox="1"/>
          <p:nvPr/>
        </p:nvSpPr>
        <p:spPr>
          <a:xfrm>
            <a:off x="6464808" y="4142232"/>
            <a:ext cx="1417320" cy="694944"/>
          </a:xfrm>
          <a:prstGeom prst="rect">
            <a:avLst/>
          </a:prstGeom>
          <a:noFill/>
          <a:ln/>
        </p:spPr>
        <p:txBody>
          <a:bodyPr wrap="square" lIns="0" tIns="0" rIns="0" bIns="0" rtlCol="0" anchor="ctr"/>
          <a:lstStyle/>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「この人たちと」</a:t>
            </a:r>
            <a:endParaRPr lang="en-US" sz="1000" dirty="0"/>
          </a:p>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で応募</a:t>
            </a:r>
            <a:endParaRPr lang="en-US" sz="1000" dirty="0"/>
          </a:p>
        </p:txBody>
      </p:sp>
      <p:sp>
        <p:nvSpPr>
          <p:cNvPr id="25" name="Shape 23"/>
          <p:cNvSpPr/>
          <p:nvPr/>
        </p:nvSpPr>
        <p:spPr>
          <a:xfrm>
            <a:off x="8092440" y="4069080"/>
            <a:ext cx="1755648" cy="841248"/>
          </a:xfrm>
          <a:prstGeom prst="chevron">
            <a:avLst/>
          </a:prstGeom>
          <a:solidFill>
            <a:srgbClr val="FFC62E"/>
          </a:solidFill>
          <a:ln/>
        </p:spPr>
      </p:sp>
      <p:sp>
        <p:nvSpPr>
          <p:cNvPr id="26" name="Text 24"/>
          <p:cNvSpPr txBox="1"/>
          <p:nvPr/>
        </p:nvSpPr>
        <p:spPr>
          <a:xfrm>
            <a:off x="8293608" y="4142232"/>
            <a:ext cx="1417320" cy="694944"/>
          </a:xfrm>
          <a:prstGeom prst="rect">
            <a:avLst/>
          </a:prstGeom>
          <a:noFill/>
          <a:ln/>
        </p:spPr>
        <p:txBody>
          <a:bodyPr wrap="square" lIns="0" tIns="0" rIns="0" bIns="0" rtlCol="0" anchor="ctr"/>
          <a:lstStyle/>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知ったうえで</a:t>
            </a:r>
            <a:endParaRPr lang="en-US" sz="1000" dirty="0"/>
          </a:p>
          <a:p>
            <a:pPr algn="ctr" indent="0" marL="0">
              <a:lnSpc>
                <a:spcPts val="1300"/>
              </a:lnSpc>
              <a:buNone/>
            </a:pPr>
            <a:r>
              <a:rPr lang="en-US" sz="1000" b="1" dirty="0">
                <a:solidFill>
                  <a:srgbClr val="141210"/>
                </a:solidFill>
                <a:latin typeface="Yu Gothic" pitchFamily="34" charset="0"/>
                <a:ea typeface="Yu Gothic" pitchFamily="34" charset="-122"/>
                <a:cs typeface="Yu Gothic" pitchFamily="34" charset="-120"/>
              </a:rPr>
              <a:t>入社</a:t>
            </a:r>
            <a:endParaRPr lang="en-US" sz="1000" dirty="0"/>
          </a:p>
        </p:txBody>
      </p:sp>
      <p:sp>
        <p:nvSpPr>
          <p:cNvPr id="27" name="Shape 25"/>
          <p:cNvSpPr/>
          <p:nvPr/>
        </p:nvSpPr>
        <p:spPr>
          <a:xfrm>
            <a:off x="9921240" y="4069080"/>
            <a:ext cx="1755648" cy="841248"/>
          </a:xfrm>
          <a:prstGeom prst="chevron">
            <a:avLst/>
          </a:prstGeom>
          <a:solidFill>
            <a:srgbClr val="141210"/>
          </a:solidFill>
          <a:ln/>
        </p:spPr>
      </p:sp>
      <p:sp>
        <p:nvSpPr>
          <p:cNvPr id="28" name="Text 26"/>
          <p:cNvSpPr txBox="1"/>
          <p:nvPr/>
        </p:nvSpPr>
        <p:spPr>
          <a:xfrm>
            <a:off x="10122408" y="4142232"/>
            <a:ext cx="1417320" cy="694944"/>
          </a:xfrm>
          <a:prstGeom prst="rect">
            <a:avLst/>
          </a:prstGeom>
          <a:noFill/>
          <a:ln/>
        </p:spPr>
        <p:txBody>
          <a:bodyPr wrap="square" lIns="0" tIns="0" rIns="0" bIns="0" rtlCol="0" anchor="ctr"/>
          <a:lstStyle/>
          <a:p>
            <a:pPr algn="ctr" indent="0" marL="0">
              <a:lnSpc>
                <a:spcPts val="1300"/>
              </a:lnSpc>
              <a:buNone/>
            </a:pPr>
            <a:r>
              <a:rPr lang="en-US" sz="1000" b="1" dirty="0">
                <a:solidFill>
                  <a:srgbClr val="FFC62E"/>
                </a:solidFill>
                <a:latin typeface="Yu Gothic" pitchFamily="34" charset="0"/>
                <a:ea typeface="Yu Gothic" pitchFamily="34" charset="-122"/>
                <a:cs typeface="Yu Gothic" pitchFamily="34" charset="-120"/>
              </a:rPr>
              <a:t>定着</a:t>
            </a:r>
            <a:endParaRPr lang="en-US" sz="1000" dirty="0"/>
          </a:p>
        </p:txBody>
      </p:sp>
      <p:sp>
        <p:nvSpPr>
          <p:cNvPr id="29" name="Shape 27"/>
          <p:cNvSpPr/>
          <p:nvPr/>
        </p:nvSpPr>
        <p:spPr>
          <a:xfrm>
            <a:off x="548640" y="5349240"/>
            <a:ext cx="11091672" cy="658368"/>
          </a:xfrm>
          <a:prstGeom prst="rect">
            <a:avLst/>
          </a:prstGeom>
          <a:solidFill>
            <a:srgbClr val="FFC62E"/>
          </a:solidFill>
          <a:ln/>
        </p:spPr>
      </p:sp>
      <p:sp>
        <p:nvSpPr>
          <p:cNvPr id="30" name="Text 28"/>
          <p:cNvSpPr txBox="1"/>
          <p:nvPr/>
        </p:nvSpPr>
        <p:spPr>
          <a:xfrm>
            <a:off x="777240" y="5513832"/>
            <a:ext cx="10698480" cy="365760"/>
          </a:xfrm>
          <a:prstGeom prst="rect">
            <a:avLst/>
          </a:prstGeom>
          <a:noFill/>
          <a:ln/>
        </p:spPr>
        <p:txBody>
          <a:bodyPr wrap="square" lIns="0" tIns="0" rIns="0" bIns="0" rtlCol="0" anchor="ctr"/>
          <a:lstStyle/>
          <a:p>
            <a:pPr indent="0" marL="0">
              <a:buNone/>
            </a:pPr>
            <a:r>
              <a:rPr lang="en-US" sz="1300" b="1" dirty="0">
                <a:solidFill>
                  <a:srgbClr val="141210"/>
                </a:solidFill>
                <a:latin typeface="Yu Gothic" pitchFamily="34" charset="0"/>
                <a:ea typeface="Yu Gothic" pitchFamily="34" charset="-122"/>
                <a:cs typeface="Yu Gothic" pitchFamily="34" charset="-120"/>
              </a:rPr>
              <a:t>480本の動画は、毎日ひらいている会社説明会。入る前に見えている会社に、ミスマッチは起きにくい。</a:t>
            </a:r>
            <a:endParaRPr lang="en-US" sz="1300" dirty="0"/>
          </a:p>
        </p:txBody>
      </p:sp>
      <p:sp>
        <p:nvSpPr>
          <p:cNvPr id="31" name="Text 29"/>
          <p:cNvSpPr txBox="1"/>
          <p:nvPr/>
        </p:nvSpPr>
        <p:spPr>
          <a:xfrm>
            <a:off x="548640" y="6108192"/>
            <a:ext cx="11064240" cy="237744"/>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出典：厚生労働省「新規学卒就職者の離職状況」（令和4年3月卒業者・2025年公表）</a:t>
            </a:r>
            <a:endParaRPr lang="en-US" sz="850" dirty="0"/>
          </a:p>
        </p:txBody>
      </p:sp>
      <p:sp>
        <p:nvSpPr>
          <p:cNvPr id="32" name="Shape 30"/>
          <p:cNvSpPr/>
          <p:nvPr/>
        </p:nvSpPr>
        <p:spPr>
          <a:xfrm>
            <a:off x="548640" y="6455664"/>
            <a:ext cx="11091672" cy="0"/>
          </a:xfrm>
          <a:prstGeom prst="line">
            <a:avLst/>
          </a:prstGeom>
          <a:noFill/>
          <a:ln w="12700">
            <a:solidFill>
              <a:srgbClr val="E2DCCE"/>
            </a:solidFill>
            <a:prstDash val="solid"/>
          </a:ln>
        </p:spPr>
      </p:sp>
      <p:sp>
        <p:nvSpPr>
          <p:cNvPr id="33" name="Text 31"/>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34" name="Text 32"/>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04 / </a:t>
            </a:r>
            <a:pPr indent="0" marL="0">
              <a:buNone/>
            </a:pPr>
            <a:r>
              <a:rPr lang="en-US" sz="1200" b="1" spc="300" kern="0" dirty="0">
                <a:solidFill>
                  <a:srgbClr val="B8860B"/>
                </a:solidFill>
                <a:latin typeface="Arial" pitchFamily="34" charset="0"/>
                <a:ea typeface="Arial" pitchFamily="34" charset="-122"/>
                <a:cs typeface="Arial" pitchFamily="34" charset="-120"/>
              </a:rPr>
              <a:t>WHAT WE DO</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巣から選ぶだけで、この全部。</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548640" y="1691640"/>
            <a:ext cx="3566160" cy="914400"/>
          </a:xfrm>
          <a:prstGeom prst="rect">
            <a:avLst/>
          </a:prstGeom>
          <a:noFill/>
          <a:ln/>
        </p:spPr>
        <p:txBody>
          <a:bodyPr wrap="square" lIns="0" tIns="0" rIns="0" bIns="0" rtlCol="0" anchor="ctr"/>
          <a:lstStyle/>
          <a:p>
            <a:pPr indent="0" marL="0">
              <a:lnSpc>
                <a:spcPts val="1800"/>
              </a:lnSpc>
              <a:buNone/>
            </a:pPr>
            <a:r>
              <a:rPr lang="en-US" sz="1150" dirty="0">
                <a:solidFill>
                  <a:srgbClr val="5F594E"/>
                </a:solidFill>
                <a:latin typeface="Yu Gothic" pitchFamily="34" charset="0"/>
                <a:ea typeface="Yu Gothic" pitchFamily="34" charset="-122"/>
                <a:cs typeface="Yu Gothic" pitchFamily="34" charset="-120"/>
              </a:rPr>
              <a:t>実際のアプリ画面と同じ「巣」です。見積もり待ちも、相見積もりも、もう要りません — セルを選んで、ハニーで発注するだけ。</a:t>
            </a:r>
            <a:endParaRPr lang="en-US" sz="1150" dirty="0"/>
          </a:p>
        </p:txBody>
      </p:sp>
      <p:sp>
        <p:nvSpPr>
          <p:cNvPr id="7" name="Shape 5"/>
          <p:cNvSpPr/>
          <p:nvPr/>
        </p:nvSpPr>
        <p:spPr>
          <a:xfrm>
            <a:off x="548640" y="2743200"/>
            <a:ext cx="365760" cy="310896"/>
          </a:xfrm>
          <a:prstGeom prst="hexagon">
            <a:avLst/>
          </a:prstGeom>
          <a:solidFill>
            <a:srgbClr val="FFC62E"/>
          </a:solidFill>
          <a:ln w="15875">
            <a:solidFill>
              <a:srgbClr val="141210"/>
            </a:solidFill>
            <a:prstDash val="solid"/>
          </a:ln>
        </p:spPr>
      </p:sp>
      <p:sp>
        <p:nvSpPr>
          <p:cNvPr id="8" name="Text 6"/>
          <p:cNvSpPr txBox="1"/>
          <p:nvPr/>
        </p:nvSpPr>
        <p:spPr>
          <a:xfrm>
            <a:off x="1042416" y="2761488"/>
            <a:ext cx="3017520" cy="274320"/>
          </a:xfrm>
          <a:prstGeom prst="rect">
            <a:avLst/>
          </a:prstGeom>
          <a:noFill/>
          <a:ln/>
        </p:spPr>
        <p:txBody>
          <a:bodyPr wrap="square" lIns="0" tIns="0" rIns="0" bIns="0" rtlCol="0" anchor="ctr"/>
          <a:lstStyle/>
          <a:p>
            <a:pPr indent="0" marL="0">
              <a:buNone/>
            </a:pPr>
            <a:r>
              <a:rPr lang="en-US" sz="1050" dirty="0">
                <a:solidFill>
                  <a:srgbClr val="141210"/>
                </a:solidFill>
                <a:latin typeface="Yu Gothic" pitchFamily="34" charset="0"/>
                <a:ea typeface="Yu Gothic" pitchFamily="34" charset="-122"/>
                <a:cs typeface="Yu Gothic" pitchFamily="34" charset="-120"/>
              </a:rPr>
              <a:t>動画（集客・認知拡大・採用）</a:t>
            </a:r>
            <a:endParaRPr lang="en-US" sz="1050" dirty="0"/>
          </a:p>
        </p:txBody>
      </p:sp>
      <p:sp>
        <p:nvSpPr>
          <p:cNvPr id="9" name="Shape 7"/>
          <p:cNvSpPr/>
          <p:nvPr/>
        </p:nvSpPr>
        <p:spPr>
          <a:xfrm>
            <a:off x="548640" y="3145536"/>
            <a:ext cx="365760" cy="310896"/>
          </a:xfrm>
          <a:prstGeom prst="hexagon">
            <a:avLst/>
          </a:prstGeom>
          <a:solidFill>
            <a:srgbClr val="CBDFF3"/>
          </a:solidFill>
          <a:ln w="15875">
            <a:solidFill>
              <a:srgbClr val="141210"/>
            </a:solidFill>
            <a:prstDash val="solid"/>
          </a:ln>
        </p:spPr>
      </p:sp>
      <p:sp>
        <p:nvSpPr>
          <p:cNvPr id="10" name="Text 8"/>
          <p:cNvSpPr txBox="1"/>
          <p:nvPr/>
        </p:nvSpPr>
        <p:spPr>
          <a:xfrm>
            <a:off x="1042416" y="3163824"/>
            <a:ext cx="3017520" cy="274320"/>
          </a:xfrm>
          <a:prstGeom prst="rect">
            <a:avLst/>
          </a:prstGeom>
          <a:noFill/>
          <a:ln/>
        </p:spPr>
        <p:txBody>
          <a:bodyPr wrap="square" lIns="0" tIns="0" rIns="0" bIns="0" rtlCol="0" anchor="ctr"/>
          <a:lstStyle/>
          <a:p>
            <a:pPr indent="0" marL="0">
              <a:buNone/>
            </a:pPr>
            <a:r>
              <a:rPr lang="en-US" sz="1050" dirty="0">
                <a:solidFill>
                  <a:srgbClr val="141210"/>
                </a:solidFill>
                <a:latin typeface="Yu Gothic" pitchFamily="34" charset="0"/>
                <a:ea typeface="Yu Gothic" pitchFamily="34" charset="-122"/>
                <a:cs typeface="Yu Gothic" pitchFamily="34" charset="-120"/>
              </a:rPr>
              <a:t>HP・LP・SEO・MEO</a:t>
            </a:r>
            <a:endParaRPr lang="en-US" sz="1050" dirty="0"/>
          </a:p>
        </p:txBody>
      </p:sp>
      <p:sp>
        <p:nvSpPr>
          <p:cNvPr id="11" name="Shape 9"/>
          <p:cNvSpPr/>
          <p:nvPr/>
        </p:nvSpPr>
        <p:spPr>
          <a:xfrm>
            <a:off x="548640" y="3547872"/>
            <a:ext cx="365760" cy="310896"/>
          </a:xfrm>
          <a:prstGeom prst="hexagon">
            <a:avLst/>
          </a:prstGeom>
          <a:solidFill>
            <a:srgbClr val="C8EDD3"/>
          </a:solidFill>
          <a:ln w="15875">
            <a:solidFill>
              <a:srgbClr val="141210"/>
            </a:solidFill>
            <a:prstDash val="solid"/>
          </a:ln>
        </p:spPr>
      </p:sp>
      <p:sp>
        <p:nvSpPr>
          <p:cNvPr id="12" name="Text 10"/>
          <p:cNvSpPr txBox="1"/>
          <p:nvPr/>
        </p:nvSpPr>
        <p:spPr>
          <a:xfrm>
            <a:off x="1042416" y="3566160"/>
            <a:ext cx="3017520" cy="274320"/>
          </a:xfrm>
          <a:prstGeom prst="rect">
            <a:avLst/>
          </a:prstGeom>
          <a:noFill/>
          <a:ln/>
        </p:spPr>
        <p:txBody>
          <a:bodyPr wrap="square" lIns="0" tIns="0" rIns="0" bIns="0" rtlCol="0" anchor="ctr"/>
          <a:lstStyle/>
          <a:p>
            <a:pPr indent="0" marL="0">
              <a:buNone/>
            </a:pPr>
            <a:r>
              <a:rPr lang="en-US" sz="1050" dirty="0">
                <a:solidFill>
                  <a:srgbClr val="141210"/>
                </a:solidFill>
                <a:latin typeface="Yu Gothic" pitchFamily="34" charset="0"/>
                <a:ea typeface="Yu Gothic" pitchFamily="34" charset="-122"/>
                <a:cs typeface="Yu Gothic" pitchFamily="34" charset="-120"/>
              </a:rPr>
              <a:t>営業支援</a:t>
            </a:r>
            <a:endParaRPr lang="en-US" sz="1050" dirty="0"/>
          </a:p>
        </p:txBody>
      </p:sp>
      <p:sp>
        <p:nvSpPr>
          <p:cNvPr id="13" name="Shape 11"/>
          <p:cNvSpPr/>
          <p:nvPr/>
        </p:nvSpPr>
        <p:spPr>
          <a:xfrm>
            <a:off x="548640" y="3950208"/>
            <a:ext cx="365760" cy="310896"/>
          </a:xfrm>
          <a:prstGeom prst="hexagon">
            <a:avLst/>
          </a:prstGeom>
          <a:solidFill>
            <a:srgbClr val="D9D6F3"/>
          </a:solidFill>
          <a:ln w="15875">
            <a:solidFill>
              <a:srgbClr val="141210"/>
            </a:solidFill>
            <a:prstDash val="solid"/>
          </a:ln>
        </p:spPr>
      </p:sp>
      <p:sp>
        <p:nvSpPr>
          <p:cNvPr id="14" name="Text 12"/>
          <p:cNvSpPr txBox="1"/>
          <p:nvPr/>
        </p:nvSpPr>
        <p:spPr>
          <a:xfrm>
            <a:off x="1042416" y="3968496"/>
            <a:ext cx="3017520" cy="274320"/>
          </a:xfrm>
          <a:prstGeom prst="rect">
            <a:avLst/>
          </a:prstGeom>
          <a:noFill/>
          <a:ln/>
        </p:spPr>
        <p:txBody>
          <a:bodyPr wrap="square" lIns="0" tIns="0" rIns="0" bIns="0" rtlCol="0" anchor="ctr"/>
          <a:lstStyle/>
          <a:p>
            <a:pPr indent="0" marL="0">
              <a:buNone/>
            </a:pPr>
            <a:r>
              <a:rPr lang="en-US" sz="1050" dirty="0">
                <a:solidFill>
                  <a:srgbClr val="141210"/>
                </a:solidFill>
                <a:latin typeface="Yu Gothic" pitchFamily="34" charset="0"/>
                <a:ea typeface="Yu Gothic" pitchFamily="34" charset="-122"/>
                <a:cs typeface="Yu Gothic" pitchFamily="34" charset="-120"/>
              </a:rPr>
              <a:t>採用支援</a:t>
            </a:r>
            <a:endParaRPr lang="en-US" sz="1050" dirty="0"/>
          </a:p>
        </p:txBody>
      </p:sp>
      <p:sp>
        <p:nvSpPr>
          <p:cNvPr id="15" name="Shape 13"/>
          <p:cNvSpPr/>
          <p:nvPr/>
        </p:nvSpPr>
        <p:spPr>
          <a:xfrm>
            <a:off x="548640" y="4352544"/>
            <a:ext cx="365760" cy="310896"/>
          </a:xfrm>
          <a:prstGeom prst="hexagon">
            <a:avLst/>
          </a:prstGeom>
          <a:solidFill>
            <a:srgbClr val="FFFFFF"/>
          </a:solidFill>
          <a:ln w="15875">
            <a:solidFill>
              <a:srgbClr val="141210"/>
            </a:solidFill>
            <a:prstDash val="solid"/>
          </a:ln>
        </p:spPr>
      </p:sp>
      <p:sp>
        <p:nvSpPr>
          <p:cNvPr id="16" name="Text 14"/>
          <p:cNvSpPr txBox="1"/>
          <p:nvPr/>
        </p:nvSpPr>
        <p:spPr>
          <a:xfrm>
            <a:off x="1042416" y="4370832"/>
            <a:ext cx="3017520" cy="274320"/>
          </a:xfrm>
          <a:prstGeom prst="rect">
            <a:avLst/>
          </a:prstGeom>
          <a:noFill/>
          <a:ln/>
        </p:spPr>
        <p:txBody>
          <a:bodyPr wrap="square" lIns="0" tIns="0" rIns="0" bIns="0" rtlCol="0" anchor="ctr"/>
          <a:lstStyle/>
          <a:p>
            <a:pPr indent="0" marL="0">
              <a:buNone/>
            </a:pPr>
            <a:r>
              <a:rPr lang="en-US" sz="1050" dirty="0">
                <a:solidFill>
                  <a:srgbClr val="141210"/>
                </a:solidFill>
                <a:latin typeface="Yu Gothic" pitchFamily="34" charset="0"/>
                <a:ea typeface="Yu Gothic" pitchFamily="34" charset="-122"/>
                <a:cs typeface="Yu Gothic" pitchFamily="34" charset="-120"/>
              </a:rPr>
              <a:t>SNS投稿・修正</a:t>
            </a:r>
            <a:endParaRPr lang="en-US" sz="1050" dirty="0"/>
          </a:p>
        </p:txBody>
      </p:sp>
      <p:sp>
        <p:nvSpPr>
          <p:cNvPr id="17" name="Text 15"/>
          <p:cNvSpPr txBox="1"/>
          <p:nvPr/>
        </p:nvSpPr>
        <p:spPr>
          <a:xfrm>
            <a:off x="548640" y="4892040"/>
            <a:ext cx="3657600" cy="411480"/>
          </a:xfrm>
          <a:prstGeom prst="rect">
            <a:avLst/>
          </a:prstGeom>
          <a:noFill/>
          <a:ln/>
        </p:spPr>
        <p:txBody>
          <a:bodyPr wrap="square" lIns="0" tIns="0" rIns="0" bIns="0" rtlCol="0" anchor="ctr"/>
          <a:lstStyle/>
          <a:p>
            <a:pPr indent="0" marL="0">
              <a:buNone/>
            </a:pPr>
            <a:r>
              <a:rPr lang="en-US" sz="1800" b="1" dirty="0">
                <a:solidFill>
                  <a:srgbClr val="141210"/>
                </a:solidFill>
                <a:latin typeface="Yu Gothic" pitchFamily="34" charset="0"/>
                <a:ea typeface="Yu Gothic" pitchFamily="34" charset="-122"/>
                <a:cs typeface="Yu Gothic" pitchFamily="34" charset="-120"/>
              </a:rPr>
              <a:t>この全部が、</a:t>
            </a:r>
            <a:endParaRPr lang="en-US" sz="1800" dirty="0"/>
          </a:p>
        </p:txBody>
      </p:sp>
      <p:sp>
        <p:nvSpPr>
          <p:cNvPr id="18" name="Text 16"/>
          <p:cNvSpPr txBox="1"/>
          <p:nvPr/>
        </p:nvSpPr>
        <p:spPr>
          <a:xfrm>
            <a:off x="502920" y="5285232"/>
            <a:ext cx="3840480" cy="777240"/>
          </a:xfrm>
          <a:prstGeom prst="rect">
            <a:avLst/>
          </a:prstGeom>
          <a:noFill/>
          <a:ln/>
        </p:spPr>
        <p:txBody>
          <a:bodyPr wrap="square" lIns="0" tIns="0" rIns="0" bIns="0" rtlCol="0" anchor="ctr"/>
          <a:lstStyle/>
          <a:p>
            <a:pPr indent="0" marL="0">
              <a:buNone/>
            </a:pPr>
            <a:r>
              <a:rPr lang="en-US" sz="3700" b="1" dirty="0">
                <a:solidFill>
                  <a:srgbClr val="B8860B"/>
                </a:solidFill>
                <a:latin typeface="Yu Gothic" pitchFamily="34" charset="0"/>
                <a:ea typeface="Yu Gothic" pitchFamily="34" charset="-122"/>
                <a:cs typeface="Yu Gothic" pitchFamily="34" charset="-120"/>
              </a:rPr>
              <a:t>実質約1/3。</a:t>
            </a:r>
            <a:endParaRPr lang="en-US" sz="3700" dirty="0"/>
          </a:p>
        </p:txBody>
      </p:sp>
      <p:sp>
        <p:nvSpPr>
          <p:cNvPr id="19" name="Shape 17"/>
          <p:cNvSpPr/>
          <p:nvPr/>
        </p:nvSpPr>
        <p:spPr>
          <a:xfrm rot="5400000">
            <a:off x="4987924" y="1714628"/>
            <a:ext cx="1298448" cy="1124456"/>
          </a:xfrm>
          <a:prstGeom prst="hexagon">
            <a:avLst/>
          </a:prstGeom>
          <a:solidFill>
            <a:srgbClr val="FFC62E"/>
          </a:solidFill>
          <a:ln w="19050">
            <a:solidFill>
              <a:srgbClr val="141210"/>
            </a:solidFill>
            <a:prstDash val="solid"/>
          </a:ln>
        </p:spPr>
      </p:sp>
      <p:sp>
        <p:nvSpPr>
          <p:cNvPr id="20" name="Text 18"/>
          <p:cNvSpPr txBox="1"/>
          <p:nvPr/>
        </p:nvSpPr>
        <p:spPr>
          <a:xfrm>
            <a:off x="5020056" y="1865376"/>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ショート</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動画編集</a:t>
            </a:r>
            <a:endParaRPr lang="en-US" sz="800" dirty="0"/>
          </a:p>
        </p:txBody>
      </p:sp>
      <p:pic>
        <p:nvPicPr>
          <p:cNvPr id="21" name="Image 0" descr="icons/ic_tiktok.png">    </p:cNvPr>
          <p:cNvPicPr>
            <a:picLocks noChangeAspect="1"/>
          </p:cNvPicPr>
          <p:nvPr/>
        </p:nvPicPr>
        <p:blipFill>
          <a:blip r:embed="rId1"/>
          <a:stretch>
            <a:fillRect/>
          </a:stretch>
        </p:blipFill>
        <p:spPr>
          <a:xfrm>
            <a:off x="5335396" y="2304288"/>
            <a:ext cx="173736" cy="173736"/>
          </a:xfrm>
          <a:prstGeom prst="rect">
            <a:avLst/>
          </a:prstGeom>
        </p:spPr>
      </p:pic>
      <p:pic>
        <p:nvPicPr>
          <p:cNvPr id="22" name="Image 1" descr="icons/ic_instagram.png">    </p:cNvPr>
          <p:cNvPicPr>
            <a:picLocks noChangeAspect="1"/>
          </p:cNvPicPr>
          <p:nvPr/>
        </p:nvPicPr>
        <p:blipFill>
          <a:blip r:embed="rId2"/>
          <a:stretch>
            <a:fillRect/>
          </a:stretch>
        </p:blipFill>
        <p:spPr>
          <a:xfrm>
            <a:off x="5550280" y="2304288"/>
            <a:ext cx="173736" cy="173736"/>
          </a:xfrm>
          <a:prstGeom prst="rect">
            <a:avLst/>
          </a:prstGeom>
        </p:spPr>
      </p:pic>
      <p:pic>
        <p:nvPicPr>
          <p:cNvPr id="23" name="Image 2" descr="icons/ic_youtube.png">    </p:cNvPr>
          <p:cNvPicPr>
            <a:picLocks noChangeAspect="1"/>
          </p:cNvPicPr>
          <p:nvPr/>
        </p:nvPicPr>
        <p:blipFill>
          <a:blip r:embed="rId3"/>
          <a:stretch>
            <a:fillRect/>
          </a:stretch>
        </p:blipFill>
        <p:spPr>
          <a:xfrm>
            <a:off x="5765164" y="2304288"/>
            <a:ext cx="173736" cy="173736"/>
          </a:xfrm>
          <a:prstGeom prst="rect">
            <a:avLst/>
          </a:prstGeom>
        </p:spPr>
      </p:pic>
      <p:sp>
        <p:nvSpPr>
          <p:cNvPr id="24" name="Text 19"/>
          <p:cNvSpPr txBox="1"/>
          <p:nvPr/>
        </p:nvSpPr>
        <p:spPr>
          <a:xfrm>
            <a:off x="5020056" y="2505456"/>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10🍯</a:t>
            </a:r>
            <a:endParaRPr lang="en-US" sz="950" dirty="0"/>
          </a:p>
        </p:txBody>
      </p:sp>
      <p:sp>
        <p:nvSpPr>
          <p:cNvPr id="25" name="Shape 20"/>
          <p:cNvSpPr/>
          <p:nvPr/>
        </p:nvSpPr>
        <p:spPr>
          <a:xfrm rot="5400000">
            <a:off x="6112380" y="1714628"/>
            <a:ext cx="1298448" cy="1124456"/>
          </a:xfrm>
          <a:prstGeom prst="hexagon">
            <a:avLst/>
          </a:prstGeom>
          <a:solidFill>
            <a:srgbClr val="FFC62E"/>
          </a:solidFill>
          <a:ln w="19050">
            <a:solidFill>
              <a:srgbClr val="141210"/>
            </a:solidFill>
            <a:prstDash val="solid"/>
          </a:ln>
        </p:spPr>
      </p:sp>
      <p:sp>
        <p:nvSpPr>
          <p:cNvPr id="26" name="Text 21"/>
          <p:cNvSpPr txBox="1"/>
          <p:nvPr/>
        </p:nvSpPr>
        <p:spPr>
          <a:xfrm>
            <a:off x="6144512" y="1865376"/>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台本作成</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(ショート)</a:t>
            </a:r>
            <a:endParaRPr lang="en-US" sz="800" dirty="0"/>
          </a:p>
        </p:txBody>
      </p:sp>
      <p:pic>
        <p:nvPicPr>
          <p:cNvPr id="27" name="Image 3" descr="icons/ic_tiktok.png">    </p:cNvPr>
          <p:cNvPicPr>
            <a:picLocks noChangeAspect="1"/>
          </p:cNvPicPr>
          <p:nvPr/>
        </p:nvPicPr>
        <p:blipFill>
          <a:blip r:embed="rId4"/>
          <a:stretch>
            <a:fillRect/>
          </a:stretch>
        </p:blipFill>
        <p:spPr>
          <a:xfrm>
            <a:off x="6459852" y="2304288"/>
            <a:ext cx="173736" cy="173736"/>
          </a:xfrm>
          <a:prstGeom prst="rect">
            <a:avLst/>
          </a:prstGeom>
        </p:spPr>
      </p:pic>
      <p:pic>
        <p:nvPicPr>
          <p:cNvPr id="28" name="Image 4" descr="icons/ic_instagram.png">    </p:cNvPr>
          <p:cNvPicPr>
            <a:picLocks noChangeAspect="1"/>
          </p:cNvPicPr>
          <p:nvPr/>
        </p:nvPicPr>
        <p:blipFill>
          <a:blip r:embed="rId5"/>
          <a:stretch>
            <a:fillRect/>
          </a:stretch>
        </p:blipFill>
        <p:spPr>
          <a:xfrm>
            <a:off x="6674736" y="2304288"/>
            <a:ext cx="173736" cy="173736"/>
          </a:xfrm>
          <a:prstGeom prst="rect">
            <a:avLst/>
          </a:prstGeom>
        </p:spPr>
      </p:pic>
      <p:pic>
        <p:nvPicPr>
          <p:cNvPr id="29" name="Image 5" descr="icons/ic_youtube.png">    </p:cNvPr>
          <p:cNvPicPr>
            <a:picLocks noChangeAspect="1"/>
          </p:cNvPicPr>
          <p:nvPr/>
        </p:nvPicPr>
        <p:blipFill>
          <a:blip r:embed="rId6"/>
          <a:stretch>
            <a:fillRect/>
          </a:stretch>
        </p:blipFill>
        <p:spPr>
          <a:xfrm>
            <a:off x="6889620" y="2304288"/>
            <a:ext cx="173736" cy="173736"/>
          </a:xfrm>
          <a:prstGeom prst="rect">
            <a:avLst/>
          </a:prstGeom>
        </p:spPr>
      </p:pic>
      <p:sp>
        <p:nvSpPr>
          <p:cNvPr id="30" name="Text 22"/>
          <p:cNvSpPr txBox="1"/>
          <p:nvPr/>
        </p:nvSpPr>
        <p:spPr>
          <a:xfrm>
            <a:off x="6144512" y="2505456"/>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10🍯</a:t>
            </a:r>
            <a:endParaRPr lang="en-US" sz="950" dirty="0"/>
          </a:p>
        </p:txBody>
      </p:sp>
      <p:sp>
        <p:nvSpPr>
          <p:cNvPr id="31" name="Shape 23"/>
          <p:cNvSpPr/>
          <p:nvPr/>
        </p:nvSpPr>
        <p:spPr>
          <a:xfrm rot="5400000">
            <a:off x="7236836" y="1714628"/>
            <a:ext cx="1298448" cy="1124456"/>
          </a:xfrm>
          <a:prstGeom prst="hexagon">
            <a:avLst/>
          </a:prstGeom>
          <a:solidFill>
            <a:srgbClr val="FFC62E"/>
          </a:solidFill>
          <a:ln w="19050">
            <a:solidFill>
              <a:srgbClr val="141210"/>
            </a:solidFill>
            <a:prstDash val="solid"/>
          </a:ln>
        </p:spPr>
      </p:sp>
      <p:sp>
        <p:nvSpPr>
          <p:cNvPr id="32" name="Text 24"/>
          <p:cNvSpPr txBox="1"/>
          <p:nvPr/>
        </p:nvSpPr>
        <p:spPr>
          <a:xfrm>
            <a:off x="7268968" y="1865376"/>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動画編集</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(3分)</a:t>
            </a:r>
            <a:endParaRPr lang="en-US" sz="800" dirty="0"/>
          </a:p>
        </p:txBody>
      </p:sp>
      <p:pic>
        <p:nvPicPr>
          <p:cNvPr id="33" name="Image 6" descr="icons/ic_youtube.png">    </p:cNvPr>
          <p:cNvPicPr>
            <a:picLocks noChangeAspect="1"/>
          </p:cNvPicPr>
          <p:nvPr/>
        </p:nvPicPr>
        <p:blipFill>
          <a:blip r:embed="rId7"/>
          <a:stretch>
            <a:fillRect/>
          </a:stretch>
        </p:blipFill>
        <p:spPr>
          <a:xfrm>
            <a:off x="7799192" y="2304288"/>
            <a:ext cx="173736" cy="173736"/>
          </a:xfrm>
          <a:prstGeom prst="rect">
            <a:avLst/>
          </a:prstGeom>
        </p:spPr>
      </p:pic>
      <p:sp>
        <p:nvSpPr>
          <p:cNvPr id="34" name="Text 25"/>
          <p:cNvSpPr txBox="1"/>
          <p:nvPr/>
        </p:nvSpPr>
        <p:spPr>
          <a:xfrm>
            <a:off x="7268968" y="2505456"/>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20🍯</a:t>
            </a:r>
            <a:endParaRPr lang="en-US" sz="950" dirty="0"/>
          </a:p>
        </p:txBody>
      </p:sp>
      <p:sp>
        <p:nvSpPr>
          <p:cNvPr id="35" name="Shape 26"/>
          <p:cNvSpPr/>
          <p:nvPr/>
        </p:nvSpPr>
        <p:spPr>
          <a:xfrm rot="5400000">
            <a:off x="8361292" y="1714628"/>
            <a:ext cx="1298448" cy="1124456"/>
          </a:xfrm>
          <a:prstGeom prst="hexagon">
            <a:avLst/>
          </a:prstGeom>
          <a:solidFill>
            <a:srgbClr val="FFC62E"/>
          </a:solidFill>
          <a:ln w="19050">
            <a:solidFill>
              <a:srgbClr val="141210"/>
            </a:solidFill>
            <a:prstDash val="solid"/>
          </a:ln>
        </p:spPr>
      </p:sp>
      <p:sp>
        <p:nvSpPr>
          <p:cNvPr id="36" name="Text 27"/>
          <p:cNvSpPr txBox="1"/>
          <p:nvPr/>
        </p:nvSpPr>
        <p:spPr>
          <a:xfrm>
            <a:off x="8393424" y="1865376"/>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台本作成</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(長尺)</a:t>
            </a:r>
            <a:endParaRPr lang="en-US" sz="800" dirty="0"/>
          </a:p>
        </p:txBody>
      </p:sp>
      <p:pic>
        <p:nvPicPr>
          <p:cNvPr id="37" name="Image 7" descr="icons/ic_youtube.png">    </p:cNvPr>
          <p:cNvPicPr>
            <a:picLocks noChangeAspect="1"/>
          </p:cNvPicPr>
          <p:nvPr/>
        </p:nvPicPr>
        <p:blipFill>
          <a:blip r:embed="rId8"/>
          <a:stretch>
            <a:fillRect/>
          </a:stretch>
        </p:blipFill>
        <p:spPr>
          <a:xfrm>
            <a:off x="8923648" y="2304288"/>
            <a:ext cx="173736" cy="173736"/>
          </a:xfrm>
          <a:prstGeom prst="rect">
            <a:avLst/>
          </a:prstGeom>
        </p:spPr>
      </p:pic>
      <p:sp>
        <p:nvSpPr>
          <p:cNvPr id="38" name="Text 28"/>
          <p:cNvSpPr txBox="1"/>
          <p:nvPr/>
        </p:nvSpPr>
        <p:spPr>
          <a:xfrm>
            <a:off x="8393424" y="2505456"/>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15🍯</a:t>
            </a:r>
            <a:endParaRPr lang="en-US" sz="950" dirty="0"/>
          </a:p>
        </p:txBody>
      </p:sp>
      <p:sp>
        <p:nvSpPr>
          <p:cNvPr id="39" name="Shape 29"/>
          <p:cNvSpPr/>
          <p:nvPr/>
        </p:nvSpPr>
        <p:spPr>
          <a:xfrm rot="5400000">
            <a:off x="9485748" y="1714628"/>
            <a:ext cx="1298448" cy="1124456"/>
          </a:xfrm>
          <a:prstGeom prst="hexagon">
            <a:avLst/>
          </a:prstGeom>
          <a:solidFill>
            <a:srgbClr val="FFC62E"/>
          </a:solidFill>
          <a:ln w="19050">
            <a:solidFill>
              <a:srgbClr val="141210"/>
            </a:solidFill>
            <a:prstDash val="solid"/>
          </a:ln>
        </p:spPr>
      </p:sp>
      <p:sp>
        <p:nvSpPr>
          <p:cNvPr id="40" name="Text 30"/>
          <p:cNvSpPr txBox="1"/>
          <p:nvPr/>
        </p:nvSpPr>
        <p:spPr>
          <a:xfrm>
            <a:off x="9517880" y="1956816"/>
            <a:ext cx="1234184" cy="274320"/>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サムネイル</a:t>
            </a:r>
            <a:endParaRPr lang="en-US" sz="800" dirty="0"/>
          </a:p>
        </p:txBody>
      </p:sp>
      <p:pic>
        <p:nvPicPr>
          <p:cNvPr id="41" name="Image 8" descr="icons/ic_youtube.png">    </p:cNvPr>
          <p:cNvPicPr>
            <a:picLocks noChangeAspect="1"/>
          </p:cNvPicPr>
          <p:nvPr/>
        </p:nvPicPr>
        <p:blipFill>
          <a:blip r:embed="rId9"/>
          <a:stretch>
            <a:fillRect/>
          </a:stretch>
        </p:blipFill>
        <p:spPr>
          <a:xfrm>
            <a:off x="10048104" y="2304288"/>
            <a:ext cx="173736" cy="173736"/>
          </a:xfrm>
          <a:prstGeom prst="rect">
            <a:avLst/>
          </a:prstGeom>
        </p:spPr>
      </p:pic>
      <p:sp>
        <p:nvSpPr>
          <p:cNvPr id="42" name="Text 31"/>
          <p:cNvSpPr txBox="1"/>
          <p:nvPr/>
        </p:nvSpPr>
        <p:spPr>
          <a:xfrm>
            <a:off x="9517880" y="2505456"/>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5🍯</a:t>
            </a:r>
            <a:endParaRPr lang="en-US" sz="950" dirty="0"/>
          </a:p>
        </p:txBody>
      </p:sp>
      <p:sp>
        <p:nvSpPr>
          <p:cNvPr id="43" name="Shape 32"/>
          <p:cNvSpPr/>
          <p:nvPr/>
        </p:nvSpPr>
        <p:spPr>
          <a:xfrm rot="5400000">
            <a:off x="5550152" y="2688464"/>
            <a:ext cx="1298448" cy="1124456"/>
          </a:xfrm>
          <a:prstGeom prst="hexagon">
            <a:avLst/>
          </a:prstGeom>
          <a:solidFill>
            <a:srgbClr val="FFFFFF"/>
          </a:solidFill>
          <a:ln w="19050">
            <a:solidFill>
              <a:srgbClr val="141210"/>
            </a:solidFill>
            <a:prstDash val="solid"/>
          </a:ln>
        </p:spPr>
      </p:sp>
      <p:sp>
        <p:nvSpPr>
          <p:cNvPr id="44" name="Text 33"/>
          <p:cNvSpPr txBox="1"/>
          <p:nvPr/>
        </p:nvSpPr>
        <p:spPr>
          <a:xfrm>
            <a:off x="5582284" y="2839212"/>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カルーセル</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投稿</a:t>
            </a:r>
            <a:endParaRPr lang="en-US" sz="800" dirty="0"/>
          </a:p>
        </p:txBody>
      </p:sp>
      <p:pic>
        <p:nvPicPr>
          <p:cNvPr id="45" name="Image 9" descr="icons/ic_instagram.png">    </p:cNvPr>
          <p:cNvPicPr>
            <a:picLocks noChangeAspect="1"/>
          </p:cNvPicPr>
          <p:nvPr/>
        </p:nvPicPr>
        <p:blipFill>
          <a:blip r:embed="rId10"/>
          <a:stretch>
            <a:fillRect/>
          </a:stretch>
        </p:blipFill>
        <p:spPr>
          <a:xfrm>
            <a:off x="6112508" y="3278124"/>
            <a:ext cx="173736" cy="173736"/>
          </a:xfrm>
          <a:prstGeom prst="rect">
            <a:avLst/>
          </a:prstGeom>
        </p:spPr>
      </p:pic>
      <p:sp>
        <p:nvSpPr>
          <p:cNvPr id="46" name="Text 34"/>
          <p:cNvSpPr txBox="1"/>
          <p:nvPr/>
        </p:nvSpPr>
        <p:spPr>
          <a:xfrm>
            <a:off x="5582284" y="3479292"/>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15🍯</a:t>
            </a:r>
            <a:endParaRPr lang="en-US" sz="950" dirty="0"/>
          </a:p>
        </p:txBody>
      </p:sp>
      <p:sp>
        <p:nvSpPr>
          <p:cNvPr id="47" name="Shape 35"/>
          <p:cNvSpPr/>
          <p:nvPr/>
        </p:nvSpPr>
        <p:spPr>
          <a:xfrm rot="5400000">
            <a:off x="6674608" y="2688464"/>
            <a:ext cx="1298448" cy="1124456"/>
          </a:xfrm>
          <a:prstGeom prst="hexagon">
            <a:avLst/>
          </a:prstGeom>
          <a:solidFill>
            <a:srgbClr val="FFFFFF"/>
          </a:solidFill>
          <a:ln w="19050">
            <a:solidFill>
              <a:srgbClr val="141210"/>
            </a:solidFill>
            <a:prstDash val="solid"/>
          </a:ln>
        </p:spPr>
      </p:sp>
      <p:sp>
        <p:nvSpPr>
          <p:cNvPr id="48" name="Text 36"/>
          <p:cNvSpPr txBox="1"/>
          <p:nvPr/>
        </p:nvSpPr>
        <p:spPr>
          <a:xfrm>
            <a:off x="6706740" y="2839212"/>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投稿文</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＋画像</a:t>
            </a:r>
            <a:endParaRPr lang="en-US" sz="800" dirty="0"/>
          </a:p>
        </p:txBody>
      </p:sp>
      <p:pic>
        <p:nvPicPr>
          <p:cNvPr id="49" name="Image 10" descr="icons/ic_instagram.png">    </p:cNvPr>
          <p:cNvPicPr>
            <a:picLocks noChangeAspect="1"/>
          </p:cNvPicPr>
          <p:nvPr/>
        </p:nvPicPr>
        <p:blipFill>
          <a:blip r:embed="rId11"/>
          <a:stretch>
            <a:fillRect/>
          </a:stretch>
        </p:blipFill>
        <p:spPr>
          <a:xfrm>
            <a:off x="7236964" y="3278124"/>
            <a:ext cx="173736" cy="173736"/>
          </a:xfrm>
          <a:prstGeom prst="rect">
            <a:avLst/>
          </a:prstGeom>
        </p:spPr>
      </p:pic>
      <p:sp>
        <p:nvSpPr>
          <p:cNvPr id="50" name="Text 37"/>
          <p:cNvSpPr txBox="1"/>
          <p:nvPr/>
        </p:nvSpPr>
        <p:spPr>
          <a:xfrm>
            <a:off x="6706740" y="3479292"/>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7🍯</a:t>
            </a:r>
            <a:endParaRPr lang="en-US" sz="950" dirty="0"/>
          </a:p>
        </p:txBody>
      </p:sp>
      <p:sp>
        <p:nvSpPr>
          <p:cNvPr id="51" name="Shape 38"/>
          <p:cNvSpPr/>
          <p:nvPr/>
        </p:nvSpPr>
        <p:spPr>
          <a:xfrm rot="5400000">
            <a:off x="7799064" y="2688464"/>
            <a:ext cx="1298448" cy="1124456"/>
          </a:xfrm>
          <a:prstGeom prst="hexagon">
            <a:avLst/>
          </a:prstGeom>
          <a:solidFill>
            <a:srgbClr val="CBDFF3"/>
          </a:solidFill>
          <a:ln w="19050">
            <a:solidFill>
              <a:srgbClr val="141210"/>
            </a:solidFill>
            <a:prstDash val="solid"/>
          </a:ln>
        </p:spPr>
      </p:sp>
      <p:sp>
        <p:nvSpPr>
          <p:cNvPr id="52" name="Text 39"/>
          <p:cNvSpPr txBox="1"/>
          <p:nvPr/>
        </p:nvSpPr>
        <p:spPr>
          <a:xfrm>
            <a:off x="7831196" y="2839212"/>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LINE公式</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構築</a:t>
            </a:r>
            <a:endParaRPr lang="en-US" sz="800" dirty="0"/>
          </a:p>
        </p:txBody>
      </p:sp>
      <p:pic>
        <p:nvPicPr>
          <p:cNvPr id="53" name="Image 11" descr="icons/ic_line.png">    </p:cNvPr>
          <p:cNvPicPr>
            <a:picLocks noChangeAspect="1"/>
          </p:cNvPicPr>
          <p:nvPr/>
        </p:nvPicPr>
        <p:blipFill>
          <a:blip r:embed="rId12"/>
          <a:stretch>
            <a:fillRect/>
          </a:stretch>
        </p:blipFill>
        <p:spPr>
          <a:xfrm>
            <a:off x="8361420" y="3278124"/>
            <a:ext cx="173736" cy="173736"/>
          </a:xfrm>
          <a:prstGeom prst="rect">
            <a:avLst/>
          </a:prstGeom>
        </p:spPr>
      </p:pic>
      <p:sp>
        <p:nvSpPr>
          <p:cNvPr id="54" name="Text 40"/>
          <p:cNvSpPr txBox="1"/>
          <p:nvPr/>
        </p:nvSpPr>
        <p:spPr>
          <a:xfrm>
            <a:off x="7831196" y="3479292"/>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45🍯</a:t>
            </a:r>
            <a:endParaRPr lang="en-US" sz="950" dirty="0"/>
          </a:p>
        </p:txBody>
      </p:sp>
      <p:sp>
        <p:nvSpPr>
          <p:cNvPr id="55" name="Shape 41"/>
          <p:cNvSpPr/>
          <p:nvPr/>
        </p:nvSpPr>
        <p:spPr>
          <a:xfrm rot="5400000">
            <a:off x="8923520" y="2688464"/>
            <a:ext cx="1298448" cy="1124456"/>
          </a:xfrm>
          <a:prstGeom prst="hexagon">
            <a:avLst/>
          </a:prstGeom>
          <a:solidFill>
            <a:srgbClr val="CBDFF3"/>
          </a:solidFill>
          <a:ln w="19050">
            <a:solidFill>
              <a:srgbClr val="141210"/>
            </a:solidFill>
            <a:prstDash val="solid"/>
          </a:ln>
        </p:spPr>
      </p:sp>
      <p:sp>
        <p:nvSpPr>
          <p:cNvPr id="56" name="Text 42"/>
          <p:cNvSpPr txBox="1"/>
          <p:nvPr/>
        </p:nvSpPr>
        <p:spPr>
          <a:xfrm>
            <a:off x="8955652" y="2839212"/>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チラシ</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(A4)</a:t>
            </a:r>
            <a:endParaRPr lang="en-US" sz="800" dirty="0"/>
          </a:p>
        </p:txBody>
      </p:sp>
      <p:pic>
        <p:nvPicPr>
          <p:cNvPr id="57" name="Image 12" descr="icons/ic_flyer.png">    </p:cNvPr>
          <p:cNvPicPr>
            <a:picLocks noChangeAspect="1"/>
          </p:cNvPicPr>
          <p:nvPr/>
        </p:nvPicPr>
        <p:blipFill>
          <a:blip r:embed="rId13"/>
          <a:stretch>
            <a:fillRect/>
          </a:stretch>
        </p:blipFill>
        <p:spPr>
          <a:xfrm>
            <a:off x="9485876" y="3278124"/>
            <a:ext cx="173736" cy="173736"/>
          </a:xfrm>
          <a:prstGeom prst="rect">
            <a:avLst/>
          </a:prstGeom>
        </p:spPr>
      </p:pic>
      <p:sp>
        <p:nvSpPr>
          <p:cNvPr id="58" name="Text 43"/>
          <p:cNvSpPr txBox="1"/>
          <p:nvPr/>
        </p:nvSpPr>
        <p:spPr>
          <a:xfrm>
            <a:off x="8955652" y="3479292"/>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35🍯</a:t>
            </a:r>
            <a:endParaRPr lang="en-US" sz="950" dirty="0"/>
          </a:p>
        </p:txBody>
      </p:sp>
      <p:sp>
        <p:nvSpPr>
          <p:cNvPr id="59" name="Shape 44"/>
          <p:cNvSpPr/>
          <p:nvPr/>
        </p:nvSpPr>
        <p:spPr>
          <a:xfrm rot="5400000">
            <a:off x="4987924" y="3662300"/>
            <a:ext cx="1298448" cy="1124456"/>
          </a:xfrm>
          <a:prstGeom prst="hexagon">
            <a:avLst/>
          </a:prstGeom>
          <a:solidFill>
            <a:srgbClr val="CBDFF3"/>
          </a:solidFill>
          <a:ln w="19050">
            <a:solidFill>
              <a:srgbClr val="141210"/>
            </a:solidFill>
            <a:prstDash val="solid"/>
          </a:ln>
        </p:spPr>
      </p:sp>
      <p:sp>
        <p:nvSpPr>
          <p:cNvPr id="60" name="Text 45"/>
          <p:cNvSpPr txBox="1"/>
          <p:nvPr/>
        </p:nvSpPr>
        <p:spPr>
          <a:xfrm>
            <a:off x="5020056" y="3813048"/>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HP制作</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(1ページ)</a:t>
            </a:r>
            <a:endParaRPr lang="en-US" sz="800" dirty="0"/>
          </a:p>
        </p:txBody>
      </p:sp>
      <p:pic>
        <p:nvPicPr>
          <p:cNvPr id="61" name="Image 13" descr="icons/ic_web.png">    </p:cNvPr>
          <p:cNvPicPr>
            <a:picLocks noChangeAspect="1"/>
          </p:cNvPicPr>
          <p:nvPr/>
        </p:nvPicPr>
        <p:blipFill>
          <a:blip r:embed="rId14"/>
          <a:stretch>
            <a:fillRect/>
          </a:stretch>
        </p:blipFill>
        <p:spPr>
          <a:xfrm>
            <a:off x="5550280" y="4251960"/>
            <a:ext cx="173736" cy="173736"/>
          </a:xfrm>
          <a:prstGeom prst="rect">
            <a:avLst/>
          </a:prstGeom>
        </p:spPr>
      </p:pic>
      <p:sp>
        <p:nvSpPr>
          <p:cNvPr id="62" name="Text 46"/>
          <p:cNvSpPr txBox="1"/>
          <p:nvPr/>
        </p:nvSpPr>
        <p:spPr>
          <a:xfrm>
            <a:off x="5020056" y="4453128"/>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100🍯</a:t>
            </a:r>
            <a:endParaRPr lang="en-US" sz="950" dirty="0"/>
          </a:p>
        </p:txBody>
      </p:sp>
      <p:sp>
        <p:nvSpPr>
          <p:cNvPr id="63" name="Shape 47"/>
          <p:cNvSpPr/>
          <p:nvPr/>
        </p:nvSpPr>
        <p:spPr>
          <a:xfrm rot="5400000">
            <a:off x="6112380" y="3662300"/>
            <a:ext cx="1298448" cy="1124456"/>
          </a:xfrm>
          <a:prstGeom prst="hexagon">
            <a:avLst/>
          </a:prstGeom>
          <a:solidFill>
            <a:srgbClr val="CBDFF3"/>
          </a:solidFill>
          <a:ln w="19050">
            <a:solidFill>
              <a:srgbClr val="141210"/>
            </a:solidFill>
            <a:prstDash val="solid"/>
          </a:ln>
        </p:spPr>
      </p:sp>
      <p:sp>
        <p:nvSpPr>
          <p:cNvPr id="64" name="Text 48"/>
          <p:cNvSpPr txBox="1"/>
          <p:nvPr/>
        </p:nvSpPr>
        <p:spPr>
          <a:xfrm>
            <a:off x="6144512" y="3813048"/>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HP保守</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(月額)</a:t>
            </a:r>
            <a:endParaRPr lang="en-US" sz="800" dirty="0"/>
          </a:p>
        </p:txBody>
      </p:sp>
      <p:pic>
        <p:nvPicPr>
          <p:cNvPr id="65" name="Image 14" descr="icons/ic_web.png">    </p:cNvPr>
          <p:cNvPicPr>
            <a:picLocks noChangeAspect="1"/>
          </p:cNvPicPr>
          <p:nvPr/>
        </p:nvPicPr>
        <p:blipFill>
          <a:blip r:embed="rId15"/>
          <a:stretch>
            <a:fillRect/>
          </a:stretch>
        </p:blipFill>
        <p:spPr>
          <a:xfrm>
            <a:off x="6674736" y="4251960"/>
            <a:ext cx="173736" cy="173736"/>
          </a:xfrm>
          <a:prstGeom prst="rect">
            <a:avLst/>
          </a:prstGeom>
        </p:spPr>
      </p:pic>
      <p:sp>
        <p:nvSpPr>
          <p:cNvPr id="66" name="Text 49"/>
          <p:cNvSpPr txBox="1"/>
          <p:nvPr/>
        </p:nvSpPr>
        <p:spPr>
          <a:xfrm>
            <a:off x="6144512" y="4453128"/>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12🍯/月</a:t>
            </a:r>
            <a:endParaRPr lang="en-US" sz="950" dirty="0"/>
          </a:p>
        </p:txBody>
      </p:sp>
      <p:sp>
        <p:nvSpPr>
          <p:cNvPr id="67" name="Shape 50"/>
          <p:cNvSpPr/>
          <p:nvPr/>
        </p:nvSpPr>
        <p:spPr>
          <a:xfrm rot="5400000">
            <a:off x="7236836" y="3662300"/>
            <a:ext cx="1298448" cy="1124456"/>
          </a:xfrm>
          <a:prstGeom prst="hexagon">
            <a:avLst/>
          </a:prstGeom>
          <a:solidFill>
            <a:srgbClr val="CBDFF3"/>
          </a:solidFill>
          <a:ln w="19050">
            <a:solidFill>
              <a:srgbClr val="141210"/>
            </a:solidFill>
            <a:prstDash val="solid"/>
          </a:ln>
        </p:spPr>
      </p:sp>
      <p:sp>
        <p:nvSpPr>
          <p:cNvPr id="68" name="Text 51"/>
          <p:cNvSpPr txBox="1"/>
          <p:nvPr/>
        </p:nvSpPr>
        <p:spPr>
          <a:xfrm>
            <a:off x="7268968" y="3813048"/>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LPファースト</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ビュー</a:t>
            </a:r>
            <a:endParaRPr lang="en-US" sz="800" dirty="0"/>
          </a:p>
        </p:txBody>
      </p:sp>
      <p:pic>
        <p:nvPicPr>
          <p:cNvPr id="69" name="Image 15" descr="icons/ic_web.png">    </p:cNvPr>
          <p:cNvPicPr>
            <a:picLocks noChangeAspect="1"/>
          </p:cNvPicPr>
          <p:nvPr/>
        </p:nvPicPr>
        <p:blipFill>
          <a:blip r:embed="rId16"/>
          <a:stretch>
            <a:fillRect/>
          </a:stretch>
        </p:blipFill>
        <p:spPr>
          <a:xfrm>
            <a:off x="7799192" y="4251960"/>
            <a:ext cx="173736" cy="173736"/>
          </a:xfrm>
          <a:prstGeom prst="rect">
            <a:avLst/>
          </a:prstGeom>
        </p:spPr>
      </p:pic>
      <p:sp>
        <p:nvSpPr>
          <p:cNvPr id="70" name="Text 52"/>
          <p:cNvSpPr txBox="1"/>
          <p:nvPr/>
        </p:nvSpPr>
        <p:spPr>
          <a:xfrm>
            <a:off x="7268968" y="4453128"/>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30🍯</a:t>
            </a:r>
            <a:endParaRPr lang="en-US" sz="950" dirty="0"/>
          </a:p>
        </p:txBody>
      </p:sp>
      <p:sp>
        <p:nvSpPr>
          <p:cNvPr id="71" name="Shape 53"/>
          <p:cNvSpPr/>
          <p:nvPr/>
        </p:nvSpPr>
        <p:spPr>
          <a:xfrm rot="5400000">
            <a:off x="8361292" y="3662300"/>
            <a:ext cx="1298448" cy="1124456"/>
          </a:xfrm>
          <a:prstGeom prst="hexagon">
            <a:avLst/>
          </a:prstGeom>
          <a:solidFill>
            <a:srgbClr val="CBDFF3"/>
          </a:solidFill>
          <a:ln w="19050">
            <a:solidFill>
              <a:srgbClr val="141210"/>
            </a:solidFill>
            <a:prstDash val="solid"/>
          </a:ln>
        </p:spPr>
      </p:sp>
      <p:sp>
        <p:nvSpPr>
          <p:cNvPr id="72" name="Text 54"/>
          <p:cNvSpPr txBox="1"/>
          <p:nvPr/>
        </p:nvSpPr>
        <p:spPr>
          <a:xfrm>
            <a:off x="8393424" y="3904488"/>
            <a:ext cx="1234184" cy="274320"/>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SEO記事</a:t>
            </a:r>
            <a:endParaRPr lang="en-US" sz="800" dirty="0"/>
          </a:p>
        </p:txBody>
      </p:sp>
      <p:pic>
        <p:nvPicPr>
          <p:cNvPr id="73" name="Image 16" descr="icons/ic_web.png">    </p:cNvPr>
          <p:cNvPicPr>
            <a:picLocks noChangeAspect="1"/>
          </p:cNvPicPr>
          <p:nvPr/>
        </p:nvPicPr>
        <p:blipFill>
          <a:blip r:embed="rId17"/>
          <a:stretch>
            <a:fillRect/>
          </a:stretch>
        </p:blipFill>
        <p:spPr>
          <a:xfrm>
            <a:off x="8923648" y="4251960"/>
            <a:ext cx="173736" cy="173736"/>
          </a:xfrm>
          <a:prstGeom prst="rect">
            <a:avLst/>
          </a:prstGeom>
        </p:spPr>
      </p:pic>
      <p:sp>
        <p:nvSpPr>
          <p:cNvPr id="74" name="Text 55"/>
          <p:cNvSpPr txBox="1"/>
          <p:nvPr/>
        </p:nvSpPr>
        <p:spPr>
          <a:xfrm>
            <a:off x="8393424" y="4453128"/>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12🍯</a:t>
            </a:r>
            <a:endParaRPr lang="en-US" sz="950" dirty="0"/>
          </a:p>
        </p:txBody>
      </p:sp>
      <p:sp>
        <p:nvSpPr>
          <p:cNvPr id="75" name="Shape 56"/>
          <p:cNvSpPr/>
          <p:nvPr/>
        </p:nvSpPr>
        <p:spPr>
          <a:xfrm rot="5400000">
            <a:off x="9485748" y="3662300"/>
            <a:ext cx="1298448" cy="1124456"/>
          </a:xfrm>
          <a:prstGeom prst="hexagon">
            <a:avLst/>
          </a:prstGeom>
          <a:solidFill>
            <a:srgbClr val="CBDFF3"/>
          </a:solidFill>
          <a:ln w="19050">
            <a:solidFill>
              <a:srgbClr val="141210"/>
            </a:solidFill>
            <a:prstDash val="solid"/>
          </a:ln>
        </p:spPr>
      </p:sp>
      <p:sp>
        <p:nvSpPr>
          <p:cNvPr id="76" name="Text 57"/>
          <p:cNvSpPr txBox="1"/>
          <p:nvPr/>
        </p:nvSpPr>
        <p:spPr>
          <a:xfrm>
            <a:off x="9517880" y="3813048"/>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MEO・掲載文</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改善</a:t>
            </a:r>
            <a:endParaRPr lang="en-US" sz="800" dirty="0"/>
          </a:p>
        </p:txBody>
      </p:sp>
      <p:pic>
        <p:nvPicPr>
          <p:cNvPr id="77" name="Image 17" descr="icons/ic_google.png">    </p:cNvPr>
          <p:cNvPicPr>
            <a:picLocks noChangeAspect="1"/>
          </p:cNvPicPr>
          <p:nvPr/>
        </p:nvPicPr>
        <p:blipFill>
          <a:blip r:embed="rId18"/>
          <a:stretch>
            <a:fillRect/>
          </a:stretch>
        </p:blipFill>
        <p:spPr>
          <a:xfrm>
            <a:off x="10048104" y="4251960"/>
            <a:ext cx="173736" cy="173736"/>
          </a:xfrm>
          <a:prstGeom prst="rect">
            <a:avLst/>
          </a:prstGeom>
        </p:spPr>
      </p:pic>
      <p:sp>
        <p:nvSpPr>
          <p:cNvPr id="78" name="Text 58"/>
          <p:cNvSpPr txBox="1"/>
          <p:nvPr/>
        </p:nvSpPr>
        <p:spPr>
          <a:xfrm>
            <a:off x="9517880" y="4453128"/>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15🍯</a:t>
            </a:r>
            <a:endParaRPr lang="en-US" sz="950" dirty="0"/>
          </a:p>
        </p:txBody>
      </p:sp>
      <p:sp>
        <p:nvSpPr>
          <p:cNvPr id="79" name="Shape 59"/>
          <p:cNvSpPr/>
          <p:nvPr/>
        </p:nvSpPr>
        <p:spPr>
          <a:xfrm rot="5400000">
            <a:off x="5550152" y="4636136"/>
            <a:ext cx="1298448" cy="1124456"/>
          </a:xfrm>
          <a:prstGeom prst="hexagon">
            <a:avLst/>
          </a:prstGeom>
          <a:solidFill>
            <a:srgbClr val="D9D6F3"/>
          </a:solidFill>
          <a:ln w="19050">
            <a:solidFill>
              <a:srgbClr val="141210"/>
            </a:solidFill>
            <a:prstDash val="solid"/>
          </a:ln>
        </p:spPr>
      </p:sp>
      <p:sp>
        <p:nvSpPr>
          <p:cNvPr id="80" name="Text 60"/>
          <p:cNvSpPr txBox="1"/>
          <p:nvPr/>
        </p:nvSpPr>
        <p:spPr>
          <a:xfrm>
            <a:off x="5582284" y="4878324"/>
            <a:ext cx="1234184" cy="274320"/>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求人原稿</a:t>
            </a:r>
            <a:endParaRPr lang="en-US" sz="800" dirty="0"/>
          </a:p>
        </p:txBody>
      </p:sp>
      <p:pic>
        <p:nvPicPr>
          <p:cNvPr id="81" name="Image 18" descr="icons/ic_recruit.png">    </p:cNvPr>
          <p:cNvPicPr>
            <a:picLocks noChangeAspect="1"/>
          </p:cNvPicPr>
          <p:nvPr/>
        </p:nvPicPr>
        <p:blipFill>
          <a:blip r:embed="rId19"/>
          <a:stretch>
            <a:fillRect/>
          </a:stretch>
        </p:blipFill>
        <p:spPr>
          <a:xfrm>
            <a:off x="6112508" y="5225796"/>
            <a:ext cx="173736" cy="173736"/>
          </a:xfrm>
          <a:prstGeom prst="rect">
            <a:avLst/>
          </a:prstGeom>
        </p:spPr>
      </p:pic>
      <p:sp>
        <p:nvSpPr>
          <p:cNvPr id="82" name="Text 61"/>
          <p:cNvSpPr txBox="1"/>
          <p:nvPr/>
        </p:nvSpPr>
        <p:spPr>
          <a:xfrm>
            <a:off x="5582284" y="5426964"/>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10🍯</a:t>
            </a:r>
            <a:endParaRPr lang="en-US" sz="950" dirty="0"/>
          </a:p>
        </p:txBody>
      </p:sp>
      <p:sp>
        <p:nvSpPr>
          <p:cNvPr id="83" name="Shape 62"/>
          <p:cNvSpPr/>
          <p:nvPr/>
        </p:nvSpPr>
        <p:spPr>
          <a:xfrm rot="5400000">
            <a:off x="6674608" y="4636136"/>
            <a:ext cx="1298448" cy="1124456"/>
          </a:xfrm>
          <a:prstGeom prst="hexagon">
            <a:avLst/>
          </a:prstGeom>
          <a:solidFill>
            <a:srgbClr val="D9D6F3"/>
          </a:solidFill>
          <a:ln w="19050">
            <a:solidFill>
              <a:srgbClr val="141210"/>
            </a:solidFill>
            <a:prstDash val="solid"/>
          </a:ln>
        </p:spPr>
      </p:sp>
      <p:sp>
        <p:nvSpPr>
          <p:cNvPr id="84" name="Text 63"/>
          <p:cNvSpPr txBox="1"/>
          <p:nvPr/>
        </p:nvSpPr>
        <p:spPr>
          <a:xfrm>
            <a:off x="6706740" y="4786884"/>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求人媒体</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リライト</a:t>
            </a:r>
            <a:endParaRPr lang="en-US" sz="800" dirty="0"/>
          </a:p>
        </p:txBody>
      </p:sp>
      <p:pic>
        <p:nvPicPr>
          <p:cNvPr id="85" name="Image 19" descr="icons/ic_recruit.png">    </p:cNvPr>
          <p:cNvPicPr>
            <a:picLocks noChangeAspect="1"/>
          </p:cNvPicPr>
          <p:nvPr/>
        </p:nvPicPr>
        <p:blipFill>
          <a:blip r:embed="rId20"/>
          <a:stretch>
            <a:fillRect/>
          </a:stretch>
        </p:blipFill>
        <p:spPr>
          <a:xfrm>
            <a:off x="7236964" y="5225796"/>
            <a:ext cx="173736" cy="173736"/>
          </a:xfrm>
          <a:prstGeom prst="rect">
            <a:avLst/>
          </a:prstGeom>
        </p:spPr>
      </p:pic>
      <p:sp>
        <p:nvSpPr>
          <p:cNvPr id="86" name="Text 64"/>
          <p:cNvSpPr txBox="1"/>
          <p:nvPr/>
        </p:nvSpPr>
        <p:spPr>
          <a:xfrm>
            <a:off x="6706740" y="5426964"/>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10🍯</a:t>
            </a:r>
            <a:endParaRPr lang="en-US" sz="950" dirty="0"/>
          </a:p>
        </p:txBody>
      </p:sp>
      <p:sp>
        <p:nvSpPr>
          <p:cNvPr id="87" name="Shape 65"/>
          <p:cNvSpPr/>
          <p:nvPr/>
        </p:nvSpPr>
        <p:spPr>
          <a:xfrm rot="5400000">
            <a:off x="7799064" y="4636136"/>
            <a:ext cx="1298448" cy="1124456"/>
          </a:xfrm>
          <a:prstGeom prst="hexagon">
            <a:avLst/>
          </a:prstGeom>
          <a:solidFill>
            <a:srgbClr val="C8EDD3"/>
          </a:solidFill>
          <a:ln w="19050">
            <a:solidFill>
              <a:srgbClr val="141210"/>
            </a:solidFill>
            <a:prstDash val="solid"/>
          </a:ln>
        </p:spPr>
      </p:sp>
      <p:sp>
        <p:nvSpPr>
          <p:cNvPr id="88" name="Text 66"/>
          <p:cNvSpPr txBox="1"/>
          <p:nvPr/>
        </p:nvSpPr>
        <p:spPr>
          <a:xfrm>
            <a:off x="7831196" y="4786884"/>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テレアポ</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台本</a:t>
            </a:r>
            <a:endParaRPr lang="en-US" sz="800" dirty="0"/>
          </a:p>
        </p:txBody>
      </p:sp>
      <p:pic>
        <p:nvPicPr>
          <p:cNvPr id="89" name="Image 20" descr="icons/ic_phone.png">    </p:cNvPr>
          <p:cNvPicPr>
            <a:picLocks noChangeAspect="1"/>
          </p:cNvPicPr>
          <p:nvPr/>
        </p:nvPicPr>
        <p:blipFill>
          <a:blip r:embed="rId21"/>
          <a:stretch>
            <a:fillRect/>
          </a:stretch>
        </p:blipFill>
        <p:spPr>
          <a:xfrm>
            <a:off x="8361420" y="5225796"/>
            <a:ext cx="173736" cy="173736"/>
          </a:xfrm>
          <a:prstGeom prst="rect">
            <a:avLst/>
          </a:prstGeom>
        </p:spPr>
      </p:pic>
      <p:sp>
        <p:nvSpPr>
          <p:cNvPr id="90" name="Text 67"/>
          <p:cNvSpPr txBox="1"/>
          <p:nvPr/>
        </p:nvSpPr>
        <p:spPr>
          <a:xfrm>
            <a:off x="7831196" y="5426964"/>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5🍯</a:t>
            </a:r>
            <a:endParaRPr lang="en-US" sz="950" dirty="0"/>
          </a:p>
        </p:txBody>
      </p:sp>
      <p:sp>
        <p:nvSpPr>
          <p:cNvPr id="91" name="Shape 68"/>
          <p:cNvSpPr/>
          <p:nvPr/>
        </p:nvSpPr>
        <p:spPr>
          <a:xfrm rot="5400000">
            <a:off x="8923520" y="4636136"/>
            <a:ext cx="1298448" cy="1124456"/>
          </a:xfrm>
          <a:prstGeom prst="hexagon">
            <a:avLst/>
          </a:prstGeom>
          <a:solidFill>
            <a:srgbClr val="C8EDD3"/>
          </a:solidFill>
          <a:ln w="19050">
            <a:solidFill>
              <a:srgbClr val="141210"/>
            </a:solidFill>
            <a:prstDash val="solid"/>
          </a:ln>
        </p:spPr>
      </p:sp>
      <p:sp>
        <p:nvSpPr>
          <p:cNvPr id="92" name="Text 69"/>
          <p:cNvSpPr txBox="1"/>
          <p:nvPr/>
        </p:nvSpPr>
        <p:spPr>
          <a:xfrm>
            <a:off x="8955652" y="4786884"/>
            <a:ext cx="1234184" cy="420624"/>
          </a:xfrm>
          <a:prstGeom prst="rect">
            <a:avLst/>
          </a:prstGeom>
          <a:noFill/>
          <a:ln/>
        </p:spPr>
        <p:txBody>
          <a:bodyPr wrap="square" lIns="0" tIns="0" rIns="0" bIns="0" rtlCol="0" anchor="ctr"/>
          <a:lstStyle/>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リスト・</a:t>
            </a:r>
            <a:endParaRPr lang="en-US" sz="800" dirty="0"/>
          </a:p>
          <a:p>
            <a:pPr algn="ctr" indent="0" marL="0">
              <a:lnSpc>
                <a:spcPts val="1050"/>
              </a:lnSpc>
              <a:buNone/>
            </a:pPr>
            <a:r>
              <a:rPr lang="en-US" sz="800" b="1" dirty="0">
                <a:solidFill>
                  <a:srgbClr val="141210"/>
                </a:solidFill>
                <a:latin typeface="Yu Gothic" pitchFamily="34" charset="0"/>
                <a:ea typeface="Yu Gothic" pitchFamily="34" charset="-122"/>
                <a:cs typeface="Yu Gothic" pitchFamily="34" charset="-120"/>
              </a:rPr>
              <a:t>架電代行</a:t>
            </a:r>
            <a:endParaRPr lang="en-US" sz="800" dirty="0"/>
          </a:p>
        </p:txBody>
      </p:sp>
      <p:pic>
        <p:nvPicPr>
          <p:cNvPr id="93" name="Image 21" descr="icons/ic_phone.png">    </p:cNvPr>
          <p:cNvPicPr>
            <a:picLocks noChangeAspect="1"/>
          </p:cNvPicPr>
          <p:nvPr/>
        </p:nvPicPr>
        <p:blipFill>
          <a:blip r:embed="rId22"/>
          <a:stretch>
            <a:fillRect/>
          </a:stretch>
        </p:blipFill>
        <p:spPr>
          <a:xfrm>
            <a:off x="9485876" y="5225796"/>
            <a:ext cx="173736" cy="173736"/>
          </a:xfrm>
          <a:prstGeom prst="rect">
            <a:avLst/>
          </a:prstGeom>
        </p:spPr>
      </p:pic>
      <p:sp>
        <p:nvSpPr>
          <p:cNvPr id="94" name="Text 70"/>
          <p:cNvSpPr txBox="1"/>
          <p:nvPr/>
        </p:nvSpPr>
        <p:spPr>
          <a:xfrm>
            <a:off x="8955652" y="5426964"/>
            <a:ext cx="1234184" cy="274320"/>
          </a:xfrm>
          <a:prstGeom prst="rect">
            <a:avLst/>
          </a:prstGeom>
          <a:noFill/>
          <a:ln/>
        </p:spPr>
        <p:txBody>
          <a:bodyPr wrap="square" lIns="0" tIns="0" rIns="0" bIns="0" rtlCol="0" anchor="ctr"/>
          <a:lstStyle/>
          <a:p>
            <a:pPr algn="ctr" indent="0" marL="0">
              <a:buNone/>
            </a:pPr>
            <a:r>
              <a:rPr lang="en-US" sz="950" b="1" dirty="0">
                <a:solidFill>
                  <a:srgbClr val="141210"/>
                </a:solidFill>
                <a:latin typeface="Yu Gothic" pitchFamily="34" charset="0"/>
                <a:ea typeface="Yu Gothic" pitchFamily="34" charset="-122"/>
                <a:cs typeface="Yu Gothic" pitchFamily="34" charset="-120"/>
              </a:rPr>
              <a:t>20🍯〜</a:t>
            </a:r>
            <a:endParaRPr lang="en-US" sz="950" dirty="0"/>
          </a:p>
        </p:txBody>
      </p:sp>
      <p:sp>
        <p:nvSpPr>
          <p:cNvPr id="95" name="Text 71"/>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150" b="1" dirty="0">
                <a:solidFill>
                  <a:srgbClr val="141210"/>
                </a:solidFill>
                <a:latin typeface="Yu Gothic" pitchFamily="34" charset="0"/>
                <a:ea typeface="Yu Gothic" pitchFamily="34" charset="-122"/>
                <a:cs typeface="Yu Gothic" pitchFamily="34" charset="-120"/>
              </a:rPr>
              <a:t>価格は定価ハニー（1🍯＝1,200円・税別)。定価は相場の約2割安 — 補助金と合わせて、全部が実質約1/3になります。</a:t>
            </a:r>
            <a:endParaRPr lang="en-US" sz="1150" dirty="0"/>
          </a:p>
        </p:txBody>
      </p:sp>
      <p:sp>
        <p:nvSpPr>
          <p:cNvPr id="96" name="Shape 72"/>
          <p:cNvSpPr/>
          <p:nvPr/>
        </p:nvSpPr>
        <p:spPr>
          <a:xfrm>
            <a:off x="548640" y="6455664"/>
            <a:ext cx="11091672" cy="0"/>
          </a:xfrm>
          <a:prstGeom prst="line">
            <a:avLst/>
          </a:prstGeom>
          <a:noFill/>
          <a:ln w="12700">
            <a:solidFill>
              <a:srgbClr val="E2DCCE"/>
            </a:solidFill>
            <a:prstDash val="solid"/>
          </a:ln>
        </p:spPr>
      </p:sp>
      <p:sp>
        <p:nvSpPr>
          <p:cNvPr id="97" name="Text 73"/>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98" name="Text 74"/>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05 / </a:t>
            </a:r>
            <a:pPr indent="0" marL="0">
              <a:buNone/>
            </a:pPr>
            <a:r>
              <a:rPr lang="en-US" sz="1200" b="1" spc="300" kern="0" dirty="0">
                <a:solidFill>
                  <a:srgbClr val="B8860B"/>
                </a:solidFill>
                <a:latin typeface="Arial" pitchFamily="34" charset="0"/>
                <a:ea typeface="Arial" pitchFamily="34" charset="-122"/>
                <a:cs typeface="Arial" pitchFamily="34" charset="-120"/>
              </a:rPr>
              <a:t>HOW IT WORKS — MOVIE</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動画づくりは、3ステップで丸投げ</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548640" y="1600200"/>
            <a:ext cx="1828800" cy="274320"/>
          </a:xfrm>
          <a:prstGeom prst="rect">
            <a:avLst/>
          </a:prstGeom>
          <a:noFill/>
          <a:ln/>
        </p:spPr>
        <p:txBody>
          <a:bodyPr wrap="square" lIns="0" tIns="0" rIns="0" bIns="0" rtlCol="0" anchor="ctr"/>
          <a:lstStyle/>
          <a:p>
            <a:pPr indent="0" marL="0">
              <a:buNone/>
            </a:pPr>
            <a:r>
              <a:rPr lang="en-US" sz="1200" dirty="0">
                <a:solidFill>
                  <a:srgbClr val="B8860B"/>
                </a:solidFill>
                <a:latin typeface="Arial Black" pitchFamily="34" charset="0"/>
                <a:ea typeface="Arial Black" pitchFamily="34" charset="-122"/>
                <a:cs typeface="Arial Black" pitchFamily="34" charset="-120"/>
              </a:rPr>
              <a:t>STEP 1</a:t>
            </a:r>
            <a:endParaRPr lang="en-US" sz="1200" dirty="0"/>
          </a:p>
        </p:txBody>
      </p:sp>
      <p:sp>
        <p:nvSpPr>
          <p:cNvPr id="7" name="Text 5"/>
          <p:cNvSpPr txBox="1"/>
          <p:nvPr/>
        </p:nvSpPr>
        <p:spPr>
          <a:xfrm>
            <a:off x="548640" y="1874520"/>
            <a:ext cx="3200400" cy="365760"/>
          </a:xfrm>
          <a:prstGeom prst="rect">
            <a:avLst/>
          </a:prstGeom>
          <a:noFill/>
          <a:ln/>
        </p:spPr>
        <p:txBody>
          <a:bodyPr wrap="square" lIns="0" tIns="0" rIns="0" bIns="0" rtlCol="0" anchor="ctr"/>
          <a:lstStyle/>
          <a:p>
            <a:pPr indent="0" marL="0">
              <a:buNone/>
            </a:pPr>
            <a:r>
              <a:rPr lang="en-US" sz="1500" b="1" dirty="0">
                <a:solidFill>
                  <a:srgbClr val="141210"/>
                </a:solidFill>
                <a:latin typeface="Yu Gothic" pitchFamily="34" charset="0"/>
                <a:ea typeface="Yu Gothic" pitchFamily="34" charset="-122"/>
                <a:cs typeface="Yu Gothic" pitchFamily="34" charset="-120"/>
              </a:rPr>
              <a:t>お手本を選ぶ</a:t>
            </a:r>
            <a:endParaRPr lang="en-US" sz="1500" dirty="0"/>
          </a:p>
        </p:txBody>
      </p:sp>
      <p:pic>
        <p:nvPicPr>
          <p:cNvPr id="8" name="Image 0" descr="tik_tile1.jpg">    </p:cNvPr>
          <p:cNvPicPr>
            <a:picLocks noChangeAspect="1"/>
          </p:cNvPicPr>
          <p:nvPr/>
        </p:nvPicPr>
        <p:blipFill>
          <a:blip r:embed="rId1"/>
          <a:stretch>
            <a:fillRect/>
          </a:stretch>
        </p:blipFill>
        <p:spPr>
          <a:xfrm>
            <a:off x="548640" y="2331720"/>
            <a:ext cx="1691640" cy="2240280"/>
          </a:xfrm>
          <a:prstGeom prst="rect">
            <a:avLst/>
          </a:prstGeom>
        </p:spPr>
      </p:pic>
      <p:sp>
        <p:nvSpPr>
          <p:cNvPr id="9" name="Shape 6"/>
          <p:cNvSpPr/>
          <p:nvPr/>
        </p:nvSpPr>
        <p:spPr>
          <a:xfrm>
            <a:off x="548640" y="2331720"/>
            <a:ext cx="1691640" cy="2240280"/>
          </a:xfrm>
          <a:prstGeom prst="rect">
            <a:avLst/>
          </a:prstGeom>
          <a:ln w="19050">
            <a:solidFill>
              <a:srgbClr val="141210"/>
            </a:solidFill>
            <a:prstDash val="solid"/>
          </a:ln>
        </p:spPr>
      </p:sp>
      <p:pic>
        <p:nvPicPr>
          <p:cNvPr id="10" name="Image 1" descr="vz1.jpg">    </p:cNvPr>
          <p:cNvPicPr>
            <a:picLocks noChangeAspect="1"/>
          </p:cNvPicPr>
          <p:nvPr/>
        </p:nvPicPr>
        <p:blipFill>
          <a:blip r:embed="rId2"/>
          <a:stretch>
            <a:fillRect/>
          </a:stretch>
        </p:blipFill>
        <p:spPr>
          <a:xfrm>
            <a:off x="2377440" y="2331720"/>
            <a:ext cx="1463040" cy="2240280"/>
          </a:xfrm>
          <a:prstGeom prst="rect">
            <a:avLst/>
          </a:prstGeom>
        </p:spPr>
      </p:pic>
      <p:sp>
        <p:nvSpPr>
          <p:cNvPr id="11" name="Shape 7"/>
          <p:cNvSpPr/>
          <p:nvPr/>
        </p:nvSpPr>
        <p:spPr>
          <a:xfrm>
            <a:off x="2377440" y="2331720"/>
            <a:ext cx="1463040" cy="2240280"/>
          </a:xfrm>
          <a:prstGeom prst="rect">
            <a:avLst/>
          </a:prstGeom>
          <a:ln w="19050">
            <a:solidFill>
              <a:srgbClr val="141210"/>
            </a:solidFill>
            <a:prstDash val="solid"/>
          </a:ln>
        </p:spPr>
      </p:sp>
      <p:sp>
        <p:nvSpPr>
          <p:cNvPr id="12" name="Text 8"/>
          <p:cNvSpPr txBox="1"/>
          <p:nvPr/>
        </p:nvSpPr>
        <p:spPr>
          <a:xfrm>
            <a:off x="548640" y="4681728"/>
            <a:ext cx="3474720" cy="502920"/>
          </a:xfrm>
          <a:prstGeom prst="rect">
            <a:avLst/>
          </a:prstGeom>
          <a:noFill/>
          <a:ln/>
        </p:spPr>
        <p:txBody>
          <a:bodyPr wrap="square" lIns="0" tIns="0" rIns="0" bIns="0" rtlCol="0" anchor="ctr"/>
          <a:lstStyle/>
          <a:p>
            <a:pPr indent="0" marL="0">
              <a:lnSpc>
                <a:spcPts val="1400"/>
              </a:lnSpc>
              <a:buNone/>
            </a:pPr>
            <a:r>
              <a:rPr lang="en-US" sz="1000" dirty="0">
                <a:solidFill>
                  <a:srgbClr val="5F594E"/>
                </a:solidFill>
                <a:latin typeface="Yu Gothic" pitchFamily="34" charset="0"/>
                <a:ea typeface="Yu Gothic" pitchFamily="34" charset="-122"/>
                <a:cs typeface="Yu Gothic" pitchFamily="34" charset="-120"/>
              </a:rPr>
              <a:t>常に最新・10,000本以上のお手本から「これみたいに」と選ぶだけ</a:t>
            </a:r>
            <a:endParaRPr lang="en-US" sz="1000" dirty="0"/>
          </a:p>
        </p:txBody>
      </p:sp>
      <p:sp>
        <p:nvSpPr>
          <p:cNvPr id="13" name="Shape 9"/>
          <p:cNvSpPr/>
          <p:nvPr/>
        </p:nvSpPr>
        <p:spPr>
          <a:xfrm>
            <a:off x="4069080" y="3154680"/>
            <a:ext cx="502920" cy="548640"/>
          </a:xfrm>
          <a:prstGeom prst="chevron">
            <a:avLst/>
          </a:prstGeom>
          <a:solidFill>
            <a:srgbClr val="FFC62E"/>
          </a:solidFill>
          <a:ln/>
        </p:spPr>
      </p:sp>
      <p:sp>
        <p:nvSpPr>
          <p:cNvPr id="14" name="Text 10"/>
          <p:cNvSpPr txBox="1"/>
          <p:nvPr/>
        </p:nvSpPr>
        <p:spPr>
          <a:xfrm>
            <a:off x="4800600" y="1600200"/>
            <a:ext cx="1828800" cy="274320"/>
          </a:xfrm>
          <a:prstGeom prst="rect">
            <a:avLst/>
          </a:prstGeom>
          <a:noFill/>
          <a:ln/>
        </p:spPr>
        <p:txBody>
          <a:bodyPr wrap="square" lIns="0" tIns="0" rIns="0" bIns="0" rtlCol="0" anchor="ctr"/>
          <a:lstStyle/>
          <a:p>
            <a:pPr indent="0" marL="0">
              <a:buNone/>
            </a:pPr>
            <a:r>
              <a:rPr lang="en-US" sz="1200" dirty="0">
                <a:solidFill>
                  <a:srgbClr val="B8860B"/>
                </a:solidFill>
                <a:latin typeface="Arial Black" pitchFamily="34" charset="0"/>
                <a:ea typeface="Arial Black" pitchFamily="34" charset="-122"/>
                <a:cs typeface="Arial Black" pitchFamily="34" charset="-120"/>
              </a:rPr>
              <a:t>STEP 2</a:t>
            </a:r>
            <a:endParaRPr lang="en-US" sz="1200" dirty="0"/>
          </a:p>
        </p:txBody>
      </p:sp>
      <p:sp>
        <p:nvSpPr>
          <p:cNvPr id="15" name="Text 11"/>
          <p:cNvSpPr txBox="1"/>
          <p:nvPr/>
        </p:nvSpPr>
        <p:spPr>
          <a:xfrm>
            <a:off x="4800600" y="1874520"/>
            <a:ext cx="3200400" cy="365760"/>
          </a:xfrm>
          <a:prstGeom prst="rect">
            <a:avLst/>
          </a:prstGeom>
          <a:noFill/>
          <a:ln/>
        </p:spPr>
        <p:txBody>
          <a:bodyPr wrap="square" lIns="0" tIns="0" rIns="0" bIns="0" rtlCol="0" anchor="ctr"/>
          <a:lstStyle/>
          <a:p>
            <a:pPr indent="0" marL="0">
              <a:buNone/>
            </a:pPr>
            <a:r>
              <a:rPr lang="en-US" sz="1500" b="1" dirty="0">
                <a:solidFill>
                  <a:srgbClr val="141210"/>
                </a:solidFill>
                <a:latin typeface="Yu Gothic" pitchFamily="34" charset="0"/>
                <a:ea typeface="Yu Gothic" pitchFamily="34" charset="-122"/>
                <a:cs typeface="Yu Gothic" pitchFamily="34" charset="-120"/>
              </a:rPr>
              <a:t>制作はまるごとおまかせ</a:t>
            </a:r>
            <a:endParaRPr lang="en-US" sz="1500" dirty="0"/>
          </a:p>
        </p:txBody>
      </p:sp>
      <p:sp>
        <p:nvSpPr>
          <p:cNvPr id="16" name="Shape 12"/>
          <p:cNvSpPr/>
          <p:nvPr/>
        </p:nvSpPr>
        <p:spPr>
          <a:xfrm>
            <a:off x="4983480" y="2514600"/>
            <a:ext cx="2286000" cy="2011680"/>
          </a:xfrm>
          <a:prstGeom prst="hexagon">
            <a:avLst/>
          </a:prstGeom>
          <a:solidFill>
            <a:srgbClr val="FFC62E"/>
          </a:solidFill>
          <a:ln w="22225">
            <a:solidFill>
              <a:srgbClr val="141210"/>
            </a:solidFill>
            <a:prstDash val="solid"/>
          </a:ln>
        </p:spPr>
      </p:sp>
      <p:pic>
        <p:nvPicPr>
          <p:cNvPr id="17" name="Image 2" descr="bee.png">    </p:cNvPr>
          <p:cNvPicPr>
            <a:picLocks noChangeAspect="1"/>
          </p:cNvPicPr>
          <p:nvPr/>
        </p:nvPicPr>
        <p:blipFill>
          <a:blip r:embed="rId3"/>
          <a:stretch>
            <a:fillRect/>
          </a:stretch>
        </p:blipFill>
        <p:spPr>
          <a:xfrm>
            <a:off x="5669280" y="2788920"/>
            <a:ext cx="914400" cy="914400"/>
          </a:xfrm>
          <a:prstGeom prst="rect">
            <a:avLst/>
          </a:prstGeom>
        </p:spPr>
      </p:pic>
      <p:sp>
        <p:nvSpPr>
          <p:cNvPr id="18" name="Text 13"/>
          <p:cNvSpPr txBox="1"/>
          <p:nvPr/>
        </p:nvSpPr>
        <p:spPr>
          <a:xfrm>
            <a:off x="4892040" y="3703320"/>
            <a:ext cx="2468880" cy="502920"/>
          </a:xfrm>
          <a:prstGeom prst="rect">
            <a:avLst/>
          </a:prstGeom>
          <a:noFill/>
          <a:ln/>
        </p:spPr>
        <p:txBody>
          <a:bodyPr wrap="square" lIns="0" tIns="0" rIns="0" bIns="0" rtlCol="0" anchor="ctr"/>
          <a:lstStyle/>
          <a:p>
            <a:pPr algn="ct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台本・撮影・編集・サムネ</a:t>
            </a:r>
            <a:endParaRPr lang="en-US" sz="1000" dirty="0"/>
          </a:p>
          <a:p>
            <a:pPr algn="ct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アカウント運用まで</a:t>
            </a:r>
            <a:endParaRPr lang="en-US" sz="1000" dirty="0"/>
          </a:p>
        </p:txBody>
      </p:sp>
      <p:sp>
        <p:nvSpPr>
          <p:cNvPr id="19" name="Text 14"/>
          <p:cNvSpPr txBox="1"/>
          <p:nvPr/>
        </p:nvSpPr>
        <p:spPr>
          <a:xfrm>
            <a:off x="4800600" y="4681728"/>
            <a:ext cx="2651760" cy="731520"/>
          </a:xfrm>
          <a:prstGeom prst="rect">
            <a:avLst/>
          </a:prstGeom>
          <a:noFill/>
          <a:ln/>
        </p:spPr>
        <p:txBody>
          <a:bodyPr wrap="square" lIns="0" tIns="0" rIns="0" bIns="0" rtlCol="0" anchor="ctr"/>
          <a:lstStyle/>
          <a:p>
            <a:pPr indent="0" marL="0">
              <a:lnSpc>
                <a:spcPts val="1400"/>
              </a:lnSpc>
              <a:buNone/>
            </a:pPr>
            <a:r>
              <a:rPr lang="en-US" sz="1000" dirty="0">
                <a:solidFill>
                  <a:srgbClr val="5F594E"/>
                </a:solidFill>
                <a:latin typeface="Yu Gothic" pitchFamily="34" charset="0"/>
                <a:ea typeface="Yu Gothic" pitchFamily="34" charset="-122"/>
                <a:cs typeface="Yu Gothic" pitchFamily="34" charset="-120"/>
              </a:rPr>
              <a:t>素材の撮影もお任せください。もちろんスマホ素材の持ち込みもOK。編集の目安は3日〜。</a:t>
            </a:r>
            <a:endParaRPr lang="en-US" sz="1000" dirty="0"/>
          </a:p>
        </p:txBody>
      </p:sp>
      <p:sp>
        <p:nvSpPr>
          <p:cNvPr id="20" name="Shape 15"/>
          <p:cNvSpPr/>
          <p:nvPr/>
        </p:nvSpPr>
        <p:spPr>
          <a:xfrm>
            <a:off x="7635240" y="3154680"/>
            <a:ext cx="502920" cy="548640"/>
          </a:xfrm>
          <a:prstGeom prst="chevron">
            <a:avLst/>
          </a:prstGeom>
          <a:solidFill>
            <a:srgbClr val="FFC62E"/>
          </a:solidFill>
          <a:ln/>
        </p:spPr>
      </p:sp>
      <p:sp>
        <p:nvSpPr>
          <p:cNvPr id="21" name="Text 16"/>
          <p:cNvSpPr txBox="1"/>
          <p:nvPr/>
        </p:nvSpPr>
        <p:spPr>
          <a:xfrm>
            <a:off x="8366760" y="1600200"/>
            <a:ext cx="1828800" cy="274320"/>
          </a:xfrm>
          <a:prstGeom prst="rect">
            <a:avLst/>
          </a:prstGeom>
          <a:noFill/>
          <a:ln/>
        </p:spPr>
        <p:txBody>
          <a:bodyPr wrap="square" lIns="0" tIns="0" rIns="0" bIns="0" rtlCol="0" anchor="ctr"/>
          <a:lstStyle/>
          <a:p>
            <a:pPr indent="0" marL="0">
              <a:buNone/>
            </a:pPr>
            <a:r>
              <a:rPr lang="en-US" sz="1200" dirty="0">
                <a:solidFill>
                  <a:srgbClr val="B8860B"/>
                </a:solidFill>
                <a:latin typeface="Arial Black" pitchFamily="34" charset="0"/>
                <a:ea typeface="Arial Black" pitchFamily="34" charset="-122"/>
                <a:cs typeface="Arial Black" pitchFamily="34" charset="-120"/>
              </a:rPr>
              <a:t>STEP 3</a:t>
            </a:r>
            <a:endParaRPr lang="en-US" sz="1200" dirty="0"/>
          </a:p>
        </p:txBody>
      </p:sp>
      <p:sp>
        <p:nvSpPr>
          <p:cNvPr id="22" name="Text 17"/>
          <p:cNvSpPr txBox="1"/>
          <p:nvPr/>
        </p:nvSpPr>
        <p:spPr>
          <a:xfrm>
            <a:off x="8366760" y="1874520"/>
            <a:ext cx="3200400" cy="365760"/>
          </a:xfrm>
          <a:prstGeom prst="rect">
            <a:avLst/>
          </a:prstGeom>
          <a:noFill/>
          <a:ln/>
        </p:spPr>
        <p:txBody>
          <a:bodyPr wrap="square" lIns="0" tIns="0" rIns="0" bIns="0" rtlCol="0" anchor="ctr"/>
          <a:lstStyle/>
          <a:p>
            <a:pPr indent="0" marL="0">
              <a:buNone/>
            </a:pPr>
            <a:r>
              <a:rPr lang="en-US" sz="1500" b="1" dirty="0">
                <a:solidFill>
                  <a:srgbClr val="141210"/>
                </a:solidFill>
                <a:latin typeface="Yu Gothic" pitchFamily="34" charset="0"/>
                <a:ea typeface="Yu Gothic" pitchFamily="34" charset="-122"/>
                <a:cs typeface="Yu Gothic" pitchFamily="34" charset="-120"/>
              </a:rPr>
              <a:t>御社の動画が完成</a:t>
            </a:r>
            <a:endParaRPr lang="en-US" sz="1500" dirty="0"/>
          </a:p>
        </p:txBody>
      </p:sp>
      <p:sp>
        <p:nvSpPr>
          <p:cNvPr id="23" name="Shape 18"/>
          <p:cNvSpPr/>
          <p:nvPr/>
        </p:nvSpPr>
        <p:spPr>
          <a:xfrm>
            <a:off x="8366760" y="2331720"/>
            <a:ext cx="1572768" cy="2880360"/>
          </a:xfrm>
          <a:prstGeom prst="roundRect">
            <a:avLst>
              <a:gd name="adj" fmla="val 6977"/>
            </a:avLst>
          </a:prstGeom>
          <a:solidFill>
            <a:srgbClr val="141210"/>
          </a:solidFill>
          <a:ln/>
        </p:spPr>
      </p:sp>
      <p:pic>
        <p:nvPicPr>
          <p:cNvPr id="24" name="Image 3" descr="video_still.png">    </p:cNvPr>
          <p:cNvPicPr>
            <a:picLocks noChangeAspect="1"/>
          </p:cNvPicPr>
          <p:nvPr/>
        </p:nvPicPr>
        <p:blipFill>
          <a:blip r:embed="rId4"/>
          <a:stretch>
            <a:fillRect/>
          </a:stretch>
        </p:blipFill>
        <p:spPr>
          <a:xfrm>
            <a:off x="8439912" y="2468880"/>
            <a:ext cx="1426464" cy="2468880"/>
          </a:xfrm>
          <a:prstGeom prst="rect">
            <a:avLst/>
          </a:prstGeom>
        </p:spPr>
      </p:pic>
      <p:sp>
        <p:nvSpPr>
          <p:cNvPr id="25" name="Shape 19"/>
          <p:cNvSpPr/>
          <p:nvPr/>
        </p:nvSpPr>
        <p:spPr>
          <a:xfrm>
            <a:off x="9738360" y="2743200"/>
            <a:ext cx="1874520" cy="868680"/>
          </a:xfrm>
          <a:prstGeom prst="roundRect">
            <a:avLst>
              <a:gd name="adj" fmla="val 9474"/>
            </a:avLst>
          </a:prstGeom>
          <a:solidFill>
            <a:srgbClr val="FFC62E"/>
          </a:solidFill>
          <a:ln w="15875">
            <a:solidFill>
              <a:srgbClr val="141210"/>
            </a:solidFill>
            <a:prstDash val="solid"/>
          </a:ln>
        </p:spPr>
      </p:sp>
      <p:sp>
        <p:nvSpPr>
          <p:cNvPr id="26" name="Text 20"/>
          <p:cNvSpPr txBox="1"/>
          <p:nvPr/>
        </p:nvSpPr>
        <p:spPr>
          <a:xfrm>
            <a:off x="9829800" y="2862072"/>
            <a:ext cx="1691640" cy="640080"/>
          </a:xfrm>
          <a:prstGeom prst="rect">
            <a:avLst/>
          </a:prstGeom>
          <a:noFill/>
          <a:ln/>
        </p:spPr>
        <p:txBody>
          <a:bodyPr wrap="square" lIns="0" tIns="0" rIns="0" bIns="0" rtlCol="0" anchor="ctr"/>
          <a:lstStyle/>
          <a:p>
            <a:pPr indent="0" marL="0">
              <a:lnSpc>
                <a:spcPts val="1400"/>
              </a:lnSpc>
              <a:buNone/>
            </a:pPr>
            <a:r>
              <a:rPr lang="en-US" sz="1000" b="1" dirty="0">
                <a:solidFill>
                  <a:srgbClr val="141210"/>
                </a:solidFill>
                <a:latin typeface="Yu Gothic" pitchFamily="34" charset="0"/>
                <a:ea typeface="Yu Gothic" pitchFamily="34" charset="-122"/>
                <a:cs typeface="Yu Gothic" pitchFamily="34" charset="-120"/>
              </a:rPr>
              <a:t>0:23のテロップ</a:t>
            </a:r>
            <a:endParaRPr lang="en-US" sz="1000" dirty="0"/>
          </a:p>
          <a:p>
            <a:pPr indent="0" marL="0">
              <a:lnSpc>
                <a:spcPts val="1400"/>
              </a:lnSpc>
              <a:buNone/>
            </a:pPr>
            <a:r>
              <a:rPr lang="en-US" sz="1000" b="1" dirty="0">
                <a:solidFill>
                  <a:srgbClr val="141210"/>
                </a:solidFill>
                <a:latin typeface="Yu Gothic" pitchFamily="34" charset="0"/>
                <a:ea typeface="Yu Gothic" pitchFamily="34" charset="-122"/>
                <a:cs typeface="Yu Gothic" pitchFamily="34" charset="-120"/>
              </a:rPr>
              <a:t>もっと大きく！</a:t>
            </a:r>
            <a:endParaRPr lang="en-US" sz="1000" dirty="0"/>
          </a:p>
        </p:txBody>
      </p:sp>
      <p:sp>
        <p:nvSpPr>
          <p:cNvPr id="27" name="Text 21"/>
          <p:cNvSpPr txBox="1"/>
          <p:nvPr/>
        </p:nvSpPr>
        <p:spPr>
          <a:xfrm>
            <a:off x="8366760" y="5321808"/>
            <a:ext cx="3291840" cy="320040"/>
          </a:xfrm>
          <a:prstGeom prst="rect">
            <a:avLst/>
          </a:prstGeom>
          <a:noFill/>
          <a:ln/>
        </p:spPr>
        <p:txBody>
          <a:bodyPr wrap="square" lIns="0" tIns="0" rIns="0" bIns="0" rtlCol="0" anchor="ctr"/>
          <a:lstStyle/>
          <a:p>
            <a:pPr indent="0" marL="0">
              <a:lnSpc>
                <a:spcPts val="1400"/>
              </a:lnSpc>
              <a:buNone/>
            </a:pPr>
            <a:r>
              <a:rPr lang="en-US" sz="1000" dirty="0">
                <a:solidFill>
                  <a:srgbClr val="5F594E"/>
                </a:solidFill>
                <a:latin typeface="Yu Gothic" pitchFamily="34" charset="0"/>
                <a:ea typeface="Yu Gothic" pitchFamily="34" charset="-122"/>
                <a:cs typeface="Yu Gothic" pitchFamily="34" charset="-120"/>
              </a:rPr>
              <a:t>気になる点は秒数つきで伝えるだけ。手直し2回までOK。</a:t>
            </a:r>
            <a:endParaRPr lang="en-US" sz="1000" dirty="0"/>
          </a:p>
        </p:txBody>
      </p:sp>
      <p:sp>
        <p:nvSpPr>
          <p:cNvPr id="28" name="Shape 22"/>
          <p:cNvSpPr/>
          <p:nvPr/>
        </p:nvSpPr>
        <p:spPr>
          <a:xfrm>
            <a:off x="548640" y="5943600"/>
            <a:ext cx="11091672" cy="0"/>
          </a:xfrm>
          <a:prstGeom prst="line">
            <a:avLst/>
          </a:prstGeom>
          <a:noFill/>
          <a:ln w="25400">
            <a:solidFill>
              <a:srgbClr val="141210"/>
            </a:solidFill>
            <a:prstDash val="solid"/>
          </a:ln>
        </p:spPr>
      </p:sp>
      <p:sp>
        <p:nvSpPr>
          <p:cNvPr id="29" name="Text 23"/>
          <p:cNvSpPr txBox="1"/>
          <p:nvPr/>
        </p:nvSpPr>
        <p:spPr>
          <a:xfrm>
            <a:off x="548640" y="6053328"/>
            <a:ext cx="11064240" cy="365760"/>
          </a:xfrm>
          <a:prstGeom prst="rect">
            <a:avLst/>
          </a:prstGeom>
          <a:noFill/>
          <a:ln/>
        </p:spPr>
        <p:txBody>
          <a:bodyPr wrap="square" lIns="0" tIns="0" rIns="0" bIns="0" rtlCol="0" anchor="ctr"/>
          <a:lstStyle/>
          <a:p>
            <a:pPr algn="ctr" indent="0" marL="0">
              <a:buNone/>
            </a:pPr>
            <a:r>
              <a:rPr lang="en-US" sz="1200" b="1" dirty="0">
                <a:solidFill>
                  <a:srgbClr val="5F594E"/>
                </a:solidFill>
                <a:latin typeface="Yu Gothic" pitchFamily="34" charset="0"/>
                <a:ea typeface="Yu Gothic" pitchFamily="34" charset="-122"/>
                <a:cs typeface="Yu Gothic" pitchFamily="34" charset="-120"/>
              </a:rPr>
              <a:t>お手本 </a:t>
            </a:r>
            <a:pPr algn="ctr" indent="0" marL="0">
              <a:buNone/>
            </a:pPr>
            <a:r>
              <a:rPr lang="en-US" sz="1700" dirty="0">
                <a:solidFill>
                  <a:srgbClr val="141210"/>
                </a:solidFill>
                <a:latin typeface="Arial Black" pitchFamily="34" charset="0"/>
                <a:ea typeface="Arial Black" pitchFamily="34" charset="-122"/>
                <a:cs typeface="Arial Black" pitchFamily="34" charset="-120"/>
              </a:rPr>
              <a:t>10,000本+</a:t>
            </a:r>
            <a:pPr algn="ctr" indent="0" marL="0">
              <a:buNone/>
            </a:pPr>
            <a:r>
              <a:rPr lang="en-US" sz="1200" b="1" dirty="0">
                <a:solidFill>
                  <a:srgbClr val="5F594E"/>
                </a:solidFill>
                <a:latin typeface="Yu Gothic" pitchFamily="34" charset="0"/>
                <a:ea typeface="Yu Gothic" pitchFamily="34" charset="-122"/>
                <a:cs typeface="Yu Gothic" pitchFamily="34" charset="-120"/>
              </a:rPr>
              <a:t>　　編集の目安 </a:t>
            </a:r>
            <a:pPr algn="ctr" indent="0" marL="0">
              <a:buNone/>
            </a:pPr>
            <a:r>
              <a:rPr lang="en-US" sz="1700" dirty="0">
                <a:solidFill>
                  <a:srgbClr val="141210"/>
                </a:solidFill>
                <a:latin typeface="Arial Black" pitchFamily="34" charset="0"/>
                <a:ea typeface="Arial Black" pitchFamily="34" charset="-122"/>
                <a:cs typeface="Arial Black" pitchFamily="34" charset="-120"/>
              </a:rPr>
              <a:t>3日〜</a:t>
            </a:r>
            <a:pPr algn="ctr" indent="0" marL="0">
              <a:buNone/>
            </a:pPr>
            <a:r>
              <a:rPr lang="en-US" sz="1200" b="1" dirty="0">
                <a:solidFill>
                  <a:srgbClr val="5F594E"/>
                </a:solidFill>
                <a:latin typeface="Yu Gothic" pitchFamily="34" charset="0"/>
                <a:ea typeface="Yu Gothic" pitchFamily="34" charset="-122"/>
                <a:cs typeface="Yu Gothic" pitchFamily="34" charset="-120"/>
              </a:rPr>
              <a:t>　　手直し </a:t>
            </a:r>
            <a:pPr algn="ctr" indent="0" marL="0">
              <a:buNone/>
            </a:pPr>
            <a:r>
              <a:rPr lang="en-US" sz="1700" dirty="0">
                <a:solidFill>
                  <a:srgbClr val="B8860B"/>
                </a:solidFill>
                <a:latin typeface="Arial Black" pitchFamily="34" charset="0"/>
                <a:ea typeface="Arial Black" pitchFamily="34" charset="-122"/>
                <a:cs typeface="Arial Black" pitchFamily="34" charset="-120"/>
              </a:rPr>
              <a:t>2回までOK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05 / </a:t>
            </a:r>
            <a:pPr indent="0" marL="0">
              <a:buNone/>
            </a:pPr>
            <a:r>
              <a:rPr lang="en-US" sz="1200" b="1" spc="300" kern="0" dirty="0">
                <a:solidFill>
                  <a:srgbClr val="B8860B"/>
                </a:solidFill>
                <a:latin typeface="Arial" pitchFamily="34" charset="0"/>
                <a:ea typeface="Arial" pitchFamily="34" charset="-122"/>
                <a:cs typeface="Arial" pitchFamily="34" charset="-120"/>
              </a:rPr>
              <a:t>HOW IT WORKS — SALES</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動画で知ってもらい、電話で会いに行く</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Shape 4"/>
          <p:cNvSpPr/>
          <p:nvPr/>
        </p:nvSpPr>
        <p:spPr>
          <a:xfrm flipV="1">
            <a:off x="548640" y="1783080"/>
            <a:ext cx="4480560" cy="713232"/>
          </a:xfrm>
          <a:prstGeom prst="trapezoid">
            <a:avLst/>
          </a:prstGeom>
          <a:solidFill>
            <a:srgbClr val="FFC62E"/>
          </a:solidFill>
          <a:ln w="19050">
            <a:solidFill>
              <a:srgbClr val="141210"/>
            </a:solidFill>
            <a:prstDash val="solid"/>
          </a:ln>
        </p:spPr>
      </p:sp>
      <p:sp>
        <p:nvSpPr>
          <p:cNvPr id="7" name="Text 5"/>
          <p:cNvSpPr txBox="1"/>
          <p:nvPr/>
        </p:nvSpPr>
        <p:spPr>
          <a:xfrm>
            <a:off x="548640" y="1984248"/>
            <a:ext cx="4480560" cy="329184"/>
          </a:xfrm>
          <a:prstGeom prst="rect">
            <a:avLst/>
          </a:prstGeom>
          <a:noFill/>
          <a:ln/>
        </p:spPr>
        <p:txBody>
          <a:bodyPr wrap="square" lIns="0" tIns="0" rIns="0" bIns="0" rtlCol="0" anchor="ctr"/>
          <a:lstStyle/>
          <a:p>
            <a:pPr algn="ctr" indent="0" marL="0">
              <a:buNone/>
            </a:pPr>
            <a:r>
              <a:rPr lang="en-US" sz="1200" b="1" dirty="0">
                <a:solidFill>
                  <a:srgbClr val="141210"/>
                </a:solidFill>
                <a:latin typeface="Yu Gothic" pitchFamily="34" charset="0"/>
                <a:ea typeface="Yu Gothic" pitchFamily="34" charset="-122"/>
                <a:cs typeface="Yu Gothic" pitchFamily="34" charset="-120"/>
              </a:rPr>
              <a:t>動画で認知を広げる</a:t>
            </a:r>
            <a:endParaRPr lang="en-US" sz="1200" dirty="0"/>
          </a:p>
        </p:txBody>
      </p:sp>
      <p:sp>
        <p:nvSpPr>
          <p:cNvPr id="8" name="Shape 6"/>
          <p:cNvSpPr/>
          <p:nvPr/>
        </p:nvSpPr>
        <p:spPr>
          <a:xfrm flipV="1">
            <a:off x="1097280" y="2743200"/>
            <a:ext cx="3383280" cy="713232"/>
          </a:xfrm>
          <a:prstGeom prst="trapezoid">
            <a:avLst/>
          </a:prstGeom>
          <a:solidFill>
            <a:srgbClr val="CBDFF3"/>
          </a:solidFill>
          <a:ln w="19050">
            <a:solidFill>
              <a:srgbClr val="141210"/>
            </a:solidFill>
            <a:prstDash val="solid"/>
          </a:ln>
        </p:spPr>
      </p:sp>
      <p:sp>
        <p:nvSpPr>
          <p:cNvPr id="9" name="Text 7"/>
          <p:cNvSpPr txBox="1"/>
          <p:nvPr/>
        </p:nvSpPr>
        <p:spPr>
          <a:xfrm>
            <a:off x="1097280" y="2944368"/>
            <a:ext cx="3383280" cy="329184"/>
          </a:xfrm>
          <a:prstGeom prst="rect">
            <a:avLst/>
          </a:prstGeom>
          <a:noFill/>
          <a:ln/>
        </p:spPr>
        <p:txBody>
          <a:bodyPr wrap="square" lIns="0" tIns="0" rIns="0" bIns="0" rtlCol="0" anchor="ctr"/>
          <a:lstStyle/>
          <a:p>
            <a:pPr algn="ctr" indent="0" marL="0">
              <a:buNone/>
            </a:pPr>
            <a:r>
              <a:rPr lang="en-US" sz="1200" b="1" dirty="0">
                <a:solidFill>
                  <a:srgbClr val="141210"/>
                </a:solidFill>
                <a:latin typeface="Yu Gothic" pitchFamily="34" charset="0"/>
                <a:ea typeface="Yu Gothic" pitchFamily="34" charset="-122"/>
                <a:cs typeface="Yu Gothic" pitchFamily="34" charset="-120"/>
              </a:rPr>
              <a:t>営業リスト 200社〜</a:t>
            </a:r>
            <a:endParaRPr lang="en-US" sz="1200" dirty="0"/>
          </a:p>
        </p:txBody>
      </p:sp>
      <p:sp>
        <p:nvSpPr>
          <p:cNvPr id="10" name="Shape 8"/>
          <p:cNvSpPr/>
          <p:nvPr/>
        </p:nvSpPr>
        <p:spPr>
          <a:xfrm flipV="1">
            <a:off x="1531620" y="3703320"/>
            <a:ext cx="2514600" cy="713232"/>
          </a:xfrm>
          <a:prstGeom prst="trapezoid">
            <a:avLst/>
          </a:prstGeom>
          <a:solidFill>
            <a:srgbClr val="C8EDD3"/>
          </a:solidFill>
          <a:ln w="19050">
            <a:solidFill>
              <a:srgbClr val="141210"/>
            </a:solidFill>
            <a:prstDash val="solid"/>
          </a:ln>
        </p:spPr>
      </p:sp>
      <p:sp>
        <p:nvSpPr>
          <p:cNvPr id="11" name="Text 9"/>
          <p:cNvSpPr txBox="1"/>
          <p:nvPr/>
        </p:nvSpPr>
        <p:spPr>
          <a:xfrm>
            <a:off x="1531620" y="3904488"/>
            <a:ext cx="2514600" cy="329184"/>
          </a:xfrm>
          <a:prstGeom prst="rect">
            <a:avLst/>
          </a:prstGeom>
          <a:noFill/>
          <a:ln/>
        </p:spPr>
        <p:txBody>
          <a:bodyPr wrap="square" lIns="0" tIns="0" rIns="0" bIns="0" rtlCol="0" anchor="ctr"/>
          <a:lstStyle/>
          <a:p>
            <a:pPr algn="ctr" indent="0" marL="0">
              <a:buNone/>
            </a:pPr>
            <a:r>
              <a:rPr lang="en-US" sz="1200" b="1" dirty="0">
                <a:solidFill>
                  <a:srgbClr val="141210"/>
                </a:solidFill>
                <a:latin typeface="Yu Gothic" pitchFamily="34" charset="0"/>
                <a:ea typeface="Yu Gothic" pitchFamily="34" charset="-122"/>
                <a:cs typeface="Yu Gothic" pitchFamily="34" charset="-120"/>
              </a:rPr>
              <a:t>架電 ＋ フォーム営業</a:t>
            </a:r>
            <a:endParaRPr lang="en-US" sz="1200" dirty="0"/>
          </a:p>
        </p:txBody>
      </p:sp>
      <p:sp>
        <p:nvSpPr>
          <p:cNvPr id="12" name="Shape 10"/>
          <p:cNvSpPr/>
          <p:nvPr/>
        </p:nvSpPr>
        <p:spPr>
          <a:xfrm flipV="1">
            <a:off x="1920240" y="4663440"/>
            <a:ext cx="1737360" cy="713232"/>
          </a:xfrm>
          <a:prstGeom prst="trapezoid">
            <a:avLst/>
          </a:prstGeom>
          <a:solidFill>
            <a:srgbClr val="141210"/>
          </a:solidFill>
          <a:ln w="19050">
            <a:solidFill>
              <a:srgbClr val="141210"/>
            </a:solidFill>
            <a:prstDash val="solid"/>
          </a:ln>
        </p:spPr>
      </p:sp>
      <p:sp>
        <p:nvSpPr>
          <p:cNvPr id="13" name="Text 11"/>
          <p:cNvSpPr txBox="1"/>
          <p:nvPr/>
        </p:nvSpPr>
        <p:spPr>
          <a:xfrm>
            <a:off x="1920240" y="4864608"/>
            <a:ext cx="17373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商談・アポ</a:t>
            </a:r>
            <a:endParaRPr lang="en-US" sz="1200" dirty="0"/>
          </a:p>
        </p:txBody>
      </p:sp>
      <p:sp>
        <p:nvSpPr>
          <p:cNvPr id="14" name="Text 12"/>
          <p:cNvSpPr txBox="1"/>
          <p:nvPr/>
        </p:nvSpPr>
        <p:spPr>
          <a:xfrm>
            <a:off x="548640" y="5669280"/>
            <a:ext cx="4754880" cy="502920"/>
          </a:xfrm>
          <a:prstGeom prst="rect">
            <a:avLst/>
          </a:prstGeom>
          <a:noFill/>
          <a:ln/>
        </p:spPr>
        <p:txBody>
          <a:bodyPr wrap="square" lIns="0" tIns="0" rIns="0" bIns="0" rtlCol="0" anchor="ctr"/>
          <a:lstStyle/>
          <a:p>
            <a:pPr indent="0" marL="0">
              <a:lnSpc>
                <a:spcPts val="1400"/>
              </a:lnSpc>
              <a:buNone/>
            </a:pPr>
            <a:r>
              <a:rPr lang="en-US" sz="1000" dirty="0">
                <a:solidFill>
                  <a:srgbClr val="5F594E"/>
                </a:solidFill>
                <a:latin typeface="Yu Gothic" pitchFamily="34" charset="0"/>
                <a:ea typeface="Yu Gothic" pitchFamily="34" charset="-122"/>
                <a:cs typeface="Yu Gothic" pitchFamily="34" charset="-120"/>
              </a:rPr>
              <a:t>626万社のデータベースから「エリア×業種×規模」で狙い撃ち</a:t>
            </a:r>
            <a:endParaRPr lang="en-US" sz="1000" dirty="0"/>
          </a:p>
        </p:txBody>
      </p:sp>
      <p:sp>
        <p:nvSpPr>
          <p:cNvPr id="15" name="Shape 13"/>
          <p:cNvSpPr/>
          <p:nvPr/>
        </p:nvSpPr>
        <p:spPr>
          <a:xfrm>
            <a:off x="5486400" y="1783080"/>
            <a:ext cx="0" cy="4114800"/>
          </a:xfrm>
          <a:prstGeom prst="line">
            <a:avLst/>
          </a:prstGeom>
          <a:noFill/>
          <a:ln w="12700">
            <a:solidFill>
              <a:srgbClr val="E2DCCE"/>
            </a:solidFill>
            <a:prstDash val="solid"/>
          </a:ln>
        </p:spPr>
      </p:sp>
      <p:sp>
        <p:nvSpPr>
          <p:cNvPr id="16" name="Text 14"/>
          <p:cNvSpPr txBox="1"/>
          <p:nvPr/>
        </p:nvSpPr>
        <p:spPr>
          <a:xfrm>
            <a:off x="5852160" y="1737360"/>
            <a:ext cx="5486400" cy="365760"/>
          </a:xfrm>
          <a:prstGeom prst="rect">
            <a:avLst/>
          </a:prstGeom>
          <a:noFill/>
          <a:ln/>
        </p:spPr>
        <p:txBody>
          <a:bodyPr wrap="square" lIns="0" tIns="0" rIns="0" bIns="0" rtlCol="0" anchor="ctr"/>
          <a:lstStyle/>
          <a:p>
            <a:pPr indent="0" marL="0">
              <a:buNone/>
            </a:pPr>
            <a:r>
              <a:rPr lang="en-US" sz="1400" b="1" dirty="0">
                <a:solidFill>
                  <a:srgbClr val="141210"/>
                </a:solidFill>
                <a:latin typeface="Yu Gothic" pitchFamily="34" charset="0"/>
                <a:ea typeface="Yu Gothic" pitchFamily="34" charset="-122"/>
                <a:cs typeface="Yu Gothic" pitchFamily="34" charset="-120"/>
              </a:rPr>
              <a:t>必要なのは、この3つだけ</a:t>
            </a:r>
            <a:endParaRPr lang="en-US" sz="1400" dirty="0"/>
          </a:p>
        </p:txBody>
      </p:sp>
      <p:sp>
        <p:nvSpPr>
          <p:cNvPr id="17" name="Shape 15"/>
          <p:cNvSpPr/>
          <p:nvPr/>
        </p:nvSpPr>
        <p:spPr>
          <a:xfrm>
            <a:off x="5852160" y="2240280"/>
            <a:ext cx="1783080" cy="1554480"/>
          </a:xfrm>
          <a:prstGeom prst="hexagon">
            <a:avLst/>
          </a:prstGeom>
          <a:solidFill>
            <a:srgbClr val="C8EDD3"/>
          </a:solidFill>
          <a:ln w="19050">
            <a:solidFill>
              <a:srgbClr val="141210"/>
            </a:solidFill>
            <a:prstDash val="solid"/>
          </a:ln>
        </p:spPr>
      </p:sp>
      <p:sp>
        <p:nvSpPr>
          <p:cNvPr id="18" name="Text 16"/>
          <p:cNvSpPr txBox="1"/>
          <p:nvPr/>
        </p:nvSpPr>
        <p:spPr>
          <a:xfrm>
            <a:off x="5943600" y="2487168"/>
            <a:ext cx="1600200" cy="502920"/>
          </a:xfrm>
          <a:prstGeom prst="rect">
            <a:avLst/>
          </a:prstGeom>
          <a:noFill/>
          <a:ln/>
        </p:spPr>
        <p:txBody>
          <a:bodyPr wrap="square" lIns="0" tIns="0" rIns="0" bIns="0" rtlCol="0" anchor="ctr"/>
          <a:lstStyle/>
          <a:p>
            <a:pPr algn="ctr" indent="0" marL="0">
              <a:lnSpc>
                <a:spcPts val="1300"/>
              </a:lnSpc>
              <a:buNone/>
            </a:pPr>
            <a:r>
              <a:rPr lang="en-US" sz="1050" b="1" dirty="0">
                <a:solidFill>
                  <a:srgbClr val="141210"/>
                </a:solidFill>
                <a:latin typeface="Yu Gothic" pitchFamily="34" charset="0"/>
                <a:ea typeface="Yu Gothic" pitchFamily="34" charset="-122"/>
                <a:cs typeface="Yu Gothic" pitchFamily="34" charset="-120"/>
              </a:rPr>
              <a:t>テレアポ</a:t>
            </a:r>
            <a:endParaRPr lang="en-US" sz="1050" dirty="0"/>
          </a:p>
          <a:p>
            <a:pPr algn="ctr" indent="0" marL="0">
              <a:lnSpc>
                <a:spcPts val="1300"/>
              </a:lnSpc>
              <a:buNone/>
            </a:pPr>
            <a:r>
              <a:rPr lang="en-US" sz="1050" b="1" dirty="0">
                <a:solidFill>
                  <a:srgbClr val="141210"/>
                </a:solidFill>
                <a:latin typeface="Yu Gothic" pitchFamily="34" charset="0"/>
                <a:ea typeface="Yu Gothic" pitchFamily="34" charset="-122"/>
                <a:cs typeface="Yu Gothic" pitchFamily="34" charset="-120"/>
              </a:rPr>
              <a:t>台本</a:t>
            </a:r>
            <a:endParaRPr lang="en-US" sz="1050" dirty="0"/>
          </a:p>
        </p:txBody>
      </p:sp>
      <p:pic>
        <p:nvPicPr>
          <p:cNvPr id="19" name="Image 0" descr="icons/ic_phone.png">    </p:cNvPr>
          <p:cNvPicPr>
            <a:picLocks noChangeAspect="1"/>
          </p:cNvPicPr>
          <p:nvPr/>
        </p:nvPicPr>
        <p:blipFill>
          <a:blip r:embed="rId1"/>
          <a:stretch>
            <a:fillRect/>
          </a:stretch>
        </p:blipFill>
        <p:spPr>
          <a:xfrm>
            <a:off x="6638544" y="2999232"/>
            <a:ext cx="219456" cy="219456"/>
          </a:xfrm>
          <a:prstGeom prst="rect">
            <a:avLst/>
          </a:prstGeom>
        </p:spPr>
      </p:pic>
      <p:sp>
        <p:nvSpPr>
          <p:cNvPr id="20" name="Text 17"/>
          <p:cNvSpPr txBox="1"/>
          <p:nvPr/>
        </p:nvSpPr>
        <p:spPr>
          <a:xfrm>
            <a:off x="5943600" y="3246120"/>
            <a:ext cx="1600200" cy="310896"/>
          </a:xfrm>
          <a:prstGeom prst="rect">
            <a:avLst/>
          </a:prstGeom>
          <a:noFill/>
          <a:ln/>
        </p:spPr>
        <p:txBody>
          <a:bodyPr wrap="square" lIns="0" tIns="0" rIns="0" bIns="0" rtlCol="0" anchor="ctr"/>
          <a:lstStyle/>
          <a:p>
            <a:pPr algn="ctr" indent="0" marL="0">
              <a:buNone/>
            </a:pPr>
            <a:r>
              <a:rPr lang="en-US" sz="1200" b="1" dirty="0">
                <a:solidFill>
                  <a:srgbClr val="141210"/>
                </a:solidFill>
                <a:latin typeface="Yu Gothic" pitchFamily="34" charset="0"/>
                <a:ea typeface="Yu Gothic" pitchFamily="34" charset="-122"/>
                <a:cs typeface="Yu Gothic" pitchFamily="34" charset="-120"/>
              </a:rPr>
              <a:t>5🍯</a:t>
            </a:r>
            <a:endParaRPr lang="en-US" sz="1200" dirty="0"/>
          </a:p>
        </p:txBody>
      </p:sp>
      <p:sp>
        <p:nvSpPr>
          <p:cNvPr id="21" name="Text 18"/>
          <p:cNvSpPr txBox="1"/>
          <p:nvPr/>
        </p:nvSpPr>
        <p:spPr>
          <a:xfrm>
            <a:off x="7616952" y="2834640"/>
            <a:ext cx="274320" cy="365760"/>
          </a:xfrm>
          <a:prstGeom prst="rect">
            <a:avLst/>
          </a:prstGeom>
          <a:noFill/>
          <a:ln/>
        </p:spPr>
        <p:txBody>
          <a:bodyPr wrap="square" lIns="0" tIns="0" rIns="0" bIns="0" rtlCol="0" anchor="ctr"/>
          <a:lstStyle/>
          <a:p>
            <a:pPr algn="ctr" indent="0" marL="0">
              <a:buNone/>
            </a:pPr>
            <a:r>
              <a:rPr lang="en-US" sz="1600" b="1" dirty="0">
                <a:solidFill>
                  <a:srgbClr val="5F594E"/>
                </a:solidFill>
                <a:latin typeface="Yu Gothic" pitchFamily="34" charset="0"/>
                <a:ea typeface="Yu Gothic" pitchFamily="34" charset="-122"/>
                <a:cs typeface="Yu Gothic" pitchFamily="34" charset="-120"/>
              </a:rPr>
              <a:t>＋</a:t>
            </a:r>
            <a:endParaRPr lang="en-US" sz="1600" dirty="0"/>
          </a:p>
        </p:txBody>
      </p:sp>
      <p:sp>
        <p:nvSpPr>
          <p:cNvPr id="22" name="Shape 19"/>
          <p:cNvSpPr/>
          <p:nvPr/>
        </p:nvSpPr>
        <p:spPr>
          <a:xfrm>
            <a:off x="7818120" y="2240280"/>
            <a:ext cx="1783080" cy="1554480"/>
          </a:xfrm>
          <a:prstGeom prst="hexagon">
            <a:avLst/>
          </a:prstGeom>
          <a:solidFill>
            <a:srgbClr val="C8EDD3"/>
          </a:solidFill>
          <a:ln w="19050">
            <a:solidFill>
              <a:srgbClr val="141210"/>
            </a:solidFill>
            <a:prstDash val="solid"/>
          </a:ln>
        </p:spPr>
      </p:sp>
      <p:sp>
        <p:nvSpPr>
          <p:cNvPr id="23" name="Text 20"/>
          <p:cNvSpPr txBox="1"/>
          <p:nvPr/>
        </p:nvSpPr>
        <p:spPr>
          <a:xfrm>
            <a:off x="7909560" y="2487168"/>
            <a:ext cx="1600200" cy="502920"/>
          </a:xfrm>
          <a:prstGeom prst="rect">
            <a:avLst/>
          </a:prstGeom>
          <a:noFill/>
          <a:ln/>
        </p:spPr>
        <p:txBody>
          <a:bodyPr wrap="square" lIns="0" tIns="0" rIns="0" bIns="0" rtlCol="0" anchor="ctr"/>
          <a:lstStyle/>
          <a:p>
            <a:pPr algn="ctr" indent="0" marL="0">
              <a:lnSpc>
                <a:spcPts val="1300"/>
              </a:lnSpc>
              <a:buNone/>
            </a:pPr>
            <a:r>
              <a:rPr lang="en-US" sz="1050" b="1" dirty="0">
                <a:solidFill>
                  <a:srgbClr val="141210"/>
                </a:solidFill>
                <a:latin typeface="Yu Gothic" pitchFamily="34" charset="0"/>
                <a:ea typeface="Yu Gothic" pitchFamily="34" charset="-122"/>
                <a:cs typeface="Yu Gothic" pitchFamily="34" charset="-120"/>
              </a:rPr>
              <a:t>営業リスト</a:t>
            </a:r>
            <a:endParaRPr lang="en-US" sz="1050" dirty="0"/>
          </a:p>
          <a:p>
            <a:pPr algn="ctr" indent="0" marL="0">
              <a:lnSpc>
                <a:spcPts val="1300"/>
              </a:lnSpc>
              <a:buNone/>
            </a:pPr>
            <a:r>
              <a:rPr lang="en-US" sz="1050" b="1" dirty="0">
                <a:solidFill>
                  <a:srgbClr val="141210"/>
                </a:solidFill>
                <a:latin typeface="Yu Gothic" pitchFamily="34" charset="0"/>
                <a:ea typeface="Yu Gothic" pitchFamily="34" charset="-122"/>
                <a:cs typeface="Yu Gothic" pitchFamily="34" charset="-120"/>
              </a:rPr>
              <a:t>作成</a:t>
            </a:r>
            <a:endParaRPr lang="en-US" sz="1050" dirty="0"/>
          </a:p>
        </p:txBody>
      </p:sp>
      <p:pic>
        <p:nvPicPr>
          <p:cNvPr id="24" name="Image 1" descr="icons/ic_phone.png">    </p:cNvPr>
          <p:cNvPicPr>
            <a:picLocks noChangeAspect="1"/>
          </p:cNvPicPr>
          <p:nvPr/>
        </p:nvPicPr>
        <p:blipFill>
          <a:blip r:embed="rId2"/>
          <a:stretch>
            <a:fillRect/>
          </a:stretch>
        </p:blipFill>
        <p:spPr>
          <a:xfrm>
            <a:off x="8604504" y="2999232"/>
            <a:ext cx="219456" cy="219456"/>
          </a:xfrm>
          <a:prstGeom prst="rect">
            <a:avLst/>
          </a:prstGeom>
        </p:spPr>
      </p:pic>
      <p:sp>
        <p:nvSpPr>
          <p:cNvPr id="25" name="Text 21"/>
          <p:cNvSpPr txBox="1"/>
          <p:nvPr/>
        </p:nvSpPr>
        <p:spPr>
          <a:xfrm>
            <a:off x="7909560" y="3246120"/>
            <a:ext cx="1600200" cy="310896"/>
          </a:xfrm>
          <a:prstGeom prst="rect">
            <a:avLst/>
          </a:prstGeom>
          <a:noFill/>
          <a:ln/>
        </p:spPr>
        <p:txBody>
          <a:bodyPr wrap="square" lIns="0" tIns="0" rIns="0" bIns="0" rtlCol="0" anchor="ctr"/>
          <a:lstStyle/>
          <a:p>
            <a:pPr algn="ctr" indent="0" marL="0">
              <a:buNone/>
            </a:pPr>
            <a:r>
              <a:rPr lang="en-US" sz="1200" b="1" dirty="0">
                <a:solidFill>
                  <a:srgbClr val="141210"/>
                </a:solidFill>
                <a:latin typeface="Yu Gothic" pitchFamily="34" charset="0"/>
                <a:ea typeface="Yu Gothic" pitchFamily="34" charset="-122"/>
                <a:cs typeface="Yu Gothic" pitchFamily="34" charset="-120"/>
              </a:rPr>
              <a:t>20🍯</a:t>
            </a:r>
            <a:endParaRPr lang="en-US" sz="1200" dirty="0"/>
          </a:p>
        </p:txBody>
      </p:sp>
      <p:sp>
        <p:nvSpPr>
          <p:cNvPr id="26" name="Text 22"/>
          <p:cNvSpPr txBox="1"/>
          <p:nvPr/>
        </p:nvSpPr>
        <p:spPr>
          <a:xfrm>
            <a:off x="9582912" y="2834640"/>
            <a:ext cx="274320" cy="365760"/>
          </a:xfrm>
          <a:prstGeom prst="rect">
            <a:avLst/>
          </a:prstGeom>
          <a:noFill/>
          <a:ln/>
        </p:spPr>
        <p:txBody>
          <a:bodyPr wrap="square" lIns="0" tIns="0" rIns="0" bIns="0" rtlCol="0" anchor="ctr"/>
          <a:lstStyle/>
          <a:p>
            <a:pPr algn="ctr" indent="0" marL="0">
              <a:buNone/>
            </a:pPr>
            <a:r>
              <a:rPr lang="en-US" sz="1600" b="1" dirty="0">
                <a:solidFill>
                  <a:srgbClr val="5F594E"/>
                </a:solidFill>
                <a:latin typeface="Yu Gothic" pitchFamily="34" charset="0"/>
                <a:ea typeface="Yu Gothic" pitchFamily="34" charset="-122"/>
                <a:cs typeface="Yu Gothic" pitchFamily="34" charset="-120"/>
              </a:rPr>
              <a:t>＋</a:t>
            </a:r>
            <a:endParaRPr lang="en-US" sz="1600" dirty="0"/>
          </a:p>
        </p:txBody>
      </p:sp>
      <p:sp>
        <p:nvSpPr>
          <p:cNvPr id="27" name="Shape 23"/>
          <p:cNvSpPr/>
          <p:nvPr/>
        </p:nvSpPr>
        <p:spPr>
          <a:xfrm>
            <a:off x="9784080" y="2240280"/>
            <a:ext cx="1783080" cy="1554480"/>
          </a:xfrm>
          <a:prstGeom prst="hexagon">
            <a:avLst/>
          </a:prstGeom>
          <a:solidFill>
            <a:srgbClr val="C8EDD3"/>
          </a:solidFill>
          <a:ln w="19050">
            <a:solidFill>
              <a:srgbClr val="141210"/>
            </a:solidFill>
            <a:prstDash val="solid"/>
          </a:ln>
        </p:spPr>
      </p:sp>
      <p:sp>
        <p:nvSpPr>
          <p:cNvPr id="28" name="Text 24"/>
          <p:cNvSpPr txBox="1"/>
          <p:nvPr/>
        </p:nvSpPr>
        <p:spPr>
          <a:xfrm>
            <a:off x="9875520" y="2487168"/>
            <a:ext cx="1600200" cy="502920"/>
          </a:xfrm>
          <a:prstGeom prst="rect">
            <a:avLst/>
          </a:prstGeom>
          <a:noFill/>
          <a:ln/>
        </p:spPr>
        <p:txBody>
          <a:bodyPr wrap="square" lIns="0" tIns="0" rIns="0" bIns="0" rtlCol="0" anchor="ctr"/>
          <a:lstStyle/>
          <a:p>
            <a:pPr algn="ctr" indent="0" marL="0">
              <a:lnSpc>
                <a:spcPts val="1300"/>
              </a:lnSpc>
              <a:buNone/>
            </a:pPr>
            <a:r>
              <a:rPr lang="en-US" sz="1050" b="1" dirty="0">
                <a:solidFill>
                  <a:srgbClr val="141210"/>
                </a:solidFill>
                <a:latin typeface="Yu Gothic" pitchFamily="34" charset="0"/>
                <a:ea typeface="Yu Gothic" pitchFamily="34" charset="-122"/>
                <a:cs typeface="Yu Gothic" pitchFamily="34" charset="-120"/>
              </a:rPr>
              <a:t>テレアポ</a:t>
            </a:r>
            <a:endParaRPr lang="en-US" sz="1050" dirty="0"/>
          </a:p>
          <a:p>
            <a:pPr algn="ctr" indent="0" marL="0">
              <a:lnSpc>
                <a:spcPts val="1300"/>
              </a:lnSpc>
              <a:buNone/>
            </a:pPr>
            <a:r>
              <a:rPr lang="en-US" sz="1050" b="1" dirty="0">
                <a:solidFill>
                  <a:srgbClr val="141210"/>
                </a:solidFill>
                <a:latin typeface="Yu Gothic" pitchFamily="34" charset="0"/>
                <a:ea typeface="Yu Gothic" pitchFamily="34" charset="-122"/>
                <a:cs typeface="Yu Gothic" pitchFamily="34" charset="-120"/>
              </a:rPr>
              <a:t>架電代行</a:t>
            </a:r>
            <a:endParaRPr lang="en-US" sz="1050" dirty="0"/>
          </a:p>
        </p:txBody>
      </p:sp>
      <p:pic>
        <p:nvPicPr>
          <p:cNvPr id="29" name="Image 2" descr="icons/ic_phone.png">    </p:cNvPr>
          <p:cNvPicPr>
            <a:picLocks noChangeAspect="1"/>
          </p:cNvPicPr>
          <p:nvPr/>
        </p:nvPicPr>
        <p:blipFill>
          <a:blip r:embed="rId3"/>
          <a:stretch>
            <a:fillRect/>
          </a:stretch>
        </p:blipFill>
        <p:spPr>
          <a:xfrm>
            <a:off x="10570464" y="2999232"/>
            <a:ext cx="219456" cy="219456"/>
          </a:xfrm>
          <a:prstGeom prst="rect">
            <a:avLst/>
          </a:prstGeom>
        </p:spPr>
      </p:pic>
      <p:sp>
        <p:nvSpPr>
          <p:cNvPr id="30" name="Text 25"/>
          <p:cNvSpPr txBox="1"/>
          <p:nvPr/>
        </p:nvSpPr>
        <p:spPr>
          <a:xfrm>
            <a:off x="9875520" y="3246120"/>
            <a:ext cx="1600200" cy="310896"/>
          </a:xfrm>
          <a:prstGeom prst="rect">
            <a:avLst/>
          </a:prstGeom>
          <a:noFill/>
          <a:ln/>
        </p:spPr>
        <p:txBody>
          <a:bodyPr wrap="square" lIns="0" tIns="0" rIns="0" bIns="0" rtlCol="0" anchor="ctr"/>
          <a:lstStyle/>
          <a:p>
            <a:pPr algn="ctr" indent="0" marL="0">
              <a:buNone/>
            </a:pPr>
            <a:r>
              <a:rPr lang="en-US" sz="1200" b="1" dirty="0">
                <a:solidFill>
                  <a:srgbClr val="141210"/>
                </a:solidFill>
                <a:latin typeface="Yu Gothic" pitchFamily="34" charset="0"/>
                <a:ea typeface="Yu Gothic" pitchFamily="34" charset="-122"/>
                <a:cs typeface="Yu Gothic" pitchFamily="34" charset="-120"/>
              </a:rPr>
              <a:t>50🍯</a:t>
            </a:r>
            <a:endParaRPr lang="en-US" sz="1200" dirty="0"/>
          </a:p>
        </p:txBody>
      </p:sp>
      <p:sp>
        <p:nvSpPr>
          <p:cNvPr id="31" name="Shape 26"/>
          <p:cNvSpPr/>
          <p:nvPr/>
        </p:nvSpPr>
        <p:spPr>
          <a:xfrm>
            <a:off x="5852160" y="4206240"/>
            <a:ext cx="5715000" cy="1051560"/>
          </a:xfrm>
          <a:prstGeom prst="rect">
            <a:avLst/>
          </a:prstGeom>
          <a:solidFill>
            <a:srgbClr val="141210"/>
          </a:solidFill>
          <a:ln/>
        </p:spPr>
      </p:sp>
      <p:sp>
        <p:nvSpPr>
          <p:cNvPr id="32" name="Text 27"/>
          <p:cNvSpPr txBox="1"/>
          <p:nvPr/>
        </p:nvSpPr>
        <p:spPr>
          <a:xfrm>
            <a:off x="6126480" y="4462272"/>
            <a:ext cx="5303520" cy="54864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3点セット </a:t>
            </a:r>
            <a:pPr indent="0" marL="0">
              <a:buNone/>
            </a:pPr>
            <a:r>
              <a:rPr lang="en-US" sz="3000" dirty="0">
                <a:solidFill>
                  <a:srgbClr val="FFC62E"/>
                </a:solidFill>
                <a:latin typeface="Arial Black" pitchFamily="34" charset="0"/>
                <a:ea typeface="Arial Black" pitchFamily="34" charset="-122"/>
                <a:cs typeface="Arial Black" pitchFamily="34" charset="-120"/>
              </a:rPr>
              <a:t>75🍯</a:t>
            </a:r>
            <a:pPr indent="0" marL="0">
              <a:buNone/>
            </a:pPr>
            <a:r>
              <a:rPr lang="en-US" sz="1300" b="1" dirty="0">
                <a:solidFill>
                  <a:srgbClr val="FFFFFF"/>
                </a:solidFill>
                <a:latin typeface="Yu Gothic" pitchFamily="34" charset="0"/>
                <a:ea typeface="Yu Gothic" pitchFamily="34" charset="-122"/>
                <a:cs typeface="Yu Gothic" pitchFamily="34" charset="-120"/>
              </a:rPr>
              <a:t>（9万円）</a:t>
            </a:r>
            <a:endParaRPr lang="en-US" sz="1500" dirty="0"/>
          </a:p>
        </p:txBody>
      </p:sp>
      <p:sp>
        <p:nvSpPr>
          <p:cNvPr id="33" name="Text 28"/>
          <p:cNvSpPr txBox="1"/>
          <p:nvPr/>
        </p:nvSpPr>
        <p:spPr>
          <a:xfrm>
            <a:off x="5852160" y="5486400"/>
            <a:ext cx="5760720" cy="640080"/>
          </a:xfrm>
          <a:prstGeom prst="rect">
            <a:avLst/>
          </a:prstGeom>
          <a:noFill/>
          <a:ln/>
        </p:spPr>
        <p:txBody>
          <a:bodyPr wrap="square" lIns="0" tIns="0" rIns="0" bIns="0" rtlCol="0" anchor="ctr"/>
          <a:lstStyle/>
          <a:p>
            <a:pPr indent="0" marL="0">
              <a:lnSpc>
                <a:spcPts val="1500"/>
              </a:lnSpc>
              <a:buNone/>
            </a:pPr>
            <a:r>
              <a:rPr lang="en-US" sz="1050" dirty="0">
                <a:solidFill>
                  <a:srgbClr val="5F594E"/>
                </a:solidFill>
                <a:latin typeface="Yu Gothic" pitchFamily="34" charset="0"/>
                <a:ea typeface="Yu Gothic" pitchFamily="34" charset="-122"/>
                <a:cs typeface="Yu Gothic" pitchFamily="34" charset="-120"/>
              </a:rPr>
              <a:t>架電の結果は自動集計。626万社DBで「お問い合わせフォーム営業」にも展開OK。台本もリストも御社の資産に残ります。</a:t>
            </a:r>
            <a:endParaRPr lang="en-US" sz="1050" dirty="0"/>
          </a:p>
        </p:txBody>
      </p:sp>
      <p:sp>
        <p:nvSpPr>
          <p:cNvPr id="34" name="Shape 29"/>
          <p:cNvSpPr/>
          <p:nvPr/>
        </p:nvSpPr>
        <p:spPr>
          <a:xfrm>
            <a:off x="548640" y="6455664"/>
            <a:ext cx="11091672" cy="0"/>
          </a:xfrm>
          <a:prstGeom prst="line">
            <a:avLst/>
          </a:prstGeom>
          <a:noFill/>
          <a:ln w="12700">
            <a:solidFill>
              <a:srgbClr val="E2DCCE"/>
            </a:solidFill>
            <a:prstDash val="solid"/>
          </a:ln>
        </p:spPr>
      </p:sp>
      <p:sp>
        <p:nvSpPr>
          <p:cNvPr id="35" name="Text 30"/>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36" name="Text 31"/>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05 / </a:t>
            </a:r>
            <a:pPr indent="0" marL="0">
              <a:buNone/>
            </a:pPr>
            <a:r>
              <a:rPr lang="en-US" sz="1200" b="1" spc="300" kern="0" dirty="0">
                <a:solidFill>
                  <a:srgbClr val="B8860B"/>
                </a:solidFill>
                <a:latin typeface="Arial" pitchFamily="34" charset="0"/>
                <a:ea typeface="Arial" pitchFamily="34" charset="-122"/>
                <a:cs typeface="Arial" pitchFamily="34" charset="-120"/>
              </a:rPr>
              <a:t>HOW IT WORKS — RECRUIT &amp; WEB</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採用は原稿から。Webは受け皿まで。</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548640" y="1645920"/>
            <a:ext cx="2743200" cy="274320"/>
          </a:xfrm>
          <a:prstGeom prst="rect">
            <a:avLst/>
          </a:prstGeom>
          <a:noFill/>
          <a:ln/>
        </p:spPr>
        <p:txBody>
          <a:bodyPr wrap="square" lIns="0" tIns="0" rIns="0" bIns="0" rtlCol="0" anchor="ctr"/>
          <a:lstStyle/>
          <a:p>
            <a:pPr indent="0" marL="0">
              <a:buNone/>
            </a:pPr>
            <a:r>
              <a:rPr lang="en-US" sz="1100" b="1" spc="300" kern="0" dirty="0">
                <a:solidFill>
                  <a:srgbClr val="B8860B"/>
                </a:solidFill>
                <a:latin typeface="Arial" pitchFamily="34" charset="0"/>
                <a:ea typeface="Arial" pitchFamily="34" charset="-122"/>
                <a:cs typeface="Arial" pitchFamily="34" charset="-120"/>
              </a:rPr>
              <a:t>RECRUIT</a:t>
            </a:r>
            <a:endParaRPr lang="en-US" sz="1100" dirty="0"/>
          </a:p>
        </p:txBody>
      </p:sp>
      <p:sp>
        <p:nvSpPr>
          <p:cNvPr id="7" name="Shape 5"/>
          <p:cNvSpPr/>
          <p:nvPr/>
        </p:nvSpPr>
        <p:spPr>
          <a:xfrm>
            <a:off x="548640" y="2011680"/>
            <a:ext cx="2286000" cy="1417320"/>
          </a:xfrm>
          <a:prstGeom prst="rect">
            <a:avLst/>
          </a:prstGeom>
          <a:solidFill>
            <a:srgbClr val="F0EDE5"/>
          </a:solidFill>
          <a:ln w="12700">
            <a:solidFill>
              <a:srgbClr val="5F594E"/>
            </a:solidFill>
            <a:prstDash val="solid"/>
          </a:ln>
        </p:spPr>
      </p:sp>
      <p:sp>
        <p:nvSpPr>
          <p:cNvPr id="8" name="Text 6"/>
          <p:cNvSpPr txBox="1"/>
          <p:nvPr/>
        </p:nvSpPr>
        <p:spPr>
          <a:xfrm>
            <a:off x="685800" y="2286000"/>
            <a:ext cx="2011680" cy="731520"/>
          </a:xfrm>
          <a:prstGeom prst="rect">
            <a:avLst/>
          </a:prstGeom>
          <a:noFill/>
          <a:ln/>
        </p:spPr>
        <p:txBody>
          <a:bodyPr wrap="square" lIns="0" tIns="0" rIns="0" bIns="0" rtlCol="0" anchor="ctr"/>
          <a:lstStyle/>
          <a:p>
            <a:pPr indent="0" marL="0">
              <a:lnSpc>
                <a:spcPts val="2000"/>
              </a:lnSpc>
              <a:buNone/>
            </a:pPr>
            <a:r>
              <a:rPr lang="en-US" sz="1400" b="1" dirty="0">
                <a:solidFill>
                  <a:srgbClr val="5F594E"/>
                </a:solidFill>
                <a:latin typeface="Yu Gothic" pitchFamily="34" charset="0"/>
                <a:ea typeface="Yu Gothic" pitchFamily="34" charset="-122"/>
                <a:cs typeface="Yu Gothic" pitchFamily="34" charset="-120"/>
              </a:rPr>
              <a:t>掲載3ヶ月、</a:t>
            </a:r>
            <a:endParaRPr lang="en-US" sz="1400" dirty="0"/>
          </a:p>
          <a:p>
            <a:pPr indent="0" marL="0">
              <a:lnSpc>
                <a:spcPts val="2000"/>
              </a:lnSpc>
              <a:buNone/>
            </a:pPr>
            <a:r>
              <a:rPr lang="en-US" sz="1400" b="1" dirty="0">
                <a:solidFill>
                  <a:srgbClr val="5F594E"/>
                </a:solidFill>
                <a:latin typeface="Yu Gothic" pitchFamily="34" charset="0"/>
                <a:ea typeface="Yu Gothic" pitchFamily="34" charset="-122"/>
                <a:cs typeface="Yu Gothic" pitchFamily="34" charset="-120"/>
              </a:rPr>
              <a:t>応募 0件…</a:t>
            </a:r>
            <a:endParaRPr lang="en-US" sz="1400" dirty="0"/>
          </a:p>
        </p:txBody>
      </p:sp>
      <p:sp>
        <p:nvSpPr>
          <p:cNvPr id="9" name="Text 7"/>
          <p:cNvSpPr txBox="1"/>
          <p:nvPr/>
        </p:nvSpPr>
        <p:spPr>
          <a:xfrm>
            <a:off x="685800" y="3127248"/>
            <a:ext cx="2011680" cy="237744"/>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よくある求人原稿</a:t>
            </a:r>
            <a:endParaRPr lang="en-US" sz="850" dirty="0"/>
          </a:p>
        </p:txBody>
      </p:sp>
      <p:sp>
        <p:nvSpPr>
          <p:cNvPr id="10" name="Shape 8"/>
          <p:cNvSpPr/>
          <p:nvPr/>
        </p:nvSpPr>
        <p:spPr>
          <a:xfrm>
            <a:off x="2971800" y="2514600"/>
            <a:ext cx="457200" cy="457200"/>
          </a:xfrm>
          <a:prstGeom prst="chevron">
            <a:avLst/>
          </a:prstGeom>
          <a:solidFill>
            <a:srgbClr val="FFC62E"/>
          </a:solidFill>
          <a:ln/>
        </p:spPr>
      </p:sp>
      <p:sp>
        <p:nvSpPr>
          <p:cNvPr id="11" name="Shape 9"/>
          <p:cNvSpPr/>
          <p:nvPr/>
        </p:nvSpPr>
        <p:spPr>
          <a:xfrm>
            <a:off x="3566160" y="2011680"/>
            <a:ext cx="2286000" cy="1417320"/>
          </a:xfrm>
          <a:prstGeom prst="rect">
            <a:avLst/>
          </a:prstGeom>
          <a:solidFill>
            <a:srgbClr val="D9D6F3"/>
          </a:solidFill>
          <a:ln w="19050">
            <a:solidFill>
              <a:srgbClr val="141210"/>
            </a:solidFill>
            <a:prstDash val="solid"/>
          </a:ln>
        </p:spPr>
      </p:sp>
      <p:pic>
        <p:nvPicPr>
          <p:cNvPr id="12" name="Image 0" descr="icons/ic_recruit.png">    </p:cNvPr>
          <p:cNvPicPr>
            <a:picLocks noChangeAspect="1"/>
          </p:cNvPicPr>
          <p:nvPr/>
        </p:nvPicPr>
        <p:blipFill>
          <a:blip r:embed="rId1"/>
          <a:stretch>
            <a:fillRect/>
          </a:stretch>
        </p:blipFill>
        <p:spPr>
          <a:xfrm>
            <a:off x="5440680" y="2148840"/>
            <a:ext cx="274320" cy="274320"/>
          </a:xfrm>
          <a:prstGeom prst="rect">
            <a:avLst/>
          </a:prstGeom>
        </p:spPr>
      </p:pic>
      <p:sp>
        <p:nvSpPr>
          <p:cNvPr id="13" name="Text 10"/>
          <p:cNvSpPr txBox="1"/>
          <p:nvPr/>
        </p:nvSpPr>
        <p:spPr>
          <a:xfrm>
            <a:off x="3703320" y="2286000"/>
            <a:ext cx="2011680" cy="731520"/>
          </a:xfrm>
          <a:prstGeom prst="rect">
            <a:avLst/>
          </a:prstGeom>
          <a:noFill/>
          <a:ln/>
        </p:spPr>
        <p:txBody>
          <a:bodyPr wrap="square" lIns="0" tIns="0" rIns="0" bIns="0" rtlCol="0" anchor="ctr"/>
          <a:lstStyle/>
          <a:p>
            <a:pPr indent="0" marL="0">
              <a:lnSpc>
                <a:spcPts val="2000"/>
              </a:lnSpc>
              <a:buNone/>
            </a:pPr>
            <a:r>
              <a:rPr lang="en-US" sz="1400" b="1" dirty="0">
                <a:solidFill>
                  <a:srgbClr val="141210"/>
                </a:solidFill>
                <a:latin typeface="Yu Gothic" pitchFamily="34" charset="0"/>
                <a:ea typeface="Yu Gothic" pitchFamily="34" charset="-122"/>
                <a:cs typeface="Yu Gothic" pitchFamily="34" charset="-120"/>
              </a:rPr>
              <a:t>応募が来る</a:t>
            </a:r>
            <a:endParaRPr lang="en-US" sz="1400" dirty="0"/>
          </a:p>
          <a:p>
            <a:pPr indent="0" marL="0">
              <a:lnSpc>
                <a:spcPts val="2000"/>
              </a:lnSpc>
              <a:buNone/>
            </a:pPr>
            <a:r>
              <a:rPr lang="en-US" sz="1400" b="1" dirty="0">
                <a:solidFill>
                  <a:srgbClr val="141210"/>
                </a:solidFill>
                <a:latin typeface="Yu Gothic" pitchFamily="34" charset="0"/>
                <a:ea typeface="Yu Gothic" pitchFamily="34" charset="-122"/>
                <a:cs typeface="Yu Gothic" pitchFamily="34" charset="-120"/>
              </a:rPr>
              <a:t>書き方に</a:t>
            </a:r>
            <a:endParaRPr lang="en-US" sz="1400" dirty="0"/>
          </a:p>
        </p:txBody>
      </p:sp>
      <p:sp>
        <p:nvSpPr>
          <p:cNvPr id="14" name="Text 11"/>
          <p:cNvSpPr txBox="1"/>
          <p:nvPr/>
        </p:nvSpPr>
        <p:spPr>
          <a:xfrm>
            <a:off x="3703320" y="3127248"/>
            <a:ext cx="2103120" cy="237744"/>
          </a:xfrm>
          <a:prstGeom prst="rect">
            <a:avLst/>
          </a:prstGeom>
          <a:noFill/>
          <a:ln/>
        </p:spPr>
        <p:txBody>
          <a:bodyPr wrap="square" lIns="0" tIns="0" rIns="0" bIns="0" rtlCol="0" anchor="ctr"/>
          <a:lstStyle/>
          <a:p>
            <a:pPr indent="0" marL="0">
              <a:buNone/>
            </a:pPr>
            <a:r>
              <a:rPr lang="en-US" sz="850" b="1" dirty="0">
                <a:solidFill>
                  <a:srgbClr val="141210"/>
                </a:solidFill>
                <a:latin typeface="Yu Gothic" pitchFamily="34" charset="0"/>
                <a:ea typeface="Yu Gothic" pitchFamily="34" charset="-122"/>
                <a:cs typeface="Yu Gothic" pitchFamily="34" charset="-120"/>
              </a:rPr>
              <a:t>原稿10🍯／リライト10🍯</a:t>
            </a:r>
            <a:endParaRPr lang="en-US" sz="850" dirty="0"/>
          </a:p>
        </p:txBody>
      </p:sp>
      <p:sp>
        <p:nvSpPr>
          <p:cNvPr id="15" name="Text 12"/>
          <p:cNvSpPr txBox="1"/>
          <p:nvPr/>
        </p:nvSpPr>
        <p:spPr>
          <a:xfrm>
            <a:off x="548640" y="3703320"/>
            <a:ext cx="5303520" cy="777240"/>
          </a:xfrm>
          <a:prstGeom prst="rect">
            <a:avLst/>
          </a:prstGeom>
          <a:noFill/>
          <a:ln/>
        </p:spPr>
        <p:txBody>
          <a:bodyPr wrap="square" lIns="0" tIns="0" rIns="0" bIns="0" rtlCol="0" anchor="ctr"/>
          <a:lstStyle/>
          <a:p>
            <a:pPr indent="0" marL="0">
              <a:lnSpc>
                <a:spcPts val="1500"/>
              </a:lnSpc>
              <a:buNone/>
            </a:pPr>
            <a:r>
              <a:rPr lang="en-US" sz="1050" dirty="0">
                <a:solidFill>
                  <a:srgbClr val="5F594E"/>
                </a:solidFill>
                <a:latin typeface="Yu Gothic" pitchFamily="34" charset="0"/>
                <a:ea typeface="Yu Gothic" pitchFamily="34" charset="-122"/>
                <a:cs typeface="Yu Gothic" pitchFamily="34" charset="-120"/>
              </a:rPr>
              <a:t>求人媒体を変える前に、原稿を変える。職場の本音の良さを言葉にします。採用×ショート動画（10🍯〜）で職場の雰囲気も見せられます。</a:t>
            </a:r>
            <a:endParaRPr lang="en-US" sz="1050" dirty="0"/>
          </a:p>
        </p:txBody>
      </p:sp>
      <p:sp>
        <p:nvSpPr>
          <p:cNvPr id="16" name="Shape 13"/>
          <p:cNvSpPr/>
          <p:nvPr/>
        </p:nvSpPr>
        <p:spPr>
          <a:xfrm>
            <a:off x="6172200" y="1691640"/>
            <a:ext cx="0" cy="4480560"/>
          </a:xfrm>
          <a:prstGeom prst="line">
            <a:avLst/>
          </a:prstGeom>
          <a:noFill/>
          <a:ln w="12700">
            <a:solidFill>
              <a:srgbClr val="E2DCCE"/>
            </a:solidFill>
            <a:prstDash val="solid"/>
          </a:ln>
        </p:spPr>
      </p:sp>
      <p:sp>
        <p:nvSpPr>
          <p:cNvPr id="17" name="Text 14"/>
          <p:cNvSpPr txBox="1"/>
          <p:nvPr/>
        </p:nvSpPr>
        <p:spPr>
          <a:xfrm>
            <a:off x="6492240" y="1645920"/>
            <a:ext cx="2743200" cy="274320"/>
          </a:xfrm>
          <a:prstGeom prst="rect">
            <a:avLst/>
          </a:prstGeom>
          <a:noFill/>
          <a:ln/>
        </p:spPr>
        <p:txBody>
          <a:bodyPr wrap="square" lIns="0" tIns="0" rIns="0" bIns="0" rtlCol="0" anchor="ctr"/>
          <a:lstStyle/>
          <a:p>
            <a:pPr indent="0" marL="0">
              <a:buNone/>
            </a:pPr>
            <a:r>
              <a:rPr lang="en-US" sz="1100" b="1" spc="300" kern="0" dirty="0">
                <a:solidFill>
                  <a:srgbClr val="B8860B"/>
                </a:solidFill>
                <a:latin typeface="Arial" pitchFamily="34" charset="0"/>
                <a:ea typeface="Arial" pitchFamily="34" charset="-122"/>
                <a:cs typeface="Arial" pitchFamily="34" charset="-120"/>
              </a:rPr>
              <a:t>WEB &amp; LOCAL</a:t>
            </a:r>
            <a:endParaRPr lang="en-US" sz="1100" dirty="0"/>
          </a:p>
        </p:txBody>
      </p:sp>
      <p:sp>
        <p:nvSpPr>
          <p:cNvPr id="18" name="Shape 15"/>
          <p:cNvSpPr/>
          <p:nvPr/>
        </p:nvSpPr>
        <p:spPr>
          <a:xfrm>
            <a:off x="6492240" y="2011680"/>
            <a:ext cx="2468880" cy="1828800"/>
          </a:xfrm>
          <a:prstGeom prst="rect">
            <a:avLst/>
          </a:prstGeom>
          <a:solidFill>
            <a:srgbClr val="FFFFFF"/>
          </a:solidFill>
          <a:ln w="22225">
            <a:solidFill>
              <a:srgbClr val="141210"/>
            </a:solidFill>
            <a:prstDash val="solid"/>
          </a:ln>
        </p:spPr>
      </p:sp>
      <p:sp>
        <p:nvSpPr>
          <p:cNvPr id="19" name="Shape 16"/>
          <p:cNvSpPr/>
          <p:nvPr/>
        </p:nvSpPr>
        <p:spPr>
          <a:xfrm>
            <a:off x="6492240" y="2011680"/>
            <a:ext cx="2468880" cy="274320"/>
          </a:xfrm>
          <a:prstGeom prst="rect">
            <a:avLst/>
          </a:prstGeom>
          <a:solidFill>
            <a:srgbClr val="141210"/>
          </a:solidFill>
          <a:ln/>
        </p:spPr>
      </p:sp>
      <p:sp>
        <p:nvSpPr>
          <p:cNvPr id="20" name="Shape 17"/>
          <p:cNvSpPr/>
          <p:nvPr/>
        </p:nvSpPr>
        <p:spPr>
          <a:xfrm>
            <a:off x="6601968" y="2103120"/>
            <a:ext cx="82296" cy="82296"/>
          </a:xfrm>
          <a:prstGeom prst="ellipse">
            <a:avLst/>
          </a:prstGeom>
          <a:solidFill>
            <a:srgbClr val="FFFFFF"/>
          </a:solidFill>
          <a:ln/>
        </p:spPr>
      </p:sp>
      <p:sp>
        <p:nvSpPr>
          <p:cNvPr id="21" name="Shape 18"/>
          <p:cNvSpPr/>
          <p:nvPr/>
        </p:nvSpPr>
        <p:spPr>
          <a:xfrm>
            <a:off x="6748272" y="2103120"/>
            <a:ext cx="82296" cy="82296"/>
          </a:xfrm>
          <a:prstGeom prst="ellipse">
            <a:avLst/>
          </a:prstGeom>
          <a:solidFill>
            <a:srgbClr val="FFFFFF"/>
          </a:solidFill>
          <a:ln/>
        </p:spPr>
      </p:sp>
      <p:sp>
        <p:nvSpPr>
          <p:cNvPr id="22" name="Shape 19"/>
          <p:cNvSpPr/>
          <p:nvPr/>
        </p:nvSpPr>
        <p:spPr>
          <a:xfrm>
            <a:off x="6894576" y="2103120"/>
            <a:ext cx="82296" cy="82296"/>
          </a:xfrm>
          <a:prstGeom prst="ellipse">
            <a:avLst/>
          </a:prstGeom>
          <a:solidFill>
            <a:srgbClr val="FFFFFF"/>
          </a:solidFill>
          <a:ln/>
        </p:spPr>
      </p:sp>
      <p:sp>
        <p:nvSpPr>
          <p:cNvPr id="23" name="Shape 20"/>
          <p:cNvSpPr/>
          <p:nvPr/>
        </p:nvSpPr>
        <p:spPr>
          <a:xfrm>
            <a:off x="6629400" y="2423160"/>
            <a:ext cx="2194560" cy="685800"/>
          </a:xfrm>
          <a:prstGeom prst="rect">
            <a:avLst/>
          </a:prstGeom>
          <a:solidFill>
            <a:srgbClr val="FFC62E"/>
          </a:solidFill>
          <a:ln/>
        </p:spPr>
      </p:sp>
      <p:sp>
        <p:nvSpPr>
          <p:cNvPr id="24" name="Shape 21"/>
          <p:cNvSpPr/>
          <p:nvPr/>
        </p:nvSpPr>
        <p:spPr>
          <a:xfrm>
            <a:off x="6629400" y="3218688"/>
            <a:ext cx="1371600" cy="128016"/>
          </a:xfrm>
          <a:prstGeom prst="rect">
            <a:avLst/>
          </a:prstGeom>
          <a:solidFill>
            <a:srgbClr val="D8D2C4"/>
          </a:solidFill>
          <a:ln/>
        </p:spPr>
      </p:sp>
      <p:sp>
        <p:nvSpPr>
          <p:cNvPr id="25" name="Shape 22"/>
          <p:cNvSpPr/>
          <p:nvPr/>
        </p:nvSpPr>
        <p:spPr>
          <a:xfrm>
            <a:off x="6629400" y="3438144"/>
            <a:ext cx="2011680" cy="128016"/>
          </a:xfrm>
          <a:prstGeom prst="rect">
            <a:avLst/>
          </a:prstGeom>
          <a:solidFill>
            <a:srgbClr val="D8D2C4"/>
          </a:solidFill>
          <a:ln/>
        </p:spPr>
      </p:sp>
      <p:sp>
        <p:nvSpPr>
          <p:cNvPr id="26" name="Text 23"/>
          <p:cNvSpPr txBox="1"/>
          <p:nvPr/>
        </p:nvSpPr>
        <p:spPr>
          <a:xfrm>
            <a:off x="9144000" y="2057400"/>
            <a:ext cx="2468880" cy="1463040"/>
          </a:xfrm>
          <a:prstGeom prst="rect">
            <a:avLst/>
          </a:prstGeom>
          <a:noFill/>
          <a:ln/>
        </p:spPr>
        <p:txBody>
          <a:bodyPr wrap="square" lIns="0" tIns="0" rIns="0" bIns="0" rtlCol="0" anchor="ctr"/>
          <a:lstStyle/>
          <a:p>
            <a:pPr indent="0" marL="0">
              <a:lnSpc>
                <a:spcPts val="1600"/>
              </a:lnSpc>
              <a:buNone/>
            </a:pPr>
            <a:r>
              <a:rPr lang="en-US" sz="1050" dirty="0">
                <a:solidFill>
                  <a:srgbClr val="5F594E"/>
                </a:solidFill>
                <a:latin typeface="Yu Gothic" pitchFamily="34" charset="0"/>
                <a:ea typeface="Yu Gothic" pitchFamily="34" charset="-122"/>
                <a:cs typeface="Yu Gothic" pitchFamily="34" charset="-120"/>
              </a:rPr>
              <a:t>動画を見た人の「受け皿」になるHP・LPを、まるごと制作。地図検索（MEO）まで整えます。</a:t>
            </a:r>
            <a:endParaRPr lang="en-US" sz="1050" dirty="0"/>
          </a:p>
        </p:txBody>
      </p:sp>
      <p:sp>
        <p:nvSpPr>
          <p:cNvPr id="27" name="Shape 24"/>
          <p:cNvSpPr/>
          <p:nvPr/>
        </p:nvSpPr>
        <p:spPr>
          <a:xfrm rot="5400000">
            <a:off x="6416272" y="4117616"/>
            <a:ext cx="1133856" cy="981919"/>
          </a:xfrm>
          <a:prstGeom prst="hexagon">
            <a:avLst/>
          </a:prstGeom>
          <a:solidFill>
            <a:srgbClr val="CBDFF3"/>
          </a:solidFill>
          <a:ln w="15875">
            <a:solidFill>
              <a:srgbClr val="141210"/>
            </a:solidFill>
            <a:prstDash val="solid"/>
          </a:ln>
        </p:spPr>
      </p:sp>
      <p:sp>
        <p:nvSpPr>
          <p:cNvPr id="28" name="Text 25"/>
          <p:cNvSpPr txBox="1"/>
          <p:nvPr/>
        </p:nvSpPr>
        <p:spPr>
          <a:xfrm>
            <a:off x="6419088" y="4261104"/>
            <a:ext cx="1128223" cy="256032"/>
          </a:xfrm>
          <a:prstGeom prst="rect">
            <a:avLst/>
          </a:prstGeom>
          <a:noFill/>
          <a:ln/>
        </p:spPr>
        <p:txBody>
          <a:bodyPr wrap="square" lIns="0" tIns="0" rIns="0" bIns="0" rtlCol="0" anchor="ctr"/>
          <a:lstStyle/>
          <a:p>
            <a:pPr algn="ctr" indent="0" marL="0">
              <a:buNone/>
            </a:pPr>
            <a:r>
              <a:rPr lang="en-US" sz="750" b="1" dirty="0">
                <a:solidFill>
                  <a:srgbClr val="141210"/>
                </a:solidFill>
                <a:latin typeface="Yu Gothic" pitchFamily="34" charset="0"/>
                <a:ea typeface="Yu Gothic" pitchFamily="34" charset="-122"/>
                <a:cs typeface="Yu Gothic" pitchFamily="34" charset="-120"/>
              </a:rPr>
              <a:t>HP制作</a:t>
            </a:r>
            <a:endParaRPr lang="en-US" sz="750" dirty="0"/>
          </a:p>
        </p:txBody>
      </p:sp>
      <p:pic>
        <p:nvPicPr>
          <p:cNvPr id="29" name="Image 1" descr="icons/ic_web.png">    </p:cNvPr>
          <p:cNvPicPr>
            <a:picLocks noChangeAspect="1"/>
          </p:cNvPicPr>
          <p:nvPr/>
        </p:nvPicPr>
        <p:blipFill>
          <a:blip r:embed="rId2"/>
          <a:stretch>
            <a:fillRect/>
          </a:stretch>
        </p:blipFill>
        <p:spPr>
          <a:xfrm>
            <a:off x="6900904" y="4517136"/>
            <a:ext cx="164592" cy="164592"/>
          </a:xfrm>
          <a:prstGeom prst="rect">
            <a:avLst/>
          </a:prstGeom>
        </p:spPr>
      </p:pic>
      <p:sp>
        <p:nvSpPr>
          <p:cNvPr id="30" name="Text 26"/>
          <p:cNvSpPr txBox="1"/>
          <p:nvPr/>
        </p:nvSpPr>
        <p:spPr>
          <a:xfrm>
            <a:off x="6419088" y="4718304"/>
            <a:ext cx="1128223" cy="256032"/>
          </a:xfrm>
          <a:prstGeom prst="rect">
            <a:avLst/>
          </a:prstGeom>
          <a:noFill/>
          <a:ln/>
        </p:spPr>
        <p:txBody>
          <a:bodyPr wrap="square" lIns="0" tIns="0" rIns="0" bIns="0" rtlCol="0" anchor="ctr"/>
          <a:lstStyle/>
          <a:p>
            <a:pPr algn="ctr" indent="0" marL="0">
              <a:buNone/>
            </a:pPr>
            <a:r>
              <a:rPr lang="en-US" sz="850" b="1" dirty="0">
                <a:solidFill>
                  <a:srgbClr val="141210"/>
                </a:solidFill>
                <a:latin typeface="Yu Gothic" pitchFamily="34" charset="0"/>
                <a:ea typeface="Yu Gothic" pitchFamily="34" charset="-122"/>
                <a:cs typeface="Yu Gothic" pitchFamily="34" charset="-120"/>
              </a:rPr>
              <a:t>100🍯</a:t>
            </a:r>
            <a:endParaRPr lang="en-US" sz="850" dirty="0"/>
          </a:p>
        </p:txBody>
      </p:sp>
      <p:sp>
        <p:nvSpPr>
          <p:cNvPr id="31" name="Shape 27"/>
          <p:cNvSpPr/>
          <p:nvPr/>
        </p:nvSpPr>
        <p:spPr>
          <a:xfrm rot="5400000">
            <a:off x="7398191" y="4117616"/>
            <a:ext cx="1133856" cy="981919"/>
          </a:xfrm>
          <a:prstGeom prst="hexagon">
            <a:avLst/>
          </a:prstGeom>
          <a:solidFill>
            <a:srgbClr val="CBDFF3"/>
          </a:solidFill>
          <a:ln w="15875">
            <a:solidFill>
              <a:srgbClr val="141210"/>
            </a:solidFill>
            <a:prstDash val="solid"/>
          </a:ln>
        </p:spPr>
      </p:sp>
      <p:sp>
        <p:nvSpPr>
          <p:cNvPr id="32" name="Text 28"/>
          <p:cNvSpPr txBox="1"/>
          <p:nvPr/>
        </p:nvSpPr>
        <p:spPr>
          <a:xfrm>
            <a:off x="7401007" y="4261104"/>
            <a:ext cx="1128223" cy="256032"/>
          </a:xfrm>
          <a:prstGeom prst="rect">
            <a:avLst/>
          </a:prstGeom>
          <a:noFill/>
          <a:ln/>
        </p:spPr>
        <p:txBody>
          <a:bodyPr wrap="square" lIns="0" tIns="0" rIns="0" bIns="0" rtlCol="0" anchor="ctr"/>
          <a:lstStyle/>
          <a:p>
            <a:pPr algn="ctr" indent="0" marL="0">
              <a:buNone/>
            </a:pPr>
            <a:r>
              <a:rPr lang="en-US" sz="750" b="1" dirty="0">
                <a:solidFill>
                  <a:srgbClr val="141210"/>
                </a:solidFill>
                <a:latin typeface="Yu Gothic" pitchFamily="34" charset="0"/>
                <a:ea typeface="Yu Gothic" pitchFamily="34" charset="-122"/>
                <a:cs typeface="Yu Gothic" pitchFamily="34" charset="-120"/>
              </a:rPr>
              <a:t>LP FV</a:t>
            </a:r>
            <a:endParaRPr lang="en-US" sz="750" dirty="0"/>
          </a:p>
        </p:txBody>
      </p:sp>
      <p:pic>
        <p:nvPicPr>
          <p:cNvPr id="33" name="Image 2" descr="icons/ic_web.png">    </p:cNvPr>
          <p:cNvPicPr>
            <a:picLocks noChangeAspect="1"/>
          </p:cNvPicPr>
          <p:nvPr/>
        </p:nvPicPr>
        <p:blipFill>
          <a:blip r:embed="rId3"/>
          <a:stretch>
            <a:fillRect/>
          </a:stretch>
        </p:blipFill>
        <p:spPr>
          <a:xfrm>
            <a:off x="7882823" y="4517136"/>
            <a:ext cx="164592" cy="164592"/>
          </a:xfrm>
          <a:prstGeom prst="rect">
            <a:avLst/>
          </a:prstGeom>
        </p:spPr>
      </p:pic>
      <p:sp>
        <p:nvSpPr>
          <p:cNvPr id="34" name="Text 29"/>
          <p:cNvSpPr txBox="1"/>
          <p:nvPr/>
        </p:nvSpPr>
        <p:spPr>
          <a:xfrm>
            <a:off x="7401007" y="4718304"/>
            <a:ext cx="1128223" cy="256032"/>
          </a:xfrm>
          <a:prstGeom prst="rect">
            <a:avLst/>
          </a:prstGeom>
          <a:noFill/>
          <a:ln/>
        </p:spPr>
        <p:txBody>
          <a:bodyPr wrap="square" lIns="0" tIns="0" rIns="0" bIns="0" rtlCol="0" anchor="ctr"/>
          <a:lstStyle/>
          <a:p>
            <a:pPr algn="ctr" indent="0" marL="0">
              <a:buNone/>
            </a:pPr>
            <a:r>
              <a:rPr lang="en-US" sz="850" b="1" dirty="0">
                <a:solidFill>
                  <a:srgbClr val="141210"/>
                </a:solidFill>
                <a:latin typeface="Yu Gothic" pitchFamily="34" charset="0"/>
                <a:ea typeface="Yu Gothic" pitchFamily="34" charset="-122"/>
                <a:cs typeface="Yu Gothic" pitchFamily="34" charset="-120"/>
              </a:rPr>
              <a:t>30🍯</a:t>
            </a:r>
            <a:endParaRPr lang="en-US" sz="850" dirty="0"/>
          </a:p>
        </p:txBody>
      </p:sp>
      <p:sp>
        <p:nvSpPr>
          <p:cNvPr id="35" name="Shape 30"/>
          <p:cNvSpPr/>
          <p:nvPr/>
        </p:nvSpPr>
        <p:spPr>
          <a:xfrm rot="5400000">
            <a:off x="8380110" y="4117616"/>
            <a:ext cx="1133856" cy="981919"/>
          </a:xfrm>
          <a:prstGeom prst="hexagon">
            <a:avLst/>
          </a:prstGeom>
          <a:solidFill>
            <a:srgbClr val="CBDFF3"/>
          </a:solidFill>
          <a:ln w="15875">
            <a:solidFill>
              <a:srgbClr val="141210"/>
            </a:solidFill>
            <a:prstDash val="solid"/>
          </a:ln>
        </p:spPr>
      </p:sp>
      <p:sp>
        <p:nvSpPr>
          <p:cNvPr id="36" name="Text 31"/>
          <p:cNvSpPr txBox="1"/>
          <p:nvPr/>
        </p:nvSpPr>
        <p:spPr>
          <a:xfrm>
            <a:off x="8382927" y="4261104"/>
            <a:ext cx="1128223" cy="256032"/>
          </a:xfrm>
          <a:prstGeom prst="rect">
            <a:avLst/>
          </a:prstGeom>
          <a:noFill/>
          <a:ln/>
        </p:spPr>
        <p:txBody>
          <a:bodyPr wrap="square" lIns="0" tIns="0" rIns="0" bIns="0" rtlCol="0" anchor="ctr"/>
          <a:lstStyle/>
          <a:p>
            <a:pPr algn="ctr" indent="0" marL="0">
              <a:buNone/>
            </a:pPr>
            <a:r>
              <a:rPr lang="en-US" sz="750" b="1" dirty="0">
                <a:solidFill>
                  <a:srgbClr val="141210"/>
                </a:solidFill>
                <a:latin typeface="Yu Gothic" pitchFamily="34" charset="0"/>
                <a:ea typeface="Yu Gothic" pitchFamily="34" charset="-122"/>
                <a:cs typeface="Yu Gothic" pitchFamily="34" charset="-120"/>
              </a:rPr>
              <a:t>HP保守(月)</a:t>
            </a:r>
            <a:endParaRPr lang="en-US" sz="750" dirty="0"/>
          </a:p>
        </p:txBody>
      </p:sp>
      <p:pic>
        <p:nvPicPr>
          <p:cNvPr id="37" name="Image 3" descr="icons/ic_web.png">    </p:cNvPr>
          <p:cNvPicPr>
            <a:picLocks noChangeAspect="1"/>
          </p:cNvPicPr>
          <p:nvPr/>
        </p:nvPicPr>
        <p:blipFill>
          <a:blip r:embed="rId4"/>
          <a:stretch>
            <a:fillRect/>
          </a:stretch>
        </p:blipFill>
        <p:spPr>
          <a:xfrm>
            <a:off x="8864742" y="4517136"/>
            <a:ext cx="164592" cy="164592"/>
          </a:xfrm>
          <a:prstGeom prst="rect">
            <a:avLst/>
          </a:prstGeom>
        </p:spPr>
      </p:pic>
      <p:sp>
        <p:nvSpPr>
          <p:cNvPr id="38" name="Text 32"/>
          <p:cNvSpPr txBox="1"/>
          <p:nvPr/>
        </p:nvSpPr>
        <p:spPr>
          <a:xfrm>
            <a:off x="8382927" y="4718304"/>
            <a:ext cx="1128223" cy="256032"/>
          </a:xfrm>
          <a:prstGeom prst="rect">
            <a:avLst/>
          </a:prstGeom>
          <a:noFill/>
          <a:ln/>
        </p:spPr>
        <p:txBody>
          <a:bodyPr wrap="square" lIns="0" tIns="0" rIns="0" bIns="0" rtlCol="0" anchor="ctr"/>
          <a:lstStyle/>
          <a:p>
            <a:pPr algn="ctr" indent="0" marL="0">
              <a:buNone/>
            </a:pPr>
            <a:r>
              <a:rPr lang="en-US" sz="850" b="1" dirty="0">
                <a:solidFill>
                  <a:srgbClr val="141210"/>
                </a:solidFill>
                <a:latin typeface="Yu Gothic" pitchFamily="34" charset="0"/>
                <a:ea typeface="Yu Gothic" pitchFamily="34" charset="-122"/>
                <a:cs typeface="Yu Gothic" pitchFamily="34" charset="-120"/>
              </a:rPr>
              <a:t>12🍯</a:t>
            </a:r>
            <a:endParaRPr lang="en-US" sz="850" dirty="0"/>
          </a:p>
        </p:txBody>
      </p:sp>
      <p:sp>
        <p:nvSpPr>
          <p:cNvPr id="39" name="Shape 33"/>
          <p:cNvSpPr/>
          <p:nvPr/>
        </p:nvSpPr>
        <p:spPr>
          <a:xfrm rot="5400000">
            <a:off x="9362030" y="4117616"/>
            <a:ext cx="1133856" cy="981919"/>
          </a:xfrm>
          <a:prstGeom prst="hexagon">
            <a:avLst/>
          </a:prstGeom>
          <a:solidFill>
            <a:srgbClr val="CBDFF3"/>
          </a:solidFill>
          <a:ln w="15875">
            <a:solidFill>
              <a:srgbClr val="141210"/>
            </a:solidFill>
            <a:prstDash val="solid"/>
          </a:ln>
        </p:spPr>
      </p:sp>
      <p:sp>
        <p:nvSpPr>
          <p:cNvPr id="40" name="Text 34"/>
          <p:cNvSpPr txBox="1"/>
          <p:nvPr/>
        </p:nvSpPr>
        <p:spPr>
          <a:xfrm>
            <a:off x="9364846" y="4261104"/>
            <a:ext cx="1128223" cy="256032"/>
          </a:xfrm>
          <a:prstGeom prst="rect">
            <a:avLst/>
          </a:prstGeom>
          <a:noFill/>
          <a:ln/>
        </p:spPr>
        <p:txBody>
          <a:bodyPr wrap="square" lIns="0" tIns="0" rIns="0" bIns="0" rtlCol="0" anchor="ctr"/>
          <a:lstStyle/>
          <a:p>
            <a:pPr algn="ctr" indent="0" marL="0">
              <a:buNone/>
            </a:pPr>
            <a:r>
              <a:rPr lang="en-US" sz="750" b="1" dirty="0">
                <a:solidFill>
                  <a:srgbClr val="141210"/>
                </a:solidFill>
                <a:latin typeface="Yu Gothic" pitchFamily="34" charset="0"/>
                <a:ea typeface="Yu Gothic" pitchFamily="34" charset="-122"/>
                <a:cs typeface="Yu Gothic" pitchFamily="34" charset="-120"/>
              </a:rPr>
              <a:t>SEO記事</a:t>
            </a:r>
            <a:endParaRPr lang="en-US" sz="750" dirty="0"/>
          </a:p>
        </p:txBody>
      </p:sp>
      <p:pic>
        <p:nvPicPr>
          <p:cNvPr id="41" name="Image 4" descr="icons/ic_web.png">    </p:cNvPr>
          <p:cNvPicPr>
            <a:picLocks noChangeAspect="1"/>
          </p:cNvPicPr>
          <p:nvPr/>
        </p:nvPicPr>
        <p:blipFill>
          <a:blip r:embed="rId5"/>
          <a:stretch>
            <a:fillRect/>
          </a:stretch>
        </p:blipFill>
        <p:spPr>
          <a:xfrm>
            <a:off x="9846662" y="4517136"/>
            <a:ext cx="164592" cy="164592"/>
          </a:xfrm>
          <a:prstGeom prst="rect">
            <a:avLst/>
          </a:prstGeom>
        </p:spPr>
      </p:pic>
      <p:sp>
        <p:nvSpPr>
          <p:cNvPr id="42" name="Text 35"/>
          <p:cNvSpPr txBox="1"/>
          <p:nvPr/>
        </p:nvSpPr>
        <p:spPr>
          <a:xfrm>
            <a:off x="9364846" y="4718304"/>
            <a:ext cx="1128223" cy="256032"/>
          </a:xfrm>
          <a:prstGeom prst="rect">
            <a:avLst/>
          </a:prstGeom>
          <a:noFill/>
          <a:ln/>
        </p:spPr>
        <p:txBody>
          <a:bodyPr wrap="square" lIns="0" tIns="0" rIns="0" bIns="0" rtlCol="0" anchor="ctr"/>
          <a:lstStyle/>
          <a:p>
            <a:pPr algn="ctr" indent="0" marL="0">
              <a:buNone/>
            </a:pPr>
            <a:r>
              <a:rPr lang="en-US" sz="850" b="1" dirty="0">
                <a:solidFill>
                  <a:srgbClr val="141210"/>
                </a:solidFill>
                <a:latin typeface="Yu Gothic" pitchFamily="34" charset="0"/>
                <a:ea typeface="Yu Gothic" pitchFamily="34" charset="-122"/>
                <a:cs typeface="Yu Gothic" pitchFamily="34" charset="-120"/>
              </a:rPr>
              <a:t>12🍯</a:t>
            </a:r>
            <a:endParaRPr lang="en-US" sz="850" dirty="0"/>
          </a:p>
        </p:txBody>
      </p:sp>
      <p:sp>
        <p:nvSpPr>
          <p:cNvPr id="43" name="Shape 36"/>
          <p:cNvSpPr/>
          <p:nvPr/>
        </p:nvSpPr>
        <p:spPr>
          <a:xfrm rot="5400000">
            <a:off x="6907231" y="4968008"/>
            <a:ext cx="1133856" cy="981919"/>
          </a:xfrm>
          <a:prstGeom prst="hexagon">
            <a:avLst/>
          </a:prstGeom>
          <a:solidFill>
            <a:srgbClr val="CBDFF3"/>
          </a:solidFill>
          <a:ln w="15875">
            <a:solidFill>
              <a:srgbClr val="141210"/>
            </a:solidFill>
            <a:prstDash val="solid"/>
          </a:ln>
        </p:spPr>
      </p:sp>
      <p:sp>
        <p:nvSpPr>
          <p:cNvPr id="44" name="Text 37"/>
          <p:cNvSpPr txBox="1"/>
          <p:nvPr/>
        </p:nvSpPr>
        <p:spPr>
          <a:xfrm>
            <a:off x="6910048" y="5111496"/>
            <a:ext cx="1128223" cy="256032"/>
          </a:xfrm>
          <a:prstGeom prst="rect">
            <a:avLst/>
          </a:prstGeom>
          <a:noFill/>
          <a:ln/>
        </p:spPr>
        <p:txBody>
          <a:bodyPr wrap="square" lIns="0" tIns="0" rIns="0" bIns="0" rtlCol="0" anchor="ctr"/>
          <a:lstStyle/>
          <a:p>
            <a:pPr algn="ctr" indent="0" marL="0">
              <a:buNone/>
            </a:pPr>
            <a:r>
              <a:rPr lang="en-US" sz="750" b="1" dirty="0">
                <a:solidFill>
                  <a:srgbClr val="141210"/>
                </a:solidFill>
                <a:latin typeface="Yu Gothic" pitchFamily="34" charset="0"/>
                <a:ea typeface="Yu Gothic" pitchFamily="34" charset="-122"/>
                <a:cs typeface="Yu Gothic" pitchFamily="34" charset="-120"/>
              </a:rPr>
              <a:t>MEO対策</a:t>
            </a:r>
            <a:endParaRPr lang="en-US" sz="750" dirty="0"/>
          </a:p>
        </p:txBody>
      </p:sp>
      <p:pic>
        <p:nvPicPr>
          <p:cNvPr id="45" name="Image 5" descr="icons/ic_google.png">    </p:cNvPr>
          <p:cNvPicPr>
            <a:picLocks noChangeAspect="1"/>
          </p:cNvPicPr>
          <p:nvPr/>
        </p:nvPicPr>
        <p:blipFill>
          <a:blip r:embed="rId6"/>
          <a:stretch>
            <a:fillRect/>
          </a:stretch>
        </p:blipFill>
        <p:spPr>
          <a:xfrm>
            <a:off x="7391863" y="5367528"/>
            <a:ext cx="164592" cy="164592"/>
          </a:xfrm>
          <a:prstGeom prst="rect">
            <a:avLst/>
          </a:prstGeom>
        </p:spPr>
      </p:pic>
      <p:sp>
        <p:nvSpPr>
          <p:cNvPr id="46" name="Text 38"/>
          <p:cNvSpPr txBox="1"/>
          <p:nvPr/>
        </p:nvSpPr>
        <p:spPr>
          <a:xfrm>
            <a:off x="6910048" y="5568696"/>
            <a:ext cx="1128223" cy="256032"/>
          </a:xfrm>
          <a:prstGeom prst="rect">
            <a:avLst/>
          </a:prstGeom>
          <a:noFill/>
          <a:ln/>
        </p:spPr>
        <p:txBody>
          <a:bodyPr wrap="square" lIns="0" tIns="0" rIns="0" bIns="0" rtlCol="0" anchor="ctr"/>
          <a:lstStyle/>
          <a:p>
            <a:pPr algn="ctr" indent="0" marL="0">
              <a:buNone/>
            </a:pPr>
            <a:r>
              <a:rPr lang="en-US" sz="850" b="1" dirty="0">
                <a:solidFill>
                  <a:srgbClr val="141210"/>
                </a:solidFill>
                <a:latin typeface="Yu Gothic" pitchFamily="34" charset="0"/>
                <a:ea typeface="Yu Gothic" pitchFamily="34" charset="-122"/>
                <a:cs typeface="Yu Gothic" pitchFamily="34" charset="-120"/>
              </a:rPr>
              <a:t>15🍯</a:t>
            </a:r>
            <a:endParaRPr lang="en-US" sz="850" dirty="0"/>
          </a:p>
        </p:txBody>
      </p:sp>
      <p:sp>
        <p:nvSpPr>
          <p:cNvPr id="47" name="Shape 39"/>
          <p:cNvSpPr/>
          <p:nvPr/>
        </p:nvSpPr>
        <p:spPr>
          <a:xfrm rot="5400000">
            <a:off x="7889151" y="4968008"/>
            <a:ext cx="1133856" cy="981919"/>
          </a:xfrm>
          <a:prstGeom prst="hexagon">
            <a:avLst/>
          </a:prstGeom>
          <a:solidFill>
            <a:srgbClr val="CBDFF3"/>
          </a:solidFill>
          <a:ln w="15875">
            <a:solidFill>
              <a:srgbClr val="141210"/>
            </a:solidFill>
            <a:prstDash val="solid"/>
          </a:ln>
        </p:spPr>
      </p:sp>
      <p:sp>
        <p:nvSpPr>
          <p:cNvPr id="48" name="Text 40"/>
          <p:cNvSpPr txBox="1"/>
          <p:nvPr/>
        </p:nvSpPr>
        <p:spPr>
          <a:xfrm>
            <a:off x="7891967" y="5111496"/>
            <a:ext cx="1128223" cy="256032"/>
          </a:xfrm>
          <a:prstGeom prst="rect">
            <a:avLst/>
          </a:prstGeom>
          <a:noFill/>
          <a:ln/>
        </p:spPr>
        <p:txBody>
          <a:bodyPr wrap="square" lIns="0" tIns="0" rIns="0" bIns="0" rtlCol="0" anchor="ctr"/>
          <a:lstStyle/>
          <a:p>
            <a:pPr algn="ctr" indent="0" marL="0">
              <a:buNone/>
            </a:pPr>
            <a:r>
              <a:rPr lang="en-US" sz="750" b="1" dirty="0">
                <a:solidFill>
                  <a:srgbClr val="141210"/>
                </a:solidFill>
                <a:latin typeface="Yu Gothic" pitchFamily="34" charset="0"/>
                <a:ea typeface="Yu Gothic" pitchFamily="34" charset="-122"/>
                <a:cs typeface="Yu Gothic" pitchFamily="34" charset="-120"/>
              </a:rPr>
              <a:t>LINE公式</a:t>
            </a:r>
            <a:endParaRPr lang="en-US" sz="750" dirty="0"/>
          </a:p>
        </p:txBody>
      </p:sp>
      <p:pic>
        <p:nvPicPr>
          <p:cNvPr id="49" name="Image 6" descr="icons/ic_line.png">    </p:cNvPr>
          <p:cNvPicPr>
            <a:picLocks noChangeAspect="1"/>
          </p:cNvPicPr>
          <p:nvPr/>
        </p:nvPicPr>
        <p:blipFill>
          <a:blip r:embed="rId7"/>
          <a:stretch>
            <a:fillRect/>
          </a:stretch>
        </p:blipFill>
        <p:spPr>
          <a:xfrm>
            <a:off x="8373783" y="5367528"/>
            <a:ext cx="164592" cy="164592"/>
          </a:xfrm>
          <a:prstGeom prst="rect">
            <a:avLst/>
          </a:prstGeom>
        </p:spPr>
      </p:pic>
      <p:sp>
        <p:nvSpPr>
          <p:cNvPr id="50" name="Text 41"/>
          <p:cNvSpPr txBox="1"/>
          <p:nvPr/>
        </p:nvSpPr>
        <p:spPr>
          <a:xfrm>
            <a:off x="7891967" y="5568696"/>
            <a:ext cx="1128223" cy="256032"/>
          </a:xfrm>
          <a:prstGeom prst="rect">
            <a:avLst/>
          </a:prstGeom>
          <a:noFill/>
          <a:ln/>
        </p:spPr>
        <p:txBody>
          <a:bodyPr wrap="square" lIns="0" tIns="0" rIns="0" bIns="0" rtlCol="0" anchor="ctr"/>
          <a:lstStyle/>
          <a:p>
            <a:pPr algn="ctr" indent="0" marL="0">
              <a:buNone/>
            </a:pPr>
            <a:r>
              <a:rPr lang="en-US" sz="850" b="1" dirty="0">
                <a:solidFill>
                  <a:srgbClr val="141210"/>
                </a:solidFill>
                <a:latin typeface="Yu Gothic" pitchFamily="34" charset="0"/>
                <a:ea typeface="Yu Gothic" pitchFamily="34" charset="-122"/>
                <a:cs typeface="Yu Gothic" pitchFamily="34" charset="-120"/>
              </a:rPr>
              <a:t>45🍯</a:t>
            </a:r>
            <a:endParaRPr lang="en-US" sz="850" dirty="0"/>
          </a:p>
        </p:txBody>
      </p:sp>
      <p:sp>
        <p:nvSpPr>
          <p:cNvPr id="51" name="Shape 42"/>
          <p:cNvSpPr/>
          <p:nvPr/>
        </p:nvSpPr>
        <p:spPr>
          <a:xfrm rot="5400000">
            <a:off x="8871070" y="4968008"/>
            <a:ext cx="1133856" cy="981919"/>
          </a:xfrm>
          <a:prstGeom prst="hexagon">
            <a:avLst/>
          </a:prstGeom>
          <a:solidFill>
            <a:srgbClr val="CBDFF3"/>
          </a:solidFill>
          <a:ln w="15875">
            <a:solidFill>
              <a:srgbClr val="141210"/>
            </a:solidFill>
            <a:prstDash val="solid"/>
          </a:ln>
        </p:spPr>
      </p:sp>
      <p:sp>
        <p:nvSpPr>
          <p:cNvPr id="52" name="Text 43"/>
          <p:cNvSpPr txBox="1"/>
          <p:nvPr/>
        </p:nvSpPr>
        <p:spPr>
          <a:xfrm>
            <a:off x="8873886" y="5111496"/>
            <a:ext cx="1128223" cy="256032"/>
          </a:xfrm>
          <a:prstGeom prst="rect">
            <a:avLst/>
          </a:prstGeom>
          <a:noFill/>
          <a:ln/>
        </p:spPr>
        <p:txBody>
          <a:bodyPr wrap="square" lIns="0" tIns="0" rIns="0" bIns="0" rtlCol="0" anchor="ctr"/>
          <a:lstStyle/>
          <a:p>
            <a:pPr algn="ctr" indent="0" marL="0">
              <a:buNone/>
            </a:pPr>
            <a:r>
              <a:rPr lang="en-US" sz="750" b="1" dirty="0">
                <a:solidFill>
                  <a:srgbClr val="141210"/>
                </a:solidFill>
                <a:latin typeface="Yu Gothic" pitchFamily="34" charset="0"/>
                <a:ea typeface="Yu Gothic" pitchFamily="34" charset="-122"/>
                <a:cs typeface="Yu Gothic" pitchFamily="34" charset="-120"/>
              </a:rPr>
              <a:t>チラシ</a:t>
            </a:r>
            <a:endParaRPr lang="en-US" sz="750" dirty="0"/>
          </a:p>
        </p:txBody>
      </p:sp>
      <p:pic>
        <p:nvPicPr>
          <p:cNvPr id="53" name="Image 7" descr="icons/ic_flyer.png">    </p:cNvPr>
          <p:cNvPicPr>
            <a:picLocks noChangeAspect="1"/>
          </p:cNvPicPr>
          <p:nvPr/>
        </p:nvPicPr>
        <p:blipFill>
          <a:blip r:embed="rId8"/>
          <a:stretch>
            <a:fillRect/>
          </a:stretch>
        </p:blipFill>
        <p:spPr>
          <a:xfrm>
            <a:off x="9355702" y="5367528"/>
            <a:ext cx="164592" cy="164592"/>
          </a:xfrm>
          <a:prstGeom prst="rect">
            <a:avLst/>
          </a:prstGeom>
        </p:spPr>
      </p:pic>
      <p:sp>
        <p:nvSpPr>
          <p:cNvPr id="54" name="Text 44"/>
          <p:cNvSpPr txBox="1"/>
          <p:nvPr/>
        </p:nvSpPr>
        <p:spPr>
          <a:xfrm>
            <a:off x="8873886" y="5568696"/>
            <a:ext cx="1128223" cy="256032"/>
          </a:xfrm>
          <a:prstGeom prst="rect">
            <a:avLst/>
          </a:prstGeom>
          <a:noFill/>
          <a:ln/>
        </p:spPr>
        <p:txBody>
          <a:bodyPr wrap="square" lIns="0" tIns="0" rIns="0" bIns="0" rtlCol="0" anchor="ctr"/>
          <a:lstStyle/>
          <a:p>
            <a:pPr algn="ctr" indent="0" marL="0">
              <a:buNone/>
            </a:pPr>
            <a:r>
              <a:rPr lang="en-US" sz="850" b="1" dirty="0">
                <a:solidFill>
                  <a:srgbClr val="141210"/>
                </a:solidFill>
                <a:latin typeface="Yu Gothic" pitchFamily="34" charset="0"/>
                <a:ea typeface="Yu Gothic" pitchFamily="34" charset="-122"/>
                <a:cs typeface="Yu Gothic" pitchFamily="34" charset="-120"/>
              </a:rPr>
              <a:t>35🍯</a:t>
            </a:r>
            <a:endParaRPr lang="en-US" sz="850" dirty="0"/>
          </a:p>
        </p:txBody>
      </p:sp>
      <p:sp>
        <p:nvSpPr>
          <p:cNvPr id="55" name="Text 45"/>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100" b="1" dirty="0">
                <a:solidFill>
                  <a:srgbClr val="141210"/>
                </a:solidFill>
                <a:latin typeface="Yu Gothic" pitchFamily="34" charset="0"/>
                <a:ea typeface="Yu Gothic" pitchFamily="34" charset="-122"/>
                <a:cs typeface="Yu Gothic" pitchFamily="34" charset="-120"/>
              </a:rPr>
              <a:t>チラシ（A4）35🍯も。定価は相場の約2割安 — 補助金と合わせて実質約1/3。</a:t>
            </a:r>
            <a:endParaRPr lang="en-US" sz="1100" dirty="0"/>
          </a:p>
        </p:txBody>
      </p:sp>
      <p:sp>
        <p:nvSpPr>
          <p:cNvPr id="56" name="Shape 46"/>
          <p:cNvSpPr/>
          <p:nvPr/>
        </p:nvSpPr>
        <p:spPr>
          <a:xfrm>
            <a:off x="548640" y="6455664"/>
            <a:ext cx="11091672" cy="0"/>
          </a:xfrm>
          <a:prstGeom prst="line">
            <a:avLst/>
          </a:prstGeom>
          <a:noFill/>
          <a:ln w="12700">
            <a:solidFill>
              <a:srgbClr val="E2DCCE"/>
            </a:solidFill>
            <a:prstDash val="solid"/>
          </a:ln>
        </p:spPr>
      </p:sp>
      <p:sp>
        <p:nvSpPr>
          <p:cNvPr id="57" name="Text 47"/>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58" name="Text 48"/>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C62E"/>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141210"/>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06 / </a:t>
            </a:r>
            <a:pPr indent="0" marL="0">
              <a:buNone/>
            </a:pPr>
            <a:r>
              <a:rPr lang="en-US" sz="1200" b="1" spc="300" kern="0" dirty="0">
                <a:solidFill>
                  <a:srgbClr val="141210"/>
                </a:solidFill>
                <a:latin typeface="Arial" pitchFamily="34" charset="0"/>
                <a:ea typeface="Arial" pitchFamily="34" charset="-122"/>
                <a:cs typeface="Arial" pitchFamily="34" charset="-120"/>
              </a:rPr>
              <a:t>AI &amp; PLATFORM</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SNSが不慣れでも大丈夫。AI「ハッチ」が隣にいます</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Shape 4"/>
          <p:cNvSpPr/>
          <p:nvPr/>
        </p:nvSpPr>
        <p:spPr>
          <a:xfrm>
            <a:off x="548640" y="1783080"/>
            <a:ext cx="4160520" cy="4206240"/>
          </a:xfrm>
          <a:prstGeom prst="roundRect">
            <a:avLst>
              <a:gd name="adj" fmla="val 2637"/>
            </a:avLst>
          </a:prstGeom>
          <a:solidFill>
            <a:srgbClr val="FFFFFF"/>
          </a:solidFill>
          <a:ln w="22225">
            <a:solidFill>
              <a:srgbClr val="141210"/>
            </a:solidFill>
            <a:prstDash val="solid"/>
          </a:ln>
        </p:spPr>
      </p:sp>
      <p:pic>
        <p:nvPicPr>
          <p:cNvPr id="7" name="Image 0" descr="bee.png">    </p:cNvPr>
          <p:cNvPicPr>
            <a:picLocks noChangeAspect="1"/>
          </p:cNvPicPr>
          <p:nvPr/>
        </p:nvPicPr>
        <p:blipFill>
          <a:blip r:embed="rId1"/>
          <a:stretch>
            <a:fillRect/>
          </a:stretch>
        </p:blipFill>
        <p:spPr>
          <a:xfrm>
            <a:off x="777240" y="1965960"/>
            <a:ext cx="457200" cy="457200"/>
          </a:xfrm>
          <a:prstGeom prst="rect">
            <a:avLst/>
          </a:prstGeom>
        </p:spPr>
      </p:pic>
      <p:sp>
        <p:nvSpPr>
          <p:cNvPr id="8" name="Text 5"/>
          <p:cNvSpPr txBox="1"/>
          <p:nvPr/>
        </p:nvSpPr>
        <p:spPr>
          <a:xfrm>
            <a:off x="1325880" y="2066544"/>
            <a:ext cx="2286000" cy="274320"/>
          </a:xfrm>
          <a:prstGeom prst="rect">
            <a:avLst/>
          </a:prstGeom>
          <a:noFill/>
          <a:ln/>
        </p:spPr>
        <p:txBody>
          <a:bodyPr wrap="square" lIns="0" tIns="0" rIns="0" bIns="0" rtlCol="0" anchor="ctr"/>
          <a:lstStyle/>
          <a:p>
            <a:pPr indent="0" marL="0">
              <a:buNone/>
            </a:pPr>
            <a:r>
              <a:rPr lang="en-US" sz="1100" b="1" dirty="0">
                <a:solidFill>
                  <a:srgbClr val="141210"/>
                </a:solidFill>
                <a:latin typeface="Yu Gothic" pitchFamily="34" charset="0"/>
                <a:ea typeface="Yu Gothic" pitchFamily="34" charset="-122"/>
                <a:cs typeface="Yu Gothic" pitchFamily="34" charset="-120"/>
              </a:rPr>
              <a:t>AIハッチに相談</a:t>
            </a:r>
            <a:endParaRPr lang="en-US" sz="1100" dirty="0"/>
          </a:p>
        </p:txBody>
      </p:sp>
      <p:sp>
        <p:nvSpPr>
          <p:cNvPr id="9" name="Shape 6"/>
          <p:cNvSpPr/>
          <p:nvPr/>
        </p:nvSpPr>
        <p:spPr>
          <a:xfrm>
            <a:off x="777240" y="2542032"/>
            <a:ext cx="3703320" cy="0"/>
          </a:xfrm>
          <a:prstGeom prst="line">
            <a:avLst/>
          </a:prstGeom>
          <a:noFill/>
          <a:ln w="12700">
            <a:solidFill>
              <a:srgbClr val="E2DCCE"/>
            </a:solidFill>
            <a:prstDash val="solid"/>
          </a:ln>
        </p:spPr>
      </p:sp>
      <p:sp>
        <p:nvSpPr>
          <p:cNvPr id="10" name="Shape 7"/>
          <p:cNvSpPr/>
          <p:nvPr/>
        </p:nvSpPr>
        <p:spPr>
          <a:xfrm>
            <a:off x="2011680" y="2697480"/>
            <a:ext cx="2468880" cy="502920"/>
          </a:xfrm>
          <a:prstGeom prst="roundRect">
            <a:avLst>
              <a:gd name="adj" fmla="val 21818"/>
            </a:avLst>
          </a:prstGeom>
          <a:solidFill>
            <a:srgbClr val="F0EDE5"/>
          </a:solidFill>
          <a:ln/>
        </p:spPr>
      </p:sp>
      <p:sp>
        <p:nvSpPr>
          <p:cNvPr id="11" name="Text 8"/>
          <p:cNvSpPr txBox="1"/>
          <p:nvPr/>
        </p:nvSpPr>
        <p:spPr>
          <a:xfrm>
            <a:off x="2148840" y="2807208"/>
            <a:ext cx="2286000" cy="292608"/>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居酒屋の動画を作りたい！</a:t>
            </a:r>
            <a:endParaRPr lang="en-US" sz="1000" dirty="0"/>
          </a:p>
        </p:txBody>
      </p:sp>
      <p:sp>
        <p:nvSpPr>
          <p:cNvPr id="12" name="Shape 9"/>
          <p:cNvSpPr/>
          <p:nvPr/>
        </p:nvSpPr>
        <p:spPr>
          <a:xfrm>
            <a:off x="777240" y="3337560"/>
            <a:ext cx="3108960" cy="868680"/>
          </a:xfrm>
          <a:prstGeom prst="roundRect">
            <a:avLst>
              <a:gd name="adj" fmla="val 12632"/>
            </a:avLst>
          </a:prstGeom>
          <a:solidFill>
            <a:srgbClr val="141210"/>
          </a:solidFill>
          <a:ln/>
        </p:spPr>
      </p:sp>
      <p:sp>
        <p:nvSpPr>
          <p:cNvPr id="13" name="Text 10"/>
          <p:cNvSpPr txBox="1"/>
          <p:nvPr/>
        </p:nvSpPr>
        <p:spPr>
          <a:xfrm>
            <a:off x="914400" y="3447288"/>
            <a:ext cx="2834640" cy="640080"/>
          </a:xfrm>
          <a:prstGeom prst="rect">
            <a:avLst/>
          </a:prstGeom>
          <a:noFill/>
          <a:ln/>
        </p:spPr>
        <p:txBody>
          <a:bodyPr wrap="square" lIns="0" tIns="0" rIns="0" bIns="0" rtlCol="0" anchor="ctr"/>
          <a:lstStyle/>
          <a:p>
            <a:pPr indent="0" marL="0">
              <a:lnSpc>
                <a:spcPts val="1300"/>
              </a:lnSpc>
              <a:buNone/>
            </a:pPr>
            <a:r>
              <a:rPr lang="en-US" sz="950" b="1" dirty="0">
                <a:solidFill>
                  <a:srgbClr val="FFC62E"/>
                </a:solidFill>
                <a:latin typeface="Yu Gothic" pitchFamily="34" charset="0"/>
                <a:ea typeface="Yu Gothic" pitchFamily="34" charset="-122"/>
                <a:cs typeface="Yu Gothic" pitchFamily="34" charset="-120"/>
              </a:rPr>
              <a:t>伸びている居酒屋のお手本を3本見つけました🍯 この型で台本をつくりますか？</a:t>
            </a:r>
            <a:endParaRPr lang="en-US" sz="950" dirty="0"/>
          </a:p>
        </p:txBody>
      </p:sp>
      <p:sp>
        <p:nvSpPr>
          <p:cNvPr id="14" name="Shape 11"/>
          <p:cNvSpPr/>
          <p:nvPr/>
        </p:nvSpPr>
        <p:spPr>
          <a:xfrm>
            <a:off x="2743200" y="4343400"/>
            <a:ext cx="1737360" cy="502920"/>
          </a:xfrm>
          <a:prstGeom prst="roundRect">
            <a:avLst>
              <a:gd name="adj" fmla="val 21818"/>
            </a:avLst>
          </a:prstGeom>
          <a:solidFill>
            <a:srgbClr val="F0EDE5"/>
          </a:solidFill>
          <a:ln/>
        </p:spPr>
      </p:sp>
      <p:sp>
        <p:nvSpPr>
          <p:cNvPr id="15" name="Text 12"/>
          <p:cNvSpPr txBox="1"/>
          <p:nvPr/>
        </p:nvSpPr>
        <p:spPr>
          <a:xfrm>
            <a:off x="2880360" y="4453128"/>
            <a:ext cx="1554480" cy="292608"/>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お願い！</a:t>
            </a:r>
            <a:endParaRPr lang="en-US" sz="1000" dirty="0"/>
          </a:p>
        </p:txBody>
      </p:sp>
      <p:sp>
        <p:nvSpPr>
          <p:cNvPr id="16" name="Shape 13"/>
          <p:cNvSpPr/>
          <p:nvPr/>
        </p:nvSpPr>
        <p:spPr>
          <a:xfrm>
            <a:off x="777240" y="4983480"/>
            <a:ext cx="3108960" cy="777240"/>
          </a:xfrm>
          <a:prstGeom prst="roundRect">
            <a:avLst>
              <a:gd name="adj" fmla="val 14118"/>
            </a:avLst>
          </a:prstGeom>
          <a:solidFill>
            <a:srgbClr val="141210"/>
          </a:solidFill>
          <a:ln/>
        </p:spPr>
      </p:sp>
      <p:sp>
        <p:nvSpPr>
          <p:cNvPr id="17" name="Text 14"/>
          <p:cNvSpPr txBox="1"/>
          <p:nvPr/>
        </p:nvSpPr>
        <p:spPr>
          <a:xfrm>
            <a:off x="914400" y="5120640"/>
            <a:ext cx="2834640" cy="548640"/>
          </a:xfrm>
          <a:prstGeom prst="rect">
            <a:avLst/>
          </a:prstGeom>
          <a:noFill/>
          <a:ln/>
        </p:spPr>
        <p:txBody>
          <a:bodyPr wrap="square" lIns="0" tIns="0" rIns="0" bIns="0" rtlCol="0" anchor="ctr"/>
          <a:lstStyle/>
          <a:p>
            <a:pPr indent="0" marL="0">
              <a:lnSpc>
                <a:spcPts val="1300"/>
              </a:lnSpc>
              <a:buNone/>
            </a:pPr>
            <a:r>
              <a:rPr lang="en-US" sz="950" b="1" dirty="0">
                <a:solidFill>
                  <a:srgbClr val="FFC62E"/>
                </a:solidFill>
                <a:latin typeface="Yu Gothic" pitchFamily="34" charset="0"/>
                <a:ea typeface="Yu Gothic" pitchFamily="34" charset="-122"/>
                <a:cs typeface="Yu Gothic" pitchFamily="34" charset="-120"/>
              </a:rPr>
              <a:t>台本ができました。このまま巣から発注できます →</a:t>
            </a:r>
            <a:endParaRPr lang="en-US" sz="950" dirty="0"/>
          </a:p>
        </p:txBody>
      </p:sp>
      <p:sp>
        <p:nvSpPr>
          <p:cNvPr id="18" name="Text 15"/>
          <p:cNvSpPr txBox="1"/>
          <p:nvPr/>
        </p:nvSpPr>
        <p:spPr>
          <a:xfrm>
            <a:off x="548640" y="6053328"/>
            <a:ext cx="4389120" cy="274320"/>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話すだけで、お手本さがし→台本→発注まで完了</a:t>
            </a:r>
            <a:endParaRPr lang="en-US" sz="1000" dirty="0"/>
          </a:p>
        </p:txBody>
      </p:sp>
      <p:sp>
        <p:nvSpPr>
          <p:cNvPr id="19" name="Shape 16"/>
          <p:cNvSpPr/>
          <p:nvPr/>
        </p:nvSpPr>
        <p:spPr>
          <a:xfrm>
            <a:off x="5166360" y="1847088"/>
            <a:ext cx="329184" cy="329184"/>
          </a:xfrm>
          <a:prstGeom prst="hexagon">
            <a:avLst/>
          </a:prstGeom>
          <a:solidFill>
            <a:srgbClr val="141210"/>
          </a:solidFill>
          <a:ln/>
        </p:spPr>
      </p:sp>
      <p:sp>
        <p:nvSpPr>
          <p:cNvPr id="20" name="Text 17"/>
          <p:cNvSpPr txBox="1"/>
          <p:nvPr/>
        </p:nvSpPr>
        <p:spPr>
          <a:xfrm>
            <a:off x="5166360" y="1897380"/>
            <a:ext cx="329184" cy="237744"/>
          </a:xfrm>
          <a:prstGeom prst="rect">
            <a:avLst/>
          </a:prstGeom>
          <a:noFill/>
          <a:ln/>
        </p:spPr>
        <p:txBody>
          <a:bodyPr wrap="square" lIns="0" tIns="0" rIns="0" bIns="0" rtlCol="0" anchor="ctr"/>
          <a:lstStyle/>
          <a:p>
            <a:pPr algn="ctr" indent="0" marL="0">
              <a:buNone/>
            </a:pPr>
            <a:r>
              <a:rPr lang="en-US" sz="1000" b="1" dirty="0">
                <a:solidFill>
                  <a:srgbClr val="FFC62E"/>
                </a:solidFill>
                <a:latin typeface="Arial" pitchFamily="34" charset="0"/>
                <a:ea typeface="Arial" pitchFamily="34" charset="-122"/>
                <a:cs typeface="Arial" pitchFamily="34" charset="-120"/>
              </a:rPr>
              <a:t>01</a:t>
            </a:r>
            <a:endParaRPr lang="en-US" sz="1000" dirty="0"/>
          </a:p>
        </p:txBody>
      </p:sp>
      <p:sp>
        <p:nvSpPr>
          <p:cNvPr id="21" name="Text 18"/>
          <p:cNvSpPr txBox="1"/>
          <p:nvPr/>
        </p:nvSpPr>
        <p:spPr>
          <a:xfrm>
            <a:off x="5605272" y="1847088"/>
            <a:ext cx="2697480" cy="347472"/>
          </a:xfrm>
          <a:prstGeom prst="rect">
            <a:avLst/>
          </a:prstGeom>
          <a:noFill/>
          <a:ln/>
        </p:spPr>
        <p:txBody>
          <a:bodyPr wrap="square" lIns="0" tIns="0" rIns="0" bIns="0" rtlCol="0" anchor="ctr"/>
          <a:lstStyle/>
          <a:p>
            <a:pPr indent="0" marL="0">
              <a:buNone/>
            </a:pPr>
            <a:r>
              <a:rPr lang="en-US" sz="1200" b="1" dirty="0">
                <a:solidFill>
                  <a:srgbClr val="141210"/>
                </a:solidFill>
                <a:latin typeface="Yu Gothic" pitchFamily="34" charset="0"/>
                <a:ea typeface="Yu Gothic" pitchFamily="34" charset="-122"/>
                <a:cs typeface="Yu Gothic" pitchFamily="34" charset="-120"/>
              </a:rPr>
              <a:t>お手本 10,000本以上</a:t>
            </a:r>
            <a:endParaRPr lang="en-US" sz="1200" dirty="0"/>
          </a:p>
        </p:txBody>
      </p:sp>
      <p:sp>
        <p:nvSpPr>
          <p:cNvPr id="22" name="Text 19"/>
          <p:cNvSpPr txBox="1"/>
          <p:nvPr/>
        </p:nvSpPr>
        <p:spPr>
          <a:xfrm>
            <a:off x="5184648" y="2249424"/>
            <a:ext cx="3063240" cy="685800"/>
          </a:xfrm>
          <a:prstGeom prst="rect">
            <a:avLst/>
          </a:prstGeom>
          <a:noFill/>
          <a:ln/>
        </p:spPr>
        <p:txBody>
          <a:bodyPr wrap="square" lIns="0" tIns="0" rIns="0" bIns="0" rtlCol="0" anchor="ctr"/>
          <a:lstStyle/>
          <a:p>
            <a:pPr indent="0" marL="0">
              <a:lnSpc>
                <a:spcPts val="1350"/>
              </a:lnSpc>
              <a:buNone/>
            </a:pPr>
            <a:r>
              <a:rPr lang="en-US" sz="950" dirty="0">
                <a:solidFill>
                  <a:srgbClr val="4A3F1E"/>
                </a:solidFill>
                <a:latin typeface="Yu Gothic" pitchFamily="34" charset="0"/>
                <a:ea typeface="Yu Gothic" pitchFamily="34" charset="-122"/>
                <a:cs typeface="Yu Gothic" pitchFamily="34" charset="-120"/>
              </a:rPr>
              <a:t>毎週自動で取り込み・AI審査。常に最新の「いま伸びている動画」が見られます</a:t>
            </a:r>
            <a:endParaRPr lang="en-US" sz="950" dirty="0"/>
          </a:p>
        </p:txBody>
      </p:sp>
      <p:sp>
        <p:nvSpPr>
          <p:cNvPr id="23" name="Shape 20"/>
          <p:cNvSpPr/>
          <p:nvPr/>
        </p:nvSpPr>
        <p:spPr>
          <a:xfrm>
            <a:off x="5166360" y="3035808"/>
            <a:ext cx="3108960" cy="0"/>
          </a:xfrm>
          <a:prstGeom prst="line">
            <a:avLst/>
          </a:prstGeom>
          <a:noFill/>
          <a:ln w="12700">
            <a:solidFill>
              <a:srgbClr val="141210"/>
            </a:solidFill>
            <a:prstDash val="solid"/>
          </a:ln>
        </p:spPr>
      </p:sp>
      <p:sp>
        <p:nvSpPr>
          <p:cNvPr id="24" name="Shape 21"/>
          <p:cNvSpPr/>
          <p:nvPr/>
        </p:nvSpPr>
        <p:spPr>
          <a:xfrm>
            <a:off x="8458200" y="1847088"/>
            <a:ext cx="329184" cy="329184"/>
          </a:xfrm>
          <a:prstGeom prst="hexagon">
            <a:avLst/>
          </a:prstGeom>
          <a:solidFill>
            <a:srgbClr val="141210"/>
          </a:solidFill>
          <a:ln/>
        </p:spPr>
      </p:sp>
      <p:sp>
        <p:nvSpPr>
          <p:cNvPr id="25" name="Text 22"/>
          <p:cNvSpPr txBox="1"/>
          <p:nvPr/>
        </p:nvSpPr>
        <p:spPr>
          <a:xfrm>
            <a:off x="8458200" y="1897380"/>
            <a:ext cx="329184" cy="237744"/>
          </a:xfrm>
          <a:prstGeom prst="rect">
            <a:avLst/>
          </a:prstGeom>
          <a:noFill/>
          <a:ln/>
        </p:spPr>
        <p:txBody>
          <a:bodyPr wrap="square" lIns="0" tIns="0" rIns="0" bIns="0" rtlCol="0" anchor="ctr"/>
          <a:lstStyle/>
          <a:p>
            <a:pPr algn="ctr" indent="0" marL="0">
              <a:buNone/>
            </a:pPr>
            <a:r>
              <a:rPr lang="en-US" sz="1000" b="1" dirty="0">
                <a:solidFill>
                  <a:srgbClr val="FFC62E"/>
                </a:solidFill>
                <a:latin typeface="Arial" pitchFamily="34" charset="0"/>
                <a:ea typeface="Arial" pitchFamily="34" charset="-122"/>
                <a:cs typeface="Arial" pitchFamily="34" charset="-120"/>
              </a:rPr>
              <a:t>02</a:t>
            </a:r>
            <a:endParaRPr lang="en-US" sz="1000" dirty="0"/>
          </a:p>
        </p:txBody>
      </p:sp>
      <p:sp>
        <p:nvSpPr>
          <p:cNvPr id="26" name="Text 23"/>
          <p:cNvSpPr txBox="1"/>
          <p:nvPr/>
        </p:nvSpPr>
        <p:spPr>
          <a:xfrm>
            <a:off x="8897112" y="1847088"/>
            <a:ext cx="2697480" cy="347472"/>
          </a:xfrm>
          <a:prstGeom prst="rect">
            <a:avLst/>
          </a:prstGeom>
          <a:noFill/>
          <a:ln/>
        </p:spPr>
        <p:txBody>
          <a:bodyPr wrap="square" lIns="0" tIns="0" rIns="0" bIns="0" rtlCol="0" anchor="ctr"/>
          <a:lstStyle/>
          <a:p>
            <a:pPr indent="0" marL="0">
              <a:buNone/>
            </a:pPr>
            <a:r>
              <a:rPr lang="en-US" sz="1200" b="1" dirty="0">
                <a:solidFill>
                  <a:srgbClr val="141210"/>
                </a:solidFill>
                <a:latin typeface="Yu Gothic" pitchFamily="34" charset="0"/>
                <a:ea typeface="Yu Gothic" pitchFamily="34" charset="-122"/>
                <a:cs typeface="Yu Gothic" pitchFamily="34" charset="-120"/>
              </a:rPr>
              <a:t>動画分析</a:t>
            </a:r>
            <a:endParaRPr lang="en-US" sz="1200" dirty="0"/>
          </a:p>
        </p:txBody>
      </p:sp>
      <p:sp>
        <p:nvSpPr>
          <p:cNvPr id="27" name="Text 24"/>
          <p:cNvSpPr txBox="1"/>
          <p:nvPr/>
        </p:nvSpPr>
        <p:spPr>
          <a:xfrm>
            <a:off x="8476488" y="2249424"/>
            <a:ext cx="3063240" cy="685800"/>
          </a:xfrm>
          <a:prstGeom prst="rect">
            <a:avLst/>
          </a:prstGeom>
          <a:noFill/>
          <a:ln/>
        </p:spPr>
        <p:txBody>
          <a:bodyPr wrap="square" lIns="0" tIns="0" rIns="0" bIns="0" rtlCol="0" anchor="ctr"/>
          <a:lstStyle/>
          <a:p>
            <a:pPr indent="0" marL="0">
              <a:lnSpc>
                <a:spcPts val="1350"/>
              </a:lnSpc>
              <a:buNone/>
            </a:pPr>
            <a:r>
              <a:rPr lang="en-US" sz="950" dirty="0">
                <a:solidFill>
                  <a:srgbClr val="4A3F1E"/>
                </a:solidFill>
                <a:latin typeface="Yu Gothic" pitchFamily="34" charset="0"/>
                <a:ea typeface="Yu Gothic" pitchFamily="34" charset="-122"/>
                <a:cs typeface="Yu Gothic" pitchFamily="34" charset="-120"/>
              </a:rPr>
              <a:t>動画URLを貼るだけで、伸びる要素をAIがレポート</a:t>
            </a:r>
            <a:endParaRPr lang="en-US" sz="950" dirty="0"/>
          </a:p>
        </p:txBody>
      </p:sp>
      <p:sp>
        <p:nvSpPr>
          <p:cNvPr id="28" name="Shape 25"/>
          <p:cNvSpPr/>
          <p:nvPr/>
        </p:nvSpPr>
        <p:spPr>
          <a:xfrm>
            <a:off x="8458200" y="3035808"/>
            <a:ext cx="3108960" cy="0"/>
          </a:xfrm>
          <a:prstGeom prst="line">
            <a:avLst/>
          </a:prstGeom>
          <a:noFill/>
          <a:ln w="12700">
            <a:solidFill>
              <a:srgbClr val="141210"/>
            </a:solidFill>
            <a:prstDash val="solid"/>
          </a:ln>
        </p:spPr>
      </p:sp>
      <p:sp>
        <p:nvSpPr>
          <p:cNvPr id="29" name="Shape 26"/>
          <p:cNvSpPr/>
          <p:nvPr/>
        </p:nvSpPr>
        <p:spPr>
          <a:xfrm>
            <a:off x="5166360" y="3264408"/>
            <a:ext cx="329184" cy="329184"/>
          </a:xfrm>
          <a:prstGeom prst="hexagon">
            <a:avLst/>
          </a:prstGeom>
          <a:solidFill>
            <a:srgbClr val="141210"/>
          </a:solidFill>
          <a:ln/>
        </p:spPr>
      </p:sp>
      <p:sp>
        <p:nvSpPr>
          <p:cNvPr id="30" name="Text 27"/>
          <p:cNvSpPr txBox="1"/>
          <p:nvPr/>
        </p:nvSpPr>
        <p:spPr>
          <a:xfrm>
            <a:off x="5166360" y="3314700"/>
            <a:ext cx="329184" cy="237744"/>
          </a:xfrm>
          <a:prstGeom prst="rect">
            <a:avLst/>
          </a:prstGeom>
          <a:noFill/>
          <a:ln/>
        </p:spPr>
        <p:txBody>
          <a:bodyPr wrap="square" lIns="0" tIns="0" rIns="0" bIns="0" rtlCol="0" anchor="ctr"/>
          <a:lstStyle/>
          <a:p>
            <a:pPr algn="ctr" indent="0" marL="0">
              <a:buNone/>
            </a:pPr>
            <a:r>
              <a:rPr lang="en-US" sz="1000" b="1" dirty="0">
                <a:solidFill>
                  <a:srgbClr val="FFC62E"/>
                </a:solidFill>
                <a:latin typeface="Arial" pitchFamily="34" charset="0"/>
                <a:ea typeface="Arial" pitchFamily="34" charset="-122"/>
                <a:cs typeface="Arial" pitchFamily="34" charset="-120"/>
              </a:rPr>
              <a:t>03</a:t>
            </a:r>
            <a:endParaRPr lang="en-US" sz="1000" dirty="0"/>
          </a:p>
        </p:txBody>
      </p:sp>
      <p:sp>
        <p:nvSpPr>
          <p:cNvPr id="31" name="Text 28"/>
          <p:cNvSpPr txBox="1"/>
          <p:nvPr/>
        </p:nvSpPr>
        <p:spPr>
          <a:xfrm>
            <a:off x="5605272" y="3264408"/>
            <a:ext cx="2697480" cy="347472"/>
          </a:xfrm>
          <a:prstGeom prst="rect">
            <a:avLst/>
          </a:prstGeom>
          <a:noFill/>
          <a:ln/>
        </p:spPr>
        <p:txBody>
          <a:bodyPr wrap="square" lIns="0" tIns="0" rIns="0" bIns="0" rtlCol="0" anchor="ctr"/>
          <a:lstStyle/>
          <a:p>
            <a:pPr indent="0" marL="0">
              <a:buNone/>
            </a:pPr>
            <a:r>
              <a:rPr lang="en-US" sz="1200" b="1" dirty="0">
                <a:solidFill>
                  <a:srgbClr val="141210"/>
                </a:solidFill>
                <a:latin typeface="Yu Gothic" pitchFamily="34" charset="0"/>
                <a:ea typeface="Yu Gothic" pitchFamily="34" charset="-122"/>
                <a:cs typeface="Yu Gothic" pitchFamily="34" charset="-120"/>
              </a:rPr>
              <a:t>秒数指定の手直し</a:t>
            </a:r>
            <a:endParaRPr lang="en-US" sz="1200" dirty="0"/>
          </a:p>
        </p:txBody>
      </p:sp>
      <p:sp>
        <p:nvSpPr>
          <p:cNvPr id="32" name="Text 29"/>
          <p:cNvSpPr txBox="1"/>
          <p:nvPr/>
        </p:nvSpPr>
        <p:spPr>
          <a:xfrm>
            <a:off x="5184648" y="3666744"/>
            <a:ext cx="3063240" cy="685800"/>
          </a:xfrm>
          <a:prstGeom prst="rect">
            <a:avLst/>
          </a:prstGeom>
          <a:noFill/>
          <a:ln/>
        </p:spPr>
        <p:txBody>
          <a:bodyPr wrap="square" lIns="0" tIns="0" rIns="0" bIns="0" rtlCol="0" anchor="ctr"/>
          <a:lstStyle/>
          <a:p>
            <a:pPr indent="0" marL="0">
              <a:lnSpc>
                <a:spcPts val="1350"/>
              </a:lnSpc>
              <a:buNone/>
            </a:pPr>
            <a:r>
              <a:rPr lang="en-US" sz="950" dirty="0">
                <a:solidFill>
                  <a:srgbClr val="4A3F1E"/>
                </a:solidFill>
                <a:latin typeface="Yu Gothic" pitchFamily="34" charset="0"/>
                <a:ea typeface="Yu Gothic" pitchFamily="34" charset="-122"/>
                <a:cs typeface="Yu Gothic" pitchFamily="34" charset="-120"/>
              </a:rPr>
              <a:t>「0:23のテロップを大きく」と伝えるだけ。納品後の手直しは2回までOK</a:t>
            </a:r>
            <a:endParaRPr lang="en-US" sz="950" dirty="0"/>
          </a:p>
        </p:txBody>
      </p:sp>
      <p:sp>
        <p:nvSpPr>
          <p:cNvPr id="33" name="Shape 30"/>
          <p:cNvSpPr/>
          <p:nvPr/>
        </p:nvSpPr>
        <p:spPr>
          <a:xfrm>
            <a:off x="5166360" y="4453128"/>
            <a:ext cx="3108960" cy="0"/>
          </a:xfrm>
          <a:prstGeom prst="line">
            <a:avLst/>
          </a:prstGeom>
          <a:noFill/>
          <a:ln w="12700">
            <a:solidFill>
              <a:srgbClr val="141210"/>
            </a:solidFill>
            <a:prstDash val="solid"/>
          </a:ln>
        </p:spPr>
      </p:sp>
      <p:sp>
        <p:nvSpPr>
          <p:cNvPr id="34" name="Shape 31"/>
          <p:cNvSpPr/>
          <p:nvPr/>
        </p:nvSpPr>
        <p:spPr>
          <a:xfrm>
            <a:off x="8458200" y="3264408"/>
            <a:ext cx="329184" cy="329184"/>
          </a:xfrm>
          <a:prstGeom prst="hexagon">
            <a:avLst/>
          </a:prstGeom>
          <a:solidFill>
            <a:srgbClr val="141210"/>
          </a:solidFill>
          <a:ln/>
        </p:spPr>
      </p:sp>
      <p:sp>
        <p:nvSpPr>
          <p:cNvPr id="35" name="Text 32"/>
          <p:cNvSpPr txBox="1"/>
          <p:nvPr/>
        </p:nvSpPr>
        <p:spPr>
          <a:xfrm>
            <a:off x="8458200" y="3314700"/>
            <a:ext cx="329184" cy="237744"/>
          </a:xfrm>
          <a:prstGeom prst="rect">
            <a:avLst/>
          </a:prstGeom>
          <a:noFill/>
          <a:ln/>
        </p:spPr>
        <p:txBody>
          <a:bodyPr wrap="square" lIns="0" tIns="0" rIns="0" bIns="0" rtlCol="0" anchor="ctr"/>
          <a:lstStyle/>
          <a:p>
            <a:pPr algn="ctr" indent="0" marL="0">
              <a:buNone/>
            </a:pPr>
            <a:r>
              <a:rPr lang="en-US" sz="1000" b="1" dirty="0">
                <a:solidFill>
                  <a:srgbClr val="FFC62E"/>
                </a:solidFill>
                <a:latin typeface="Arial" pitchFamily="34" charset="0"/>
                <a:ea typeface="Arial" pitchFamily="34" charset="-122"/>
                <a:cs typeface="Arial" pitchFamily="34" charset="-120"/>
              </a:rPr>
              <a:t>04</a:t>
            </a:r>
            <a:endParaRPr lang="en-US" sz="1000" dirty="0"/>
          </a:p>
        </p:txBody>
      </p:sp>
      <p:sp>
        <p:nvSpPr>
          <p:cNvPr id="36" name="Text 33"/>
          <p:cNvSpPr txBox="1"/>
          <p:nvPr/>
        </p:nvSpPr>
        <p:spPr>
          <a:xfrm>
            <a:off x="8897112" y="3264408"/>
            <a:ext cx="2697480" cy="347472"/>
          </a:xfrm>
          <a:prstGeom prst="rect">
            <a:avLst/>
          </a:prstGeom>
          <a:noFill/>
          <a:ln/>
        </p:spPr>
        <p:txBody>
          <a:bodyPr wrap="square" lIns="0" tIns="0" rIns="0" bIns="0" rtlCol="0" anchor="ctr"/>
          <a:lstStyle/>
          <a:p>
            <a:pPr indent="0" marL="0">
              <a:buNone/>
            </a:pPr>
            <a:r>
              <a:rPr lang="en-US" sz="1200" b="1" dirty="0">
                <a:solidFill>
                  <a:srgbClr val="141210"/>
                </a:solidFill>
                <a:latin typeface="Yu Gothic" pitchFamily="34" charset="0"/>
                <a:ea typeface="Yu Gothic" pitchFamily="34" charset="-122"/>
                <a:cs typeface="Yu Gothic" pitchFamily="34" charset="-120"/>
              </a:rPr>
              <a:t>テレアポ台本もAIで</a:t>
            </a:r>
            <a:endParaRPr lang="en-US" sz="1200" dirty="0"/>
          </a:p>
        </p:txBody>
      </p:sp>
      <p:sp>
        <p:nvSpPr>
          <p:cNvPr id="37" name="Text 34"/>
          <p:cNvSpPr txBox="1"/>
          <p:nvPr/>
        </p:nvSpPr>
        <p:spPr>
          <a:xfrm>
            <a:off x="8476488" y="3666744"/>
            <a:ext cx="3063240" cy="685800"/>
          </a:xfrm>
          <a:prstGeom prst="rect">
            <a:avLst/>
          </a:prstGeom>
          <a:noFill/>
          <a:ln/>
        </p:spPr>
        <p:txBody>
          <a:bodyPr wrap="square" lIns="0" tIns="0" rIns="0" bIns="0" rtlCol="0" anchor="ctr"/>
          <a:lstStyle/>
          <a:p>
            <a:pPr indent="0" marL="0">
              <a:lnSpc>
                <a:spcPts val="1350"/>
              </a:lnSpc>
              <a:buNone/>
            </a:pPr>
            <a:r>
              <a:rPr lang="en-US" sz="950" dirty="0">
                <a:solidFill>
                  <a:srgbClr val="4A3F1E"/>
                </a:solidFill>
                <a:latin typeface="Yu Gothic" pitchFamily="34" charset="0"/>
                <a:ea typeface="Yu Gothic" pitchFamily="34" charset="-122"/>
                <a:cs typeface="Yu Gothic" pitchFamily="34" charset="-120"/>
              </a:rPr>
              <a:t>業種に合わせたトークスクリプトを自動作成</a:t>
            </a:r>
            <a:endParaRPr lang="en-US" sz="950" dirty="0"/>
          </a:p>
        </p:txBody>
      </p:sp>
      <p:sp>
        <p:nvSpPr>
          <p:cNvPr id="38" name="Shape 35"/>
          <p:cNvSpPr/>
          <p:nvPr/>
        </p:nvSpPr>
        <p:spPr>
          <a:xfrm>
            <a:off x="8458200" y="4453128"/>
            <a:ext cx="3108960" cy="0"/>
          </a:xfrm>
          <a:prstGeom prst="line">
            <a:avLst/>
          </a:prstGeom>
          <a:noFill/>
          <a:ln w="12700">
            <a:solidFill>
              <a:srgbClr val="141210"/>
            </a:solidFill>
            <a:prstDash val="solid"/>
          </a:ln>
        </p:spPr>
      </p:sp>
      <p:sp>
        <p:nvSpPr>
          <p:cNvPr id="39" name="Shape 36"/>
          <p:cNvSpPr/>
          <p:nvPr/>
        </p:nvSpPr>
        <p:spPr>
          <a:xfrm>
            <a:off x="5166360" y="4681728"/>
            <a:ext cx="329184" cy="329184"/>
          </a:xfrm>
          <a:prstGeom prst="hexagon">
            <a:avLst/>
          </a:prstGeom>
          <a:solidFill>
            <a:srgbClr val="141210"/>
          </a:solidFill>
          <a:ln/>
        </p:spPr>
      </p:sp>
      <p:sp>
        <p:nvSpPr>
          <p:cNvPr id="40" name="Text 37"/>
          <p:cNvSpPr txBox="1"/>
          <p:nvPr/>
        </p:nvSpPr>
        <p:spPr>
          <a:xfrm>
            <a:off x="5166360" y="4732020"/>
            <a:ext cx="329184" cy="237744"/>
          </a:xfrm>
          <a:prstGeom prst="rect">
            <a:avLst/>
          </a:prstGeom>
          <a:noFill/>
          <a:ln/>
        </p:spPr>
        <p:txBody>
          <a:bodyPr wrap="square" lIns="0" tIns="0" rIns="0" bIns="0" rtlCol="0" anchor="ctr"/>
          <a:lstStyle/>
          <a:p>
            <a:pPr algn="ctr" indent="0" marL="0">
              <a:buNone/>
            </a:pPr>
            <a:r>
              <a:rPr lang="en-US" sz="1000" b="1" dirty="0">
                <a:solidFill>
                  <a:srgbClr val="FFC62E"/>
                </a:solidFill>
                <a:latin typeface="Arial" pitchFamily="34" charset="0"/>
                <a:ea typeface="Arial" pitchFamily="34" charset="-122"/>
                <a:cs typeface="Arial" pitchFamily="34" charset="-120"/>
              </a:rPr>
              <a:t>05</a:t>
            </a:r>
            <a:endParaRPr lang="en-US" sz="1000" dirty="0"/>
          </a:p>
        </p:txBody>
      </p:sp>
      <p:sp>
        <p:nvSpPr>
          <p:cNvPr id="41" name="Text 38"/>
          <p:cNvSpPr txBox="1"/>
          <p:nvPr/>
        </p:nvSpPr>
        <p:spPr>
          <a:xfrm>
            <a:off x="5605272" y="4681728"/>
            <a:ext cx="2697480" cy="347472"/>
          </a:xfrm>
          <a:prstGeom prst="rect">
            <a:avLst/>
          </a:prstGeom>
          <a:noFill/>
          <a:ln/>
        </p:spPr>
        <p:txBody>
          <a:bodyPr wrap="square" lIns="0" tIns="0" rIns="0" bIns="0" rtlCol="0" anchor="ctr"/>
          <a:lstStyle/>
          <a:p>
            <a:pPr indent="0" marL="0">
              <a:buNone/>
            </a:pPr>
            <a:r>
              <a:rPr lang="en-US" sz="1200" b="1" dirty="0">
                <a:solidFill>
                  <a:srgbClr val="141210"/>
                </a:solidFill>
                <a:latin typeface="Yu Gothic" pitchFamily="34" charset="0"/>
                <a:ea typeface="Yu Gothic" pitchFamily="34" charset="-122"/>
                <a:cs typeface="Yu Gothic" pitchFamily="34" charset="-120"/>
              </a:rPr>
              <a:t>月次レポート</a:t>
            </a:r>
            <a:endParaRPr lang="en-US" sz="1200" dirty="0"/>
          </a:p>
        </p:txBody>
      </p:sp>
      <p:sp>
        <p:nvSpPr>
          <p:cNvPr id="42" name="Text 39"/>
          <p:cNvSpPr txBox="1"/>
          <p:nvPr/>
        </p:nvSpPr>
        <p:spPr>
          <a:xfrm>
            <a:off x="5184648" y="5084064"/>
            <a:ext cx="3063240" cy="685800"/>
          </a:xfrm>
          <a:prstGeom prst="rect">
            <a:avLst/>
          </a:prstGeom>
          <a:noFill/>
          <a:ln/>
        </p:spPr>
        <p:txBody>
          <a:bodyPr wrap="square" lIns="0" tIns="0" rIns="0" bIns="0" rtlCol="0" anchor="ctr"/>
          <a:lstStyle/>
          <a:p>
            <a:pPr indent="0" marL="0">
              <a:lnSpc>
                <a:spcPts val="1350"/>
              </a:lnSpc>
              <a:buNone/>
            </a:pPr>
            <a:r>
              <a:rPr lang="en-US" sz="950" dirty="0">
                <a:solidFill>
                  <a:srgbClr val="4A3F1E"/>
                </a:solidFill>
                <a:latin typeface="Yu Gothic" pitchFamily="34" charset="0"/>
                <a:ea typeface="Yu Gothic" pitchFamily="34" charset="-122"/>
                <a:cs typeface="Yu Gothic" pitchFamily="34" charset="-120"/>
              </a:rPr>
              <a:t>本数・ハニー・伸びを毎月自動集計。報告にそのまま使える</a:t>
            </a:r>
            <a:endParaRPr lang="en-US" sz="950" dirty="0"/>
          </a:p>
        </p:txBody>
      </p:sp>
      <p:sp>
        <p:nvSpPr>
          <p:cNvPr id="43" name="Shape 40"/>
          <p:cNvSpPr/>
          <p:nvPr/>
        </p:nvSpPr>
        <p:spPr>
          <a:xfrm>
            <a:off x="5166360" y="5870448"/>
            <a:ext cx="3108960" cy="0"/>
          </a:xfrm>
          <a:prstGeom prst="line">
            <a:avLst/>
          </a:prstGeom>
          <a:noFill/>
          <a:ln w="12700">
            <a:solidFill>
              <a:srgbClr val="141210"/>
            </a:solidFill>
            <a:prstDash val="solid"/>
          </a:ln>
        </p:spPr>
      </p:sp>
      <p:sp>
        <p:nvSpPr>
          <p:cNvPr id="44" name="Shape 41"/>
          <p:cNvSpPr/>
          <p:nvPr/>
        </p:nvSpPr>
        <p:spPr>
          <a:xfrm>
            <a:off x="8458200" y="4681728"/>
            <a:ext cx="329184" cy="329184"/>
          </a:xfrm>
          <a:prstGeom prst="hexagon">
            <a:avLst/>
          </a:prstGeom>
          <a:solidFill>
            <a:srgbClr val="141210"/>
          </a:solidFill>
          <a:ln/>
        </p:spPr>
      </p:sp>
      <p:sp>
        <p:nvSpPr>
          <p:cNvPr id="45" name="Text 42"/>
          <p:cNvSpPr txBox="1"/>
          <p:nvPr/>
        </p:nvSpPr>
        <p:spPr>
          <a:xfrm>
            <a:off x="8458200" y="4732020"/>
            <a:ext cx="329184" cy="237744"/>
          </a:xfrm>
          <a:prstGeom prst="rect">
            <a:avLst/>
          </a:prstGeom>
          <a:noFill/>
          <a:ln/>
        </p:spPr>
        <p:txBody>
          <a:bodyPr wrap="square" lIns="0" tIns="0" rIns="0" bIns="0" rtlCol="0" anchor="ctr"/>
          <a:lstStyle/>
          <a:p>
            <a:pPr algn="ctr" indent="0" marL="0">
              <a:buNone/>
            </a:pPr>
            <a:r>
              <a:rPr lang="en-US" sz="1000" b="1" dirty="0">
                <a:solidFill>
                  <a:srgbClr val="FFC62E"/>
                </a:solidFill>
                <a:latin typeface="Arial" pitchFamily="34" charset="0"/>
                <a:ea typeface="Arial" pitchFamily="34" charset="-122"/>
                <a:cs typeface="Arial" pitchFamily="34" charset="-120"/>
              </a:rPr>
              <a:t>06</a:t>
            </a:r>
            <a:endParaRPr lang="en-US" sz="1000" dirty="0"/>
          </a:p>
        </p:txBody>
      </p:sp>
      <p:sp>
        <p:nvSpPr>
          <p:cNvPr id="46" name="Text 43"/>
          <p:cNvSpPr txBox="1"/>
          <p:nvPr/>
        </p:nvSpPr>
        <p:spPr>
          <a:xfrm>
            <a:off x="8897112" y="4681728"/>
            <a:ext cx="2697480" cy="347472"/>
          </a:xfrm>
          <a:prstGeom prst="rect">
            <a:avLst/>
          </a:prstGeom>
          <a:noFill/>
          <a:ln/>
        </p:spPr>
        <p:txBody>
          <a:bodyPr wrap="square" lIns="0" tIns="0" rIns="0" bIns="0" rtlCol="0" anchor="ctr"/>
          <a:lstStyle/>
          <a:p>
            <a:pPr indent="0" marL="0">
              <a:buNone/>
            </a:pPr>
            <a:r>
              <a:rPr lang="en-US" sz="1200" b="1" dirty="0">
                <a:solidFill>
                  <a:srgbClr val="141210"/>
                </a:solidFill>
                <a:latin typeface="Yu Gothic" pitchFamily="34" charset="0"/>
                <a:ea typeface="Yu Gothic" pitchFamily="34" charset="-122"/>
                <a:cs typeface="Yu Gothic" pitchFamily="34" charset="-120"/>
              </a:rPr>
              <a:t>ハニー残高の見える化</a:t>
            </a:r>
            <a:endParaRPr lang="en-US" sz="1200" dirty="0"/>
          </a:p>
        </p:txBody>
      </p:sp>
      <p:sp>
        <p:nvSpPr>
          <p:cNvPr id="47" name="Text 44"/>
          <p:cNvSpPr txBox="1"/>
          <p:nvPr/>
        </p:nvSpPr>
        <p:spPr>
          <a:xfrm>
            <a:off x="8476488" y="5084064"/>
            <a:ext cx="3063240" cy="685800"/>
          </a:xfrm>
          <a:prstGeom prst="rect">
            <a:avLst/>
          </a:prstGeom>
          <a:noFill/>
          <a:ln/>
        </p:spPr>
        <p:txBody>
          <a:bodyPr wrap="square" lIns="0" tIns="0" rIns="0" bIns="0" rtlCol="0" anchor="ctr"/>
          <a:lstStyle/>
          <a:p>
            <a:pPr indent="0" marL="0">
              <a:lnSpc>
                <a:spcPts val="1350"/>
              </a:lnSpc>
              <a:buNone/>
            </a:pPr>
            <a:r>
              <a:rPr lang="en-US" sz="950" dirty="0">
                <a:solidFill>
                  <a:srgbClr val="4A3F1E"/>
                </a:solidFill>
                <a:latin typeface="Yu Gothic" pitchFamily="34" charset="0"/>
                <a:ea typeface="Yu Gothic" pitchFamily="34" charset="-122"/>
                <a:cs typeface="Yu Gothic" pitchFamily="34" charset="-120"/>
              </a:rPr>
              <a:t>繰越期限・失効予定も画面でお知らせ</a:t>
            </a:r>
            <a:endParaRPr lang="en-US" sz="950" dirty="0"/>
          </a:p>
        </p:txBody>
      </p:sp>
      <p:sp>
        <p:nvSpPr>
          <p:cNvPr id="48" name="Shape 45"/>
          <p:cNvSpPr/>
          <p:nvPr/>
        </p:nvSpPr>
        <p:spPr>
          <a:xfrm>
            <a:off x="8458200" y="5870448"/>
            <a:ext cx="3108960" cy="0"/>
          </a:xfrm>
          <a:prstGeom prst="line">
            <a:avLst/>
          </a:prstGeom>
          <a:noFill/>
          <a:ln w="12700">
            <a:solidFill>
              <a:srgbClr val="141210"/>
            </a:solidFill>
            <a:prstDash val="solid"/>
          </a:ln>
        </p:spPr>
      </p:sp>
      <p:sp>
        <p:nvSpPr>
          <p:cNvPr id="49" name="Shape 46"/>
          <p:cNvSpPr/>
          <p:nvPr/>
        </p:nvSpPr>
        <p:spPr>
          <a:xfrm>
            <a:off x="548640" y="6455664"/>
            <a:ext cx="11091672" cy="0"/>
          </a:xfrm>
          <a:prstGeom prst="line">
            <a:avLst/>
          </a:prstGeom>
          <a:noFill/>
          <a:ln w="12700">
            <a:solidFill>
              <a:srgbClr val="141210"/>
            </a:solidFill>
            <a:prstDash val="solid"/>
          </a:ln>
        </p:spPr>
      </p:sp>
      <p:sp>
        <p:nvSpPr>
          <p:cNvPr id="50" name="Text 47"/>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141210"/>
                </a:solidFill>
                <a:latin typeface="Arial" pitchFamily="34" charset="0"/>
                <a:ea typeface="Arial" pitchFamily="34" charset="-122"/>
                <a:cs typeface="Arial" pitchFamily="34" charset="-120"/>
              </a:rPr>
              <a:t>BRIDGE HATCH</a:t>
            </a:r>
            <a:endParaRPr lang="en-US" sz="850" dirty="0"/>
          </a:p>
        </p:txBody>
      </p:sp>
      <p:sp>
        <p:nvSpPr>
          <p:cNvPr id="51" name="Text 48"/>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141210"/>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210"/>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07 / </a:t>
            </a:r>
            <a:pPr indent="0" marL="0">
              <a:buNone/>
            </a:pPr>
            <a:r>
              <a:rPr lang="en-US" sz="1200" b="1" spc="300" kern="0" dirty="0">
                <a:solidFill>
                  <a:srgbClr val="FFC62E"/>
                </a:solidFill>
                <a:latin typeface="Arial" pitchFamily="34" charset="0"/>
                <a:ea typeface="Arial" pitchFamily="34" charset="-122"/>
                <a:cs typeface="Arial" pitchFamily="34" charset="-120"/>
              </a:rPr>
              <a:t>WHAT YOU GET</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FFFFFF"/>
                </a:solidFill>
                <a:latin typeface="Yu Gothic" pitchFamily="34" charset="0"/>
                <a:ea typeface="Yu Gothic" pitchFamily="34" charset="-122"/>
                <a:cs typeface="Yu Gothic" pitchFamily="34" charset="-120"/>
              </a:rPr>
              <a:t>できることを、数字でご覧ください</a:t>
            </a:r>
            <a:endParaRPr lang="en-US" sz="2600" dirty="0"/>
          </a:p>
        </p:txBody>
      </p:sp>
      <p:sp>
        <p:nvSpPr>
          <p:cNvPr id="5" name="Shape 3"/>
          <p:cNvSpPr/>
          <p:nvPr/>
        </p:nvSpPr>
        <p:spPr>
          <a:xfrm>
            <a:off x="548640" y="1389888"/>
            <a:ext cx="11091672" cy="0"/>
          </a:xfrm>
          <a:prstGeom prst="line">
            <a:avLst/>
          </a:prstGeom>
          <a:noFill/>
          <a:ln w="25400">
            <a:solidFill>
              <a:srgbClr val="FFFFFF"/>
            </a:solidFill>
            <a:prstDash val="solid"/>
          </a:ln>
        </p:spPr>
      </p:sp>
      <p:sp>
        <p:nvSpPr>
          <p:cNvPr id="6" name="Shape 4"/>
          <p:cNvSpPr/>
          <p:nvPr/>
        </p:nvSpPr>
        <p:spPr>
          <a:xfrm>
            <a:off x="640080" y="1965960"/>
            <a:ext cx="384048" cy="91440"/>
          </a:xfrm>
          <a:prstGeom prst="rect">
            <a:avLst/>
          </a:prstGeom>
          <a:solidFill>
            <a:srgbClr val="FFC62E"/>
          </a:solidFill>
          <a:ln/>
        </p:spPr>
      </p:sp>
      <p:sp>
        <p:nvSpPr>
          <p:cNvPr id="7" name="Text 5"/>
          <p:cNvSpPr txBox="1"/>
          <p:nvPr/>
        </p:nvSpPr>
        <p:spPr>
          <a:xfrm>
            <a:off x="640080" y="2167128"/>
            <a:ext cx="3474720" cy="320040"/>
          </a:xfrm>
          <a:prstGeom prst="rect">
            <a:avLst/>
          </a:prstGeom>
          <a:noFill/>
          <a:ln/>
        </p:spPr>
        <p:txBody>
          <a:bodyPr wrap="square" lIns="0" tIns="0" rIns="0" bIns="0" rtlCol="0" anchor="ctr"/>
          <a:lstStyle/>
          <a:p>
            <a:pPr indent="0" marL="0">
              <a:buNone/>
            </a:pPr>
            <a:r>
              <a:rPr lang="en-US" sz="1200" dirty="0">
                <a:solidFill>
                  <a:srgbClr val="B8B0A0"/>
                </a:solidFill>
                <a:latin typeface="Yu Gothic" pitchFamily="34" charset="0"/>
                <a:ea typeface="Yu Gothic" pitchFamily="34" charset="-122"/>
                <a:cs typeface="Yu Gothic" pitchFamily="34" charset="-120"/>
              </a:rPr>
              <a:t>2年で積み上がる動画</a:t>
            </a:r>
            <a:endParaRPr lang="en-US" sz="1200" dirty="0"/>
          </a:p>
        </p:txBody>
      </p:sp>
      <p:sp>
        <p:nvSpPr>
          <p:cNvPr id="8" name="Text 6"/>
          <p:cNvSpPr txBox="1"/>
          <p:nvPr/>
        </p:nvSpPr>
        <p:spPr>
          <a:xfrm>
            <a:off x="640080" y="2441448"/>
            <a:ext cx="3657600" cy="1005840"/>
          </a:xfrm>
          <a:prstGeom prst="rect">
            <a:avLst/>
          </a:prstGeom>
          <a:noFill/>
          <a:ln/>
        </p:spPr>
        <p:txBody>
          <a:bodyPr wrap="square" lIns="0" tIns="0" rIns="0" bIns="0" rtlCol="0" anchor="ctr"/>
          <a:lstStyle/>
          <a:p>
            <a:pPr indent="0" marL="0">
              <a:buNone/>
            </a:pPr>
            <a:r>
              <a:rPr lang="en-US" sz="5200" dirty="0">
                <a:solidFill>
                  <a:srgbClr val="FFC62E"/>
                </a:solidFill>
                <a:latin typeface="Arial Black" pitchFamily="34" charset="0"/>
                <a:ea typeface="Arial Black" pitchFamily="34" charset="-122"/>
                <a:cs typeface="Arial Black" pitchFamily="34" charset="-120"/>
              </a:rPr>
              <a:t>480</a:t>
            </a:r>
            <a:pPr indent="0" marL="0">
              <a:buNone/>
            </a:pPr>
            <a:r>
              <a:rPr lang="en-US" sz="1700" b="1" dirty="0">
                <a:solidFill>
                  <a:srgbClr val="B8B0A0"/>
                </a:solidFill>
                <a:latin typeface="Yu Gothic" pitchFamily="34" charset="0"/>
                <a:ea typeface="Yu Gothic" pitchFamily="34" charset="-122"/>
                <a:cs typeface="Yu Gothic" pitchFamily="34" charset="-120"/>
              </a:rPr>
              <a:t> 本</a:t>
            </a:r>
            <a:endParaRPr lang="en-US" sz="5200" dirty="0"/>
          </a:p>
        </p:txBody>
      </p:sp>
      <p:sp>
        <p:nvSpPr>
          <p:cNvPr id="9" name="Shape 7"/>
          <p:cNvSpPr/>
          <p:nvPr/>
        </p:nvSpPr>
        <p:spPr>
          <a:xfrm>
            <a:off x="4434840" y="1965960"/>
            <a:ext cx="384048" cy="91440"/>
          </a:xfrm>
          <a:prstGeom prst="rect">
            <a:avLst/>
          </a:prstGeom>
          <a:solidFill>
            <a:srgbClr val="FFC62E"/>
          </a:solidFill>
          <a:ln/>
        </p:spPr>
      </p:sp>
      <p:sp>
        <p:nvSpPr>
          <p:cNvPr id="10" name="Text 8"/>
          <p:cNvSpPr txBox="1"/>
          <p:nvPr/>
        </p:nvSpPr>
        <p:spPr>
          <a:xfrm>
            <a:off x="4434840" y="2167128"/>
            <a:ext cx="3474720" cy="320040"/>
          </a:xfrm>
          <a:prstGeom prst="rect">
            <a:avLst/>
          </a:prstGeom>
          <a:noFill/>
          <a:ln/>
        </p:spPr>
        <p:txBody>
          <a:bodyPr wrap="square" lIns="0" tIns="0" rIns="0" bIns="0" rtlCol="0" anchor="ctr"/>
          <a:lstStyle/>
          <a:p>
            <a:pPr indent="0" marL="0">
              <a:buNone/>
            </a:pPr>
            <a:r>
              <a:rPr lang="en-US" sz="1200" dirty="0">
                <a:solidFill>
                  <a:srgbClr val="B8B0A0"/>
                </a:solidFill>
                <a:latin typeface="Yu Gothic" pitchFamily="34" charset="0"/>
                <a:ea typeface="Yu Gothic" pitchFamily="34" charset="-122"/>
                <a:cs typeface="Yu Gothic" pitchFamily="34" charset="-120"/>
              </a:rPr>
              <a:t>巣から選べるメニュー</a:t>
            </a:r>
            <a:endParaRPr lang="en-US" sz="1200" dirty="0"/>
          </a:p>
        </p:txBody>
      </p:sp>
      <p:sp>
        <p:nvSpPr>
          <p:cNvPr id="11" name="Text 9"/>
          <p:cNvSpPr txBox="1"/>
          <p:nvPr/>
        </p:nvSpPr>
        <p:spPr>
          <a:xfrm>
            <a:off x="4434840" y="2441448"/>
            <a:ext cx="3657600" cy="1005840"/>
          </a:xfrm>
          <a:prstGeom prst="rect">
            <a:avLst/>
          </a:prstGeom>
          <a:noFill/>
          <a:ln/>
        </p:spPr>
        <p:txBody>
          <a:bodyPr wrap="square" lIns="0" tIns="0" rIns="0" bIns="0" rtlCol="0" anchor="ctr"/>
          <a:lstStyle/>
          <a:p>
            <a:pPr indent="0" marL="0">
              <a:buNone/>
            </a:pPr>
            <a:r>
              <a:rPr lang="en-US" sz="5200" dirty="0">
                <a:solidFill>
                  <a:srgbClr val="FFFFFF"/>
                </a:solidFill>
                <a:latin typeface="Arial Black" pitchFamily="34" charset="0"/>
                <a:ea typeface="Arial Black" pitchFamily="34" charset="-122"/>
                <a:cs typeface="Arial Black" pitchFamily="34" charset="-120"/>
              </a:rPr>
              <a:t>18</a:t>
            </a:r>
            <a:pPr indent="0" marL="0">
              <a:buNone/>
            </a:pPr>
            <a:r>
              <a:rPr lang="en-US" sz="1700" b="1" dirty="0">
                <a:solidFill>
                  <a:srgbClr val="B8B0A0"/>
                </a:solidFill>
                <a:latin typeface="Yu Gothic" pitchFamily="34" charset="0"/>
                <a:ea typeface="Yu Gothic" pitchFamily="34" charset="-122"/>
                <a:cs typeface="Yu Gothic" pitchFamily="34" charset="-120"/>
              </a:rPr>
              <a:t> 種類</a:t>
            </a:r>
            <a:endParaRPr lang="en-US" sz="5200" dirty="0"/>
          </a:p>
        </p:txBody>
      </p:sp>
      <p:sp>
        <p:nvSpPr>
          <p:cNvPr id="12" name="Shape 10"/>
          <p:cNvSpPr/>
          <p:nvPr/>
        </p:nvSpPr>
        <p:spPr>
          <a:xfrm>
            <a:off x="4178808" y="2011680"/>
            <a:ext cx="0" cy="1508760"/>
          </a:xfrm>
          <a:prstGeom prst="line">
            <a:avLst/>
          </a:prstGeom>
          <a:noFill/>
          <a:ln w="12700">
            <a:solidFill>
              <a:srgbClr val="3A352C"/>
            </a:solidFill>
            <a:prstDash val="solid"/>
          </a:ln>
        </p:spPr>
      </p:sp>
      <p:sp>
        <p:nvSpPr>
          <p:cNvPr id="13" name="Shape 11"/>
          <p:cNvSpPr/>
          <p:nvPr/>
        </p:nvSpPr>
        <p:spPr>
          <a:xfrm>
            <a:off x="8229600" y="1965960"/>
            <a:ext cx="384048" cy="91440"/>
          </a:xfrm>
          <a:prstGeom prst="rect">
            <a:avLst/>
          </a:prstGeom>
          <a:solidFill>
            <a:srgbClr val="FFC62E"/>
          </a:solidFill>
          <a:ln/>
        </p:spPr>
      </p:sp>
      <p:sp>
        <p:nvSpPr>
          <p:cNvPr id="14" name="Text 12"/>
          <p:cNvSpPr txBox="1"/>
          <p:nvPr/>
        </p:nvSpPr>
        <p:spPr>
          <a:xfrm>
            <a:off x="8229600" y="2167128"/>
            <a:ext cx="3474720" cy="320040"/>
          </a:xfrm>
          <a:prstGeom prst="rect">
            <a:avLst/>
          </a:prstGeom>
          <a:noFill/>
          <a:ln/>
        </p:spPr>
        <p:txBody>
          <a:bodyPr wrap="square" lIns="0" tIns="0" rIns="0" bIns="0" rtlCol="0" anchor="ctr"/>
          <a:lstStyle/>
          <a:p>
            <a:pPr indent="0" marL="0">
              <a:buNone/>
            </a:pPr>
            <a:r>
              <a:rPr lang="en-US" sz="1200" dirty="0">
                <a:solidFill>
                  <a:srgbClr val="B8B0A0"/>
                </a:solidFill>
                <a:latin typeface="Yu Gothic" pitchFamily="34" charset="0"/>
                <a:ea typeface="Yu Gothic" pitchFamily="34" charset="-122"/>
                <a:cs typeface="Yu Gothic" pitchFamily="34" charset="-120"/>
              </a:rPr>
              <a:t>お手本DB（毎週自動更新・常に最新）</a:t>
            </a:r>
            <a:endParaRPr lang="en-US" sz="1200" dirty="0"/>
          </a:p>
        </p:txBody>
      </p:sp>
      <p:sp>
        <p:nvSpPr>
          <p:cNvPr id="15" name="Text 13"/>
          <p:cNvSpPr txBox="1"/>
          <p:nvPr/>
        </p:nvSpPr>
        <p:spPr>
          <a:xfrm>
            <a:off x="8229600" y="2441448"/>
            <a:ext cx="3657600" cy="1005840"/>
          </a:xfrm>
          <a:prstGeom prst="rect">
            <a:avLst/>
          </a:prstGeom>
          <a:noFill/>
          <a:ln/>
        </p:spPr>
        <p:txBody>
          <a:bodyPr wrap="square" lIns="0" tIns="0" rIns="0" bIns="0" rtlCol="0" anchor="ctr"/>
          <a:lstStyle/>
          <a:p>
            <a:pPr indent="0" marL="0">
              <a:buNone/>
            </a:pPr>
            <a:r>
              <a:rPr lang="en-US" sz="5200" dirty="0">
                <a:solidFill>
                  <a:srgbClr val="FFFFFF"/>
                </a:solidFill>
                <a:latin typeface="Arial Black" pitchFamily="34" charset="0"/>
                <a:ea typeface="Arial Black" pitchFamily="34" charset="-122"/>
                <a:cs typeface="Arial Black" pitchFamily="34" charset="-120"/>
              </a:rPr>
              <a:t>1万</a:t>
            </a:r>
            <a:pPr indent="0" marL="0">
              <a:buNone/>
            </a:pPr>
            <a:r>
              <a:rPr lang="en-US" sz="1700" b="1" dirty="0">
                <a:solidFill>
                  <a:srgbClr val="B8B0A0"/>
                </a:solidFill>
                <a:latin typeface="Yu Gothic" pitchFamily="34" charset="0"/>
                <a:ea typeface="Yu Gothic" pitchFamily="34" charset="-122"/>
                <a:cs typeface="Yu Gothic" pitchFamily="34" charset="-120"/>
              </a:rPr>
              <a:t> 本以上</a:t>
            </a:r>
            <a:endParaRPr lang="en-US" sz="5200" dirty="0"/>
          </a:p>
        </p:txBody>
      </p:sp>
      <p:sp>
        <p:nvSpPr>
          <p:cNvPr id="16" name="Shape 14"/>
          <p:cNvSpPr/>
          <p:nvPr/>
        </p:nvSpPr>
        <p:spPr>
          <a:xfrm>
            <a:off x="7973568" y="2011680"/>
            <a:ext cx="0" cy="1508760"/>
          </a:xfrm>
          <a:prstGeom prst="line">
            <a:avLst/>
          </a:prstGeom>
          <a:noFill/>
          <a:ln w="12700">
            <a:solidFill>
              <a:srgbClr val="3A352C"/>
            </a:solidFill>
            <a:prstDash val="solid"/>
          </a:ln>
        </p:spPr>
      </p:sp>
      <p:sp>
        <p:nvSpPr>
          <p:cNvPr id="17" name="Shape 15"/>
          <p:cNvSpPr/>
          <p:nvPr/>
        </p:nvSpPr>
        <p:spPr>
          <a:xfrm>
            <a:off x="640080" y="3931920"/>
            <a:ext cx="384048" cy="91440"/>
          </a:xfrm>
          <a:prstGeom prst="rect">
            <a:avLst/>
          </a:prstGeom>
          <a:solidFill>
            <a:srgbClr val="FFC62E"/>
          </a:solidFill>
          <a:ln/>
        </p:spPr>
      </p:sp>
      <p:sp>
        <p:nvSpPr>
          <p:cNvPr id="18" name="Text 16"/>
          <p:cNvSpPr txBox="1"/>
          <p:nvPr/>
        </p:nvSpPr>
        <p:spPr>
          <a:xfrm>
            <a:off x="640080" y="4133088"/>
            <a:ext cx="3474720" cy="320040"/>
          </a:xfrm>
          <a:prstGeom prst="rect">
            <a:avLst/>
          </a:prstGeom>
          <a:noFill/>
          <a:ln/>
        </p:spPr>
        <p:txBody>
          <a:bodyPr wrap="square" lIns="0" tIns="0" rIns="0" bIns="0" rtlCol="0" anchor="ctr"/>
          <a:lstStyle/>
          <a:p>
            <a:pPr indent="0" marL="0">
              <a:buNone/>
            </a:pPr>
            <a:r>
              <a:rPr lang="en-US" sz="1200" dirty="0">
                <a:solidFill>
                  <a:srgbClr val="B8B0A0"/>
                </a:solidFill>
                <a:latin typeface="Yu Gothic" pitchFamily="34" charset="0"/>
                <a:ea typeface="Yu Gothic" pitchFamily="34" charset="-122"/>
                <a:cs typeface="Yu Gothic" pitchFamily="34" charset="-120"/>
              </a:rPr>
              <a:t>編集MAX＝平日毎日1本</a:t>
            </a:r>
            <a:endParaRPr lang="en-US" sz="1200" dirty="0"/>
          </a:p>
        </p:txBody>
      </p:sp>
      <p:sp>
        <p:nvSpPr>
          <p:cNvPr id="19" name="Text 17"/>
          <p:cNvSpPr txBox="1"/>
          <p:nvPr/>
        </p:nvSpPr>
        <p:spPr>
          <a:xfrm>
            <a:off x="640080" y="4407408"/>
            <a:ext cx="3657600" cy="1005840"/>
          </a:xfrm>
          <a:prstGeom prst="rect">
            <a:avLst/>
          </a:prstGeom>
          <a:noFill/>
          <a:ln/>
        </p:spPr>
        <p:txBody>
          <a:bodyPr wrap="square" lIns="0" tIns="0" rIns="0" bIns="0" rtlCol="0" anchor="ctr"/>
          <a:lstStyle/>
          <a:p>
            <a:pPr indent="0" marL="0">
              <a:buNone/>
            </a:pPr>
            <a:r>
              <a:rPr lang="en-US" sz="5200" dirty="0">
                <a:solidFill>
                  <a:srgbClr val="FFFFFF"/>
                </a:solidFill>
                <a:latin typeface="Arial Black" pitchFamily="34" charset="0"/>
                <a:ea typeface="Arial Black" pitchFamily="34" charset="-122"/>
                <a:cs typeface="Arial Black" pitchFamily="34" charset="-120"/>
              </a:rPr>
              <a:t>月20</a:t>
            </a:r>
            <a:pPr indent="0" marL="0">
              <a:buNone/>
            </a:pPr>
            <a:r>
              <a:rPr lang="en-US" sz="1700" b="1" dirty="0">
                <a:solidFill>
                  <a:srgbClr val="B8B0A0"/>
                </a:solidFill>
                <a:latin typeface="Yu Gothic" pitchFamily="34" charset="0"/>
                <a:ea typeface="Yu Gothic" pitchFamily="34" charset="-122"/>
                <a:cs typeface="Yu Gothic" pitchFamily="34" charset="-120"/>
              </a:rPr>
              <a:t> 本</a:t>
            </a:r>
            <a:endParaRPr lang="en-US" sz="5200" dirty="0"/>
          </a:p>
        </p:txBody>
      </p:sp>
      <p:sp>
        <p:nvSpPr>
          <p:cNvPr id="20" name="Shape 18"/>
          <p:cNvSpPr/>
          <p:nvPr/>
        </p:nvSpPr>
        <p:spPr>
          <a:xfrm>
            <a:off x="4434840" y="3931920"/>
            <a:ext cx="384048" cy="91440"/>
          </a:xfrm>
          <a:prstGeom prst="rect">
            <a:avLst/>
          </a:prstGeom>
          <a:solidFill>
            <a:srgbClr val="FFC62E"/>
          </a:solidFill>
          <a:ln/>
        </p:spPr>
      </p:sp>
      <p:sp>
        <p:nvSpPr>
          <p:cNvPr id="21" name="Text 19"/>
          <p:cNvSpPr txBox="1"/>
          <p:nvPr/>
        </p:nvSpPr>
        <p:spPr>
          <a:xfrm>
            <a:off x="4434840" y="4133088"/>
            <a:ext cx="3474720" cy="320040"/>
          </a:xfrm>
          <a:prstGeom prst="rect">
            <a:avLst/>
          </a:prstGeom>
          <a:noFill/>
          <a:ln/>
        </p:spPr>
        <p:txBody>
          <a:bodyPr wrap="square" lIns="0" tIns="0" rIns="0" bIns="0" rtlCol="0" anchor="ctr"/>
          <a:lstStyle/>
          <a:p>
            <a:pPr indent="0" marL="0">
              <a:buNone/>
            </a:pPr>
            <a:r>
              <a:rPr lang="en-US" sz="1200" dirty="0">
                <a:solidFill>
                  <a:srgbClr val="B8B0A0"/>
                </a:solidFill>
                <a:latin typeface="Yu Gothic" pitchFamily="34" charset="0"/>
                <a:ea typeface="Yu Gothic" pitchFamily="34" charset="-122"/>
                <a:cs typeface="Yu Gothic" pitchFamily="34" charset="-120"/>
              </a:rPr>
              <a:t>営業リストの母数</a:t>
            </a:r>
            <a:endParaRPr lang="en-US" sz="1200" dirty="0"/>
          </a:p>
        </p:txBody>
      </p:sp>
      <p:sp>
        <p:nvSpPr>
          <p:cNvPr id="22" name="Text 20"/>
          <p:cNvSpPr txBox="1"/>
          <p:nvPr/>
        </p:nvSpPr>
        <p:spPr>
          <a:xfrm>
            <a:off x="4434840" y="4407408"/>
            <a:ext cx="3657600" cy="1005840"/>
          </a:xfrm>
          <a:prstGeom prst="rect">
            <a:avLst/>
          </a:prstGeom>
          <a:noFill/>
          <a:ln/>
        </p:spPr>
        <p:txBody>
          <a:bodyPr wrap="square" lIns="0" tIns="0" rIns="0" bIns="0" rtlCol="0" anchor="ctr"/>
          <a:lstStyle/>
          <a:p>
            <a:pPr indent="0" marL="0">
              <a:buNone/>
            </a:pPr>
            <a:r>
              <a:rPr lang="en-US" sz="5200" dirty="0">
                <a:solidFill>
                  <a:srgbClr val="FFFFFF"/>
                </a:solidFill>
                <a:latin typeface="Arial Black" pitchFamily="34" charset="0"/>
                <a:ea typeface="Arial Black" pitchFamily="34" charset="-122"/>
                <a:cs typeface="Arial Black" pitchFamily="34" charset="-120"/>
              </a:rPr>
              <a:t>626万</a:t>
            </a:r>
            <a:pPr indent="0" marL="0">
              <a:buNone/>
            </a:pPr>
            <a:r>
              <a:rPr lang="en-US" sz="1700" b="1" dirty="0">
                <a:solidFill>
                  <a:srgbClr val="B8B0A0"/>
                </a:solidFill>
                <a:latin typeface="Yu Gothic" pitchFamily="34" charset="0"/>
                <a:ea typeface="Yu Gothic" pitchFamily="34" charset="-122"/>
                <a:cs typeface="Yu Gothic" pitchFamily="34" charset="-120"/>
              </a:rPr>
              <a:t> 社</a:t>
            </a:r>
            <a:endParaRPr lang="en-US" sz="5200" dirty="0"/>
          </a:p>
        </p:txBody>
      </p:sp>
      <p:sp>
        <p:nvSpPr>
          <p:cNvPr id="23" name="Shape 21"/>
          <p:cNvSpPr/>
          <p:nvPr/>
        </p:nvSpPr>
        <p:spPr>
          <a:xfrm>
            <a:off x="4178808" y="3977640"/>
            <a:ext cx="0" cy="1508760"/>
          </a:xfrm>
          <a:prstGeom prst="line">
            <a:avLst/>
          </a:prstGeom>
          <a:noFill/>
          <a:ln w="12700">
            <a:solidFill>
              <a:srgbClr val="3A352C"/>
            </a:solidFill>
            <a:prstDash val="solid"/>
          </a:ln>
        </p:spPr>
      </p:sp>
      <p:sp>
        <p:nvSpPr>
          <p:cNvPr id="24" name="Shape 22"/>
          <p:cNvSpPr/>
          <p:nvPr/>
        </p:nvSpPr>
        <p:spPr>
          <a:xfrm>
            <a:off x="8229600" y="3931920"/>
            <a:ext cx="384048" cy="91440"/>
          </a:xfrm>
          <a:prstGeom prst="rect">
            <a:avLst/>
          </a:prstGeom>
          <a:solidFill>
            <a:srgbClr val="FFC62E"/>
          </a:solidFill>
          <a:ln/>
        </p:spPr>
      </p:sp>
      <p:sp>
        <p:nvSpPr>
          <p:cNvPr id="25" name="Text 23"/>
          <p:cNvSpPr txBox="1"/>
          <p:nvPr/>
        </p:nvSpPr>
        <p:spPr>
          <a:xfrm>
            <a:off x="8229600" y="4133088"/>
            <a:ext cx="3474720" cy="320040"/>
          </a:xfrm>
          <a:prstGeom prst="rect">
            <a:avLst/>
          </a:prstGeom>
          <a:noFill/>
          <a:ln/>
        </p:spPr>
        <p:txBody>
          <a:bodyPr wrap="square" lIns="0" tIns="0" rIns="0" bIns="0" rtlCol="0" anchor="ctr"/>
          <a:lstStyle/>
          <a:p>
            <a:pPr indent="0" marL="0">
              <a:buNone/>
            </a:pPr>
            <a:r>
              <a:rPr lang="en-US" sz="1200" dirty="0">
                <a:solidFill>
                  <a:srgbClr val="B8B0A0"/>
                </a:solidFill>
                <a:latin typeface="Yu Gothic" pitchFamily="34" charset="0"/>
                <a:ea typeface="Yu Gothic" pitchFamily="34" charset="-122"/>
                <a:cs typeface="Yu Gothic" pitchFamily="34" charset="-120"/>
              </a:rPr>
              <a:t>ショート編集の目安</a:t>
            </a:r>
            <a:endParaRPr lang="en-US" sz="1200" dirty="0"/>
          </a:p>
        </p:txBody>
      </p:sp>
      <p:sp>
        <p:nvSpPr>
          <p:cNvPr id="26" name="Text 24"/>
          <p:cNvSpPr txBox="1"/>
          <p:nvPr/>
        </p:nvSpPr>
        <p:spPr>
          <a:xfrm>
            <a:off x="8229600" y="4407408"/>
            <a:ext cx="3657600" cy="1005840"/>
          </a:xfrm>
          <a:prstGeom prst="rect">
            <a:avLst/>
          </a:prstGeom>
          <a:noFill/>
          <a:ln/>
        </p:spPr>
        <p:txBody>
          <a:bodyPr wrap="square" lIns="0" tIns="0" rIns="0" bIns="0" rtlCol="0" anchor="ctr"/>
          <a:lstStyle/>
          <a:p>
            <a:pPr indent="0" marL="0">
              <a:buNone/>
            </a:pPr>
            <a:r>
              <a:rPr lang="en-US" sz="5200" dirty="0">
                <a:solidFill>
                  <a:srgbClr val="FFFFFF"/>
                </a:solidFill>
                <a:latin typeface="Arial Black" pitchFamily="34" charset="0"/>
                <a:ea typeface="Arial Black" pitchFamily="34" charset="-122"/>
                <a:cs typeface="Arial Black" pitchFamily="34" charset="-120"/>
              </a:rPr>
              <a:t>3日</a:t>
            </a:r>
            <a:pPr indent="0" marL="0">
              <a:buNone/>
            </a:pPr>
            <a:r>
              <a:rPr lang="en-US" sz="1700" b="1" dirty="0">
                <a:solidFill>
                  <a:srgbClr val="B8B0A0"/>
                </a:solidFill>
                <a:latin typeface="Yu Gothic" pitchFamily="34" charset="0"/>
                <a:ea typeface="Yu Gothic" pitchFamily="34" charset="-122"/>
                <a:cs typeface="Yu Gothic" pitchFamily="34" charset="-120"/>
              </a:rPr>
              <a:t> 〜</a:t>
            </a:r>
            <a:endParaRPr lang="en-US" sz="5200" dirty="0"/>
          </a:p>
        </p:txBody>
      </p:sp>
      <p:sp>
        <p:nvSpPr>
          <p:cNvPr id="27" name="Shape 25"/>
          <p:cNvSpPr/>
          <p:nvPr/>
        </p:nvSpPr>
        <p:spPr>
          <a:xfrm>
            <a:off x="7973568" y="3977640"/>
            <a:ext cx="0" cy="1508760"/>
          </a:xfrm>
          <a:prstGeom prst="line">
            <a:avLst/>
          </a:prstGeom>
          <a:noFill/>
          <a:ln w="12700">
            <a:solidFill>
              <a:srgbClr val="3A352C"/>
            </a:solidFill>
            <a:prstDash val="solid"/>
          </a:ln>
        </p:spPr>
      </p:sp>
      <p:sp>
        <p:nvSpPr>
          <p:cNvPr id="28" name="Text 26"/>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300" b="1" dirty="0">
                <a:solidFill>
                  <a:srgbClr val="FFC62E"/>
                </a:solidFill>
                <a:latin typeface="Yu Gothic" pitchFamily="34" charset="0"/>
                <a:ea typeface="Yu Gothic" pitchFamily="34" charset="-122"/>
                <a:cs typeface="Yu Gothic" pitchFamily="34" charset="-120"/>
              </a:rPr>
              <a:t>この数字を、御社は「発注する」だけで使えます。次のページから、実際に運用しているアカウントをご覧ください。</a:t>
            </a:r>
            <a:endParaRPr lang="en-US" sz="1300" dirty="0"/>
          </a:p>
        </p:txBody>
      </p:sp>
      <p:sp>
        <p:nvSpPr>
          <p:cNvPr id="29" name="Shape 27"/>
          <p:cNvSpPr/>
          <p:nvPr/>
        </p:nvSpPr>
        <p:spPr>
          <a:xfrm>
            <a:off x="548640" y="6455664"/>
            <a:ext cx="11091672" cy="0"/>
          </a:xfrm>
          <a:prstGeom prst="line">
            <a:avLst/>
          </a:prstGeom>
          <a:noFill/>
          <a:ln w="12700">
            <a:solidFill>
              <a:srgbClr val="3A352C"/>
            </a:solidFill>
            <a:prstDash val="solid"/>
          </a:ln>
        </p:spPr>
      </p:sp>
      <p:sp>
        <p:nvSpPr>
          <p:cNvPr id="30" name="Text 28"/>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877F6E"/>
                </a:solidFill>
                <a:latin typeface="Arial" pitchFamily="34" charset="0"/>
                <a:ea typeface="Arial" pitchFamily="34" charset="-122"/>
                <a:cs typeface="Arial" pitchFamily="34" charset="-120"/>
              </a:rPr>
              <a:t>BRIDGE HATCH</a:t>
            </a:r>
            <a:endParaRPr lang="en-US" sz="850" dirty="0"/>
          </a:p>
        </p:txBody>
      </p:sp>
      <p:sp>
        <p:nvSpPr>
          <p:cNvPr id="31" name="Text 29"/>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877F6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08 / </a:t>
            </a:r>
            <a:pPr indent="0" marL="0">
              <a:buNone/>
            </a:pPr>
            <a:r>
              <a:rPr lang="en-US" sz="1200" b="1" spc="300" kern="0" dirty="0">
                <a:solidFill>
                  <a:srgbClr val="B8860B"/>
                </a:solidFill>
                <a:latin typeface="Arial" pitchFamily="34" charset="0"/>
                <a:ea typeface="Arial" pitchFamily="34" charset="-122"/>
                <a:cs typeface="Arial" pitchFamily="34" charset="-120"/>
              </a:rPr>
              <a:t>OUR WORKS — TIKTOK</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自社アカウント運用 — タフ子ちゃん</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Shape 4"/>
          <p:cNvSpPr/>
          <p:nvPr/>
        </p:nvSpPr>
        <p:spPr>
          <a:xfrm>
            <a:off x="10698480" y="338328"/>
            <a:ext cx="932688" cy="932688"/>
          </a:xfrm>
          <a:prstGeom prst="ellipse">
            <a:avLst/>
          </a:prstGeom>
          <a:ln w="25400">
            <a:solidFill>
              <a:srgbClr val="141210"/>
            </a:solidFill>
            <a:prstDash val="solid"/>
          </a:ln>
        </p:spPr>
      </p:sp>
      <p:pic>
        <p:nvPicPr>
          <p:cNvPr id="7" name="Image 0" descr="icon_tafuko.png">    </p:cNvPr>
          <p:cNvPicPr>
            <a:picLocks noChangeAspect="1"/>
          </p:cNvPicPr>
          <p:nvPr/>
        </p:nvPicPr>
        <p:blipFill>
          <a:blip r:embed="rId1"/>
          <a:stretch>
            <a:fillRect/>
          </a:stretch>
        </p:blipFill>
        <p:spPr>
          <a:xfrm>
            <a:off x="10744200" y="384048"/>
            <a:ext cx="841248" cy="841248"/>
          </a:xfrm>
          <a:prstGeom prst="rect">
            <a:avLst/>
          </a:prstGeom>
        </p:spPr>
      </p:pic>
      <p:pic>
        <p:nvPicPr>
          <p:cNvPr id="8" name="Image 1" descr="video_still.png">    </p:cNvPr>
          <p:cNvPicPr>
            <a:picLocks noChangeAspect="1"/>
          </p:cNvPicPr>
          <p:nvPr/>
        </p:nvPicPr>
        <p:blipFill>
          <a:blip r:embed="rId2"/>
          <a:stretch>
            <a:fillRect/>
          </a:stretch>
        </p:blipFill>
        <p:spPr>
          <a:xfrm>
            <a:off x="548640" y="1645920"/>
            <a:ext cx="2331720" cy="4032504"/>
          </a:xfrm>
          <a:prstGeom prst="rect">
            <a:avLst/>
          </a:prstGeom>
        </p:spPr>
      </p:pic>
      <p:sp>
        <p:nvSpPr>
          <p:cNvPr id="9" name="Shape 5"/>
          <p:cNvSpPr/>
          <p:nvPr/>
        </p:nvSpPr>
        <p:spPr>
          <a:xfrm>
            <a:off x="548640" y="1645920"/>
            <a:ext cx="2331720" cy="4032504"/>
          </a:xfrm>
          <a:prstGeom prst="rect">
            <a:avLst/>
          </a:prstGeom>
          <a:ln w="22225">
            <a:solidFill>
              <a:srgbClr val="141210"/>
            </a:solidFill>
            <a:prstDash val="solid"/>
          </a:ln>
        </p:spPr>
      </p:sp>
      <p:sp>
        <p:nvSpPr>
          <p:cNvPr id="10" name="Text 6"/>
          <p:cNvSpPr txBox="1"/>
          <p:nvPr/>
        </p:nvSpPr>
        <p:spPr>
          <a:xfrm>
            <a:off x="548640" y="5742432"/>
            <a:ext cx="324612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人気動画（いいね2.7万）</a:t>
            </a:r>
            <a:endParaRPr lang="en-US" sz="900" dirty="0"/>
          </a:p>
        </p:txBody>
      </p:sp>
      <p:pic>
        <p:nvPicPr>
          <p:cNvPr id="11" name="Image 2" descr="tik_header.jpg">    </p:cNvPr>
          <p:cNvPicPr>
            <a:picLocks noChangeAspect="1"/>
          </p:cNvPicPr>
          <p:nvPr/>
        </p:nvPicPr>
        <p:blipFill>
          <a:blip r:embed="rId3"/>
          <a:stretch>
            <a:fillRect/>
          </a:stretch>
        </p:blipFill>
        <p:spPr>
          <a:xfrm>
            <a:off x="3200400" y="1645920"/>
            <a:ext cx="8357616" cy="1399032"/>
          </a:xfrm>
          <a:prstGeom prst="rect">
            <a:avLst/>
          </a:prstGeom>
        </p:spPr>
      </p:pic>
      <p:sp>
        <p:nvSpPr>
          <p:cNvPr id="12" name="Shape 7"/>
          <p:cNvSpPr/>
          <p:nvPr/>
        </p:nvSpPr>
        <p:spPr>
          <a:xfrm>
            <a:off x="3200400" y="1645920"/>
            <a:ext cx="8357616" cy="1399032"/>
          </a:xfrm>
          <a:prstGeom prst="rect">
            <a:avLst/>
          </a:prstGeom>
          <a:ln w="22225">
            <a:solidFill>
              <a:srgbClr val="141210"/>
            </a:solidFill>
            <a:prstDash val="solid"/>
          </a:ln>
        </p:spPr>
      </p:sp>
      <p:pic>
        <p:nvPicPr>
          <p:cNvPr id="13" name="Image 3" descr="tik_tile1.jpg">    </p:cNvPr>
          <p:cNvPicPr>
            <a:picLocks noChangeAspect="1"/>
          </p:cNvPicPr>
          <p:nvPr/>
        </p:nvPicPr>
        <p:blipFill>
          <a:blip r:embed="rId4"/>
          <a:stretch>
            <a:fillRect/>
          </a:stretch>
        </p:blipFill>
        <p:spPr>
          <a:xfrm>
            <a:off x="3200400" y="3246120"/>
            <a:ext cx="1956816" cy="2596896"/>
          </a:xfrm>
          <a:prstGeom prst="rect">
            <a:avLst/>
          </a:prstGeom>
        </p:spPr>
      </p:pic>
      <p:sp>
        <p:nvSpPr>
          <p:cNvPr id="14" name="Shape 8"/>
          <p:cNvSpPr/>
          <p:nvPr/>
        </p:nvSpPr>
        <p:spPr>
          <a:xfrm>
            <a:off x="3200400" y="3246120"/>
            <a:ext cx="1956816" cy="2596896"/>
          </a:xfrm>
          <a:prstGeom prst="rect">
            <a:avLst/>
          </a:prstGeom>
          <a:ln w="22225">
            <a:solidFill>
              <a:srgbClr val="141210"/>
            </a:solidFill>
            <a:prstDash val="solid"/>
          </a:ln>
        </p:spPr>
      </p:sp>
      <p:pic>
        <p:nvPicPr>
          <p:cNvPr id="15" name="Image 4" descr="tik_tile2.jpg">    </p:cNvPr>
          <p:cNvPicPr>
            <a:picLocks noChangeAspect="1"/>
          </p:cNvPicPr>
          <p:nvPr/>
        </p:nvPicPr>
        <p:blipFill>
          <a:blip r:embed="rId5"/>
          <a:stretch>
            <a:fillRect/>
          </a:stretch>
        </p:blipFill>
        <p:spPr>
          <a:xfrm>
            <a:off x="5340096" y="3246120"/>
            <a:ext cx="1956816" cy="2596896"/>
          </a:xfrm>
          <a:prstGeom prst="rect">
            <a:avLst/>
          </a:prstGeom>
        </p:spPr>
      </p:pic>
      <p:sp>
        <p:nvSpPr>
          <p:cNvPr id="16" name="Shape 9"/>
          <p:cNvSpPr/>
          <p:nvPr/>
        </p:nvSpPr>
        <p:spPr>
          <a:xfrm>
            <a:off x="5340096" y="3246120"/>
            <a:ext cx="1956816" cy="2596896"/>
          </a:xfrm>
          <a:prstGeom prst="rect">
            <a:avLst/>
          </a:prstGeom>
          <a:ln w="22225">
            <a:solidFill>
              <a:srgbClr val="141210"/>
            </a:solidFill>
            <a:prstDash val="solid"/>
          </a:ln>
        </p:spPr>
      </p:sp>
      <p:pic>
        <p:nvPicPr>
          <p:cNvPr id="17" name="Image 5" descr="tik_tile3.jpg">    </p:cNvPr>
          <p:cNvPicPr>
            <a:picLocks noChangeAspect="1"/>
          </p:cNvPicPr>
          <p:nvPr/>
        </p:nvPicPr>
        <p:blipFill>
          <a:blip r:embed="rId6"/>
          <a:stretch>
            <a:fillRect/>
          </a:stretch>
        </p:blipFill>
        <p:spPr>
          <a:xfrm>
            <a:off x="7479792" y="3246120"/>
            <a:ext cx="1956816" cy="2596896"/>
          </a:xfrm>
          <a:prstGeom prst="rect">
            <a:avLst/>
          </a:prstGeom>
        </p:spPr>
      </p:pic>
      <p:sp>
        <p:nvSpPr>
          <p:cNvPr id="18" name="Shape 10"/>
          <p:cNvSpPr/>
          <p:nvPr/>
        </p:nvSpPr>
        <p:spPr>
          <a:xfrm>
            <a:off x="7479792" y="3246120"/>
            <a:ext cx="1956816" cy="2596896"/>
          </a:xfrm>
          <a:prstGeom prst="rect">
            <a:avLst/>
          </a:prstGeom>
          <a:ln w="22225">
            <a:solidFill>
              <a:srgbClr val="141210"/>
            </a:solidFill>
            <a:prstDash val="solid"/>
          </a:ln>
        </p:spPr>
      </p:sp>
      <p:pic>
        <p:nvPicPr>
          <p:cNvPr id="19" name="Image 6" descr="tik_tile4.jpg">    </p:cNvPr>
          <p:cNvPicPr>
            <a:picLocks noChangeAspect="1"/>
          </p:cNvPicPr>
          <p:nvPr/>
        </p:nvPicPr>
        <p:blipFill>
          <a:blip r:embed="rId7"/>
          <a:stretch>
            <a:fillRect/>
          </a:stretch>
        </p:blipFill>
        <p:spPr>
          <a:xfrm>
            <a:off x="9619488" y="3246120"/>
            <a:ext cx="1956816" cy="2596896"/>
          </a:xfrm>
          <a:prstGeom prst="rect">
            <a:avLst/>
          </a:prstGeom>
        </p:spPr>
      </p:pic>
      <p:sp>
        <p:nvSpPr>
          <p:cNvPr id="20" name="Shape 11"/>
          <p:cNvSpPr/>
          <p:nvPr/>
        </p:nvSpPr>
        <p:spPr>
          <a:xfrm>
            <a:off x="9619488" y="3246120"/>
            <a:ext cx="1956816" cy="2596896"/>
          </a:xfrm>
          <a:prstGeom prst="rect">
            <a:avLst/>
          </a:prstGeom>
          <a:ln w="22225">
            <a:solidFill>
              <a:srgbClr val="141210"/>
            </a:solidFill>
            <a:prstDash val="solid"/>
          </a:ln>
        </p:spPr>
      </p:sp>
      <p:sp>
        <p:nvSpPr>
          <p:cNvPr id="21" name="Text 12"/>
          <p:cNvSpPr txBox="1"/>
          <p:nvPr/>
        </p:nvSpPr>
        <p:spPr>
          <a:xfrm>
            <a:off x="3200400" y="5888736"/>
            <a:ext cx="731520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人気動画（人気順・数字は実測値）</a:t>
            </a:r>
            <a:endParaRPr lang="en-US" sz="900" dirty="0"/>
          </a:p>
        </p:txBody>
      </p:sp>
      <p:sp>
        <p:nvSpPr>
          <p:cNvPr id="22" name="Text 13"/>
          <p:cNvSpPr txBox="1"/>
          <p:nvPr/>
        </p:nvSpPr>
        <p:spPr>
          <a:xfrm>
            <a:off x="548640" y="6144768"/>
            <a:ext cx="11064240" cy="292608"/>
          </a:xfrm>
          <a:prstGeom prst="rect">
            <a:avLst/>
          </a:prstGeom>
          <a:noFill/>
          <a:ln/>
        </p:spPr>
        <p:txBody>
          <a:bodyPr wrap="square" lIns="0" tIns="0" rIns="0" bIns="0" rtlCol="0" anchor="ctr"/>
          <a:lstStyle/>
          <a:p>
            <a:pPr indent="0" marL="0">
              <a:buNone/>
            </a:pPr>
            <a:r>
              <a:rPr lang="en-US" sz="1150" b="1" dirty="0">
                <a:solidFill>
                  <a:srgbClr val="141210"/>
                </a:solidFill>
                <a:latin typeface="Yu Gothic" pitchFamily="34" charset="0"/>
                <a:ea typeface="Yu Gothic" pitchFamily="34" charset="-122"/>
                <a:cs typeface="Yu Gothic" pitchFamily="34" charset="-120"/>
              </a:rPr>
              <a:t>フォロワー2.1万人・総いいね17.5万。バズは偶然ではなく「型」。私たちは毎日この型を検証し、御社の業種に移植します。</a:t>
            </a:r>
            <a:endParaRPr lang="en-US" sz="1150" dirty="0"/>
          </a:p>
        </p:txBody>
      </p:sp>
      <p:sp>
        <p:nvSpPr>
          <p:cNvPr id="23" name="Shape 14"/>
          <p:cNvSpPr/>
          <p:nvPr/>
        </p:nvSpPr>
        <p:spPr>
          <a:xfrm>
            <a:off x="548640" y="6455664"/>
            <a:ext cx="11091672" cy="0"/>
          </a:xfrm>
          <a:prstGeom prst="line">
            <a:avLst/>
          </a:prstGeom>
          <a:noFill/>
          <a:ln w="12700">
            <a:solidFill>
              <a:srgbClr val="E2DCCE"/>
            </a:solidFill>
            <a:prstDash val="solid"/>
          </a:ln>
        </p:spPr>
      </p:sp>
      <p:sp>
        <p:nvSpPr>
          <p:cNvPr id="24" name="Text 15"/>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25" name="Text 16"/>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08 / </a:t>
            </a:r>
            <a:pPr indent="0" marL="0">
              <a:buNone/>
            </a:pPr>
            <a:r>
              <a:rPr lang="en-US" sz="1200" b="1" spc="300" kern="0" dirty="0">
                <a:solidFill>
                  <a:srgbClr val="B8860B"/>
                </a:solidFill>
                <a:latin typeface="Arial" pitchFamily="34" charset="0"/>
                <a:ea typeface="Arial" pitchFamily="34" charset="-122"/>
                <a:cs typeface="Arial" pitchFamily="34" charset="-120"/>
              </a:rPr>
              <a:t>OUR WORKS — INSTAGRAM 01</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REVA Group 様 — 就活サービス「ビズチャレ！」公式</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Shape 4"/>
          <p:cNvSpPr/>
          <p:nvPr/>
        </p:nvSpPr>
        <p:spPr>
          <a:xfrm>
            <a:off x="10698480" y="338328"/>
            <a:ext cx="932688" cy="932688"/>
          </a:xfrm>
          <a:prstGeom prst="ellipse">
            <a:avLst/>
          </a:prstGeom>
          <a:ln w="25400">
            <a:solidFill>
              <a:srgbClr val="141210"/>
            </a:solidFill>
            <a:prstDash val="solid"/>
          </a:ln>
        </p:spPr>
      </p:sp>
      <p:pic>
        <p:nvPicPr>
          <p:cNvPr id="7" name="Image 0" descr="icon_vizz.png">    </p:cNvPr>
          <p:cNvPicPr>
            <a:picLocks noChangeAspect="1"/>
          </p:cNvPicPr>
          <p:nvPr/>
        </p:nvPicPr>
        <p:blipFill>
          <a:blip r:embed="rId1"/>
          <a:stretch>
            <a:fillRect/>
          </a:stretch>
        </p:blipFill>
        <p:spPr>
          <a:xfrm>
            <a:off x="10744200" y="384048"/>
            <a:ext cx="841248" cy="841248"/>
          </a:xfrm>
          <a:prstGeom prst="rect">
            <a:avLst/>
          </a:prstGeom>
        </p:spPr>
      </p:pic>
      <p:pic>
        <p:nvPicPr>
          <p:cNvPr id="8" name="Image 1" descr="ig_vz_head.jpg">    </p:cNvPr>
          <p:cNvPicPr>
            <a:picLocks noChangeAspect="1"/>
          </p:cNvPicPr>
          <p:nvPr/>
        </p:nvPicPr>
        <p:blipFill>
          <a:blip r:embed="rId2"/>
          <a:stretch>
            <a:fillRect/>
          </a:stretch>
        </p:blipFill>
        <p:spPr>
          <a:xfrm>
            <a:off x="548640" y="1600200"/>
            <a:ext cx="3545474" cy="1481328"/>
          </a:xfrm>
          <a:prstGeom prst="rect">
            <a:avLst/>
          </a:prstGeom>
        </p:spPr>
      </p:pic>
      <p:sp>
        <p:nvSpPr>
          <p:cNvPr id="9" name="Shape 5"/>
          <p:cNvSpPr/>
          <p:nvPr/>
        </p:nvSpPr>
        <p:spPr>
          <a:xfrm>
            <a:off x="548640" y="1600200"/>
            <a:ext cx="3545474" cy="1481328"/>
          </a:xfrm>
          <a:prstGeom prst="rect">
            <a:avLst/>
          </a:prstGeom>
          <a:ln w="19050">
            <a:solidFill>
              <a:srgbClr val="141210"/>
            </a:solidFill>
            <a:prstDash val="solid"/>
          </a:ln>
        </p:spPr>
      </p:sp>
      <p:sp>
        <p:nvSpPr>
          <p:cNvPr id="10" name="Shape 6"/>
          <p:cNvSpPr/>
          <p:nvPr/>
        </p:nvSpPr>
        <p:spPr>
          <a:xfrm>
            <a:off x="4617720" y="1664208"/>
            <a:ext cx="329184" cy="82296"/>
          </a:xfrm>
          <a:prstGeom prst="rect">
            <a:avLst/>
          </a:prstGeom>
          <a:solidFill>
            <a:srgbClr val="FFC62E"/>
          </a:solidFill>
          <a:ln/>
        </p:spPr>
      </p:sp>
      <p:sp>
        <p:nvSpPr>
          <p:cNvPr id="11" name="Text 7"/>
          <p:cNvSpPr txBox="1"/>
          <p:nvPr/>
        </p:nvSpPr>
        <p:spPr>
          <a:xfrm>
            <a:off x="4617720" y="1828800"/>
            <a:ext cx="2377440" cy="27432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最高再生</a:t>
            </a:r>
            <a:endParaRPr lang="en-US" sz="1050" dirty="0"/>
          </a:p>
        </p:txBody>
      </p:sp>
      <p:sp>
        <p:nvSpPr>
          <p:cNvPr id="12" name="Text 8"/>
          <p:cNvSpPr txBox="1"/>
          <p:nvPr/>
        </p:nvSpPr>
        <p:spPr>
          <a:xfrm>
            <a:off x="4590288" y="2084832"/>
            <a:ext cx="2560320" cy="636104"/>
          </a:xfrm>
          <a:prstGeom prst="rect">
            <a:avLst/>
          </a:prstGeom>
          <a:noFill/>
          <a:ln/>
        </p:spPr>
        <p:txBody>
          <a:bodyPr wrap="square" lIns="0" tIns="0" rIns="0" bIns="0" rtlCol="0" anchor="ctr"/>
          <a:lstStyle/>
          <a:p>
            <a:pPr indent="0" marL="0">
              <a:buNone/>
            </a:pPr>
            <a:r>
              <a:rPr lang="en-US" sz="3200" dirty="0">
                <a:solidFill>
                  <a:srgbClr val="141210"/>
                </a:solidFill>
                <a:latin typeface="Arial Black" pitchFamily="34" charset="0"/>
                <a:ea typeface="Arial Black" pitchFamily="34" charset="-122"/>
                <a:cs typeface="Arial Black" pitchFamily="34" charset="-120"/>
              </a:rPr>
              <a:t>169.2万</a:t>
            </a:r>
            <a:pPr indent="0" marL="0">
              <a:buNone/>
            </a:pPr>
            <a:endParaRPr lang="en-US" sz="3200" dirty="0"/>
          </a:p>
        </p:txBody>
      </p:sp>
      <p:sp>
        <p:nvSpPr>
          <p:cNvPr id="13" name="Shape 9"/>
          <p:cNvSpPr/>
          <p:nvPr/>
        </p:nvSpPr>
        <p:spPr>
          <a:xfrm>
            <a:off x="7315200" y="1664208"/>
            <a:ext cx="329184" cy="82296"/>
          </a:xfrm>
          <a:prstGeom prst="rect">
            <a:avLst/>
          </a:prstGeom>
          <a:solidFill>
            <a:srgbClr val="FFC62E"/>
          </a:solidFill>
          <a:ln/>
        </p:spPr>
      </p:sp>
      <p:sp>
        <p:nvSpPr>
          <p:cNvPr id="14" name="Text 10"/>
          <p:cNvSpPr txBox="1"/>
          <p:nvPr/>
        </p:nvSpPr>
        <p:spPr>
          <a:xfrm>
            <a:off x="7315200" y="1828800"/>
            <a:ext cx="2011680" cy="27432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2番手も</a:t>
            </a:r>
            <a:endParaRPr lang="en-US" sz="1050" dirty="0"/>
          </a:p>
        </p:txBody>
      </p:sp>
      <p:sp>
        <p:nvSpPr>
          <p:cNvPr id="15" name="Text 11"/>
          <p:cNvSpPr txBox="1"/>
          <p:nvPr/>
        </p:nvSpPr>
        <p:spPr>
          <a:xfrm>
            <a:off x="7287768" y="2084832"/>
            <a:ext cx="2194560" cy="477078"/>
          </a:xfrm>
          <a:prstGeom prst="rect">
            <a:avLst/>
          </a:prstGeom>
          <a:noFill/>
          <a:ln/>
        </p:spPr>
        <p:txBody>
          <a:bodyPr wrap="square" lIns="0" tIns="0" rIns="0" bIns="0" rtlCol="0" anchor="ctr"/>
          <a:lstStyle/>
          <a:p>
            <a:pPr indent="0" marL="0">
              <a:buNone/>
            </a:pPr>
            <a:r>
              <a:rPr lang="en-US" sz="2400" dirty="0">
                <a:solidFill>
                  <a:srgbClr val="141210"/>
                </a:solidFill>
                <a:latin typeface="Arial Black" pitchFamily="34" charset="0"/>
                <a:ea typeface="Arial Black" pitchFamily="34" charset="-122"/>
                <a:cs typeface="Arial Black" pitchFamily="34" charset="-120"/>
              </a:rPr>
              <a:t>128.1万</a:t>
            </a:r>
            <a:pPr indent="0" marL="0">
              <a:buNone/>
            </a:pPr>
            <a:endParaRPr lang="en-US" sz="2400" dirty="0"/>
          </a:p>
        </p:txBody>
      </p:sp>
      <p:sp>
        <p:nvSpPr>
          <p:cNvPr id="16" name="Text 12"/>
          <p:cNvSpPr txBox="1"/>
          <p:nvPr/>
        </p:nvSpPr>
        <p:spPr>
          <a:xfrm>
            <a:off x="9555480" y="1828800"/>
            <a:ext cx="2103120" cy="548640"/>
          </a:xfrm>
          <a:prstGeom prst="rect">
            <a:avLst/>
          </a:prstGeom>
          <a:noFill/>
          <a:ln/>
        </p:spPr>
        <p:txBody>
          <a:bodyPr wrap="square" lIns="0" tIns="0" rIns="0" bIns="0" rtlCol="0" anchor="ctr"/>
          <a:lstStyle/>
          <a:p>
            <a:pPr indent="0" marL="0">
              <a:lnSpc>
                <a:spcPts val="1400"/>
              </a:lnSpc>
              <a:buNone/>
            </a:pPr>
            <a:r>
              <a:rPr lang="en-US" sz="950" dirty="0">
                <a:solidFill>
                  <a:srgbClr val="5F594E"/>
                </a:solidFill>
                <a:latin typeface="Yu Gothic" pitchFamily="34" charset="0"/>
                <a:ea typeface="Yu Gothic" pitchFamily="34" charset="-122"/>
                <a:cs typeface="Yu Gothic" pitchFamily="34" charset="-120"/>
              </a:rPr>
              <a:t>投稿73件・フォロワー1,922人</a:t>
            </a:r>
            <a:endParaRPr lang="en-US" sz="950" dirty="0"/>
          </a:p>
        </p:txBody>
      </p:sp>
      <p:pic>
        <p:nvPicPr>
          <p:cNvPr id="17" name="Image 2" descr="vz1.jpg">    </p:cNvPr>
          <p:cNvPicPr>
            <a:picLocks noChangeAspect="1"/>
          </p:cNvPicPr>
          <p:nvPr/>
        </p:nvPicPr>
        <p:blipFill>
          <a:blip r:embed="rId3"/>
          <a:stretch>
            <a:fillRect/>
          </a:stretch>
        </p:blipFill>
        <p:spPr>
          <a:xfrm>
            <a:off x="548640" y="3310128"/>
            <a:ext cx="1700784" cy="2606040"/>
          </a:xfrm>
          <a:prstGeom prst="rect">
            <a:avLst/>
          </a:prstGeom>
        </p:spPr>
      </p:pic>
      <p:sp>
        <p:nvSpPr>
          <p:cNvPr id="18" name="Shape 13"/>
          <p:cNvSpPr/>
          <p:nvPr/>
        </p:nvSpPr>
        <p:spPr>
          <a:xfrm>
            <a:off x="548640" y="3310128"/>
            <a:ext cx="1700784" cy="2606040"/>
          </a:xfrm>
          <a:prstGeom prst="rect">
            <a:avLst/>
          </a:prstGeom>
          <a:ln w="22225">
            <a:solidFill>
              <a:srgbClr val="141210"/>
            </a:solidFill>
            <a:prstDash val="solid"/>
          </a:ln>
        </p:spPr>
      </p:sp>
      <p:pic>
        <p:nvPicPr>
          <p:cNvPr id="19" name="Image 3" descr="vz2.jpg">    </p:cNvPr>
          <p:cNvPicPr>
            <a:picLocks noChangeAspect="1"/>
          </p:cNvPicPr>
          <p:nvPr/>
        </p:nvPicPr>
        <p:blipFill>
          <a:blip r:embed="rId4"/>
          <a:stretch>
            <a:fillRect/>
          </a:stretch>
        </p:blipFill>
        <p:spPr>
          <a:xfrm>
            <a:off x="2386584" y="3310128"/>
            <a:ext cx="1700784" cy="2606040"/>
          </a:xfrm>
          <a:prstGeom prst="rect">
            <a:avLst/>
          </a:prstGeom>
        </p:spPr>
      </p:pic>
      <p:sp>
        <p:nvSpPr>
          <p:cNvPr id="20" name="Shape 14"/>
          <p:cNvSpPr/>
          <p:nvPr/>
        </p:nvSpPr>
        <p:spPr>
          <a:xfrm>
            <a:off x="2386584" y="3310128"/>
            <a:ext cx="1700784" cy="2606040"/>
          </a:xfrm>
          <a:prstGeom prst="rect">
            <a:avLst/>
          </a:prstGeom>
          <a:ln w="22225">
            <a:solidFill>
              <a:srgbClr val="141210"/>
            </a:solidFill>
            <a:prstDash val="solid"/>
          </a:ln>
        </p:spPr>
      </p:sp>
      <p:pic>
        <p:nvPicPr>
          <p:cNvPr id="21" name="Image 4" descr="vz3.jpg">    </p:cNvPr>
          <p:cNvPicPr>
            <a:picLocks noChangeAspect="1"/>
          </p:cNvPicPr>
          <p:nvPr/>
        </p:nvPicPr>
        <p:blipFill>
          <a:blip r:embed="rId5"/>
          <a:stretch>
            <a:fillRect/>
          </a:stretch>
        </p:blipFill>
        <p:spPr>
          <a:xfrm>
            <a:off x="4224528" y="3310128"/>
            <a:ext cx="1700784" cy="2606040"/>
          </a:xfrm>
          <a:prstGeom prst="rect">
            <a:avLst/>
          </a:prstGeom>
        </p:spPr>
      </p:pic>
      <p:sp>
        <p:nvSpPr>
          <p:cNvPr id="22" name="Shape 15"/>
          <p:cNvSpPr/>
          <p:nvPr/>
        </p:nvSpPr>
        <p:spPr>
          <a:xfrm>
            <a:off x="4224528" y="3310128"/>
            <a:ext cx="1700784" cy="2606040"/>
          </a:xfrm>
          <a:prstGeom prst="rect">
            <a:avLst/>
          </a:prstGeom>
          <a:ln w="22225">
            <a:solidFill>
              <a:srgbClr val="141210"/>
            </a:solidFill>
            <a:prstDash val="solid"/>
          </a:ln>
        </p:spPr>
      </p:sp>
      <p:sp>
        <p:nvSpPr>
          <p:cNvPr id="23" name="Text 16"/>
          <p:cNvSpPr txBox="1"/>
          <p:nvPr/>
        </p:nvSpPr>
        <p:spPr>
          <a:xfrm>
            <a:off x="548640" y="5989320"/>
            <a:ext cx="548640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企画リール（再生数は左下の実測値）</a:t>
            </a:r>
            <a:endParaRPr lang="en-US" sz="900" dirty="0"/>
          </a:p>
        </p:txBody>
      </p:sp>
      <p:sp>
        <p:nvSpPr>
          <p:cNvPr id="24" name="Shape 17"/>
          <p:cNvSpPr/>
          <p:nvPr/>
        </p:nvSpPr>
        <p:spPr>
          <a:xfrm>
            <a:off x="6309360" y="3429000"/>
            <a:ext cx="329184" cy="82296"/>
          </a:xfrm>
          <a:prstGeom prst="rect">
            <a:avLst/>
          </a:prstGeom>
          <a:solidFill>
            <a:srgbClr val="FFC62E"/>
          </a:solidFill>
          <a:ln/>
        </p:spPr>
      </p:sp>
      <p:sp>
        <p:nvSpPr>
          <p:cNvPr id="25" name="Text 18"/>
          <p:cNvSpPr txBox="1"/>
          <p:nvPr/>
        </p:nvSpPr>
        <p:spPr>
          <a:xfrm>
            <a:off x="6309360" y="3639312"/>
            <a:ext cx="5303520" cy="640080"/>
          </a:xfrm>
          <a:prstGeom prst="rect">
            <a:avLst/>
          </a:prstGeom>
          <a:noFill/>
          <a:ln/>
        </p:spPr>
        <p:txBody>
          <a:bodyPr wrap="square" lIns="0" tIns="0" rIns="0" bIns="0" rtlCol="0" anchor="ctr"/>
          <a:lstStyle/>
          <a:p>
            <a:pPr indent="0" marL="0">
              <a:lnSpc>
                <a:spcPts val="2000"/>
              </a:lnSpc>
              <a:buNone/>
            </a:pPr>
            <a:r>
              <a:rPr lang="en-US" sz="1300" b="1" dirty="0">
                <a:solidFill>
                  <a:srgbClr val="141210"/>
                </a:solidFill>
                <a:latin typeface="Yu Gothic" pitchFamily="34" charset="0"/>
                <a:ea typeface="Yu Gothic" pitchFamily="34" charset="-122"/>
                <a:cs typeface="Yu Gothic" pitchFamily="34" charset="-120"/>
              </a:rPr>
              <a:t>REVA Groupが運営する就活・インターン支援サービスの公式アカウント。</a:t>
            </a:r>
            <a:endParaRPr lang="en-US" sz="1300" dirty="0"/>
          </a:p>
        </p:txBody>
      </p:sp>
      <p:sp>
        <p:nvSpPr>
          <p:cNvPr id="26" name="Text 19"/>
          <p:cNvSpPr txBox="1"/>
          <p:nvPr/>
        </p:nvSpPr>
        <p:spPr>
          <a:xfrm>
            <a:off x="6309360" y="4434840"/>
            <a:ext cx="5303520" cy="1188720"/>
          </a:xfrm>
          <a:prstGeom prst="rect">
            <a:avLst/>
          </a:prstGeom>
          <a:noFill/>
          <a:ln/>
        </p:spPr>
        <p:txBody>
          <a:bodyPr wrap="square" lIns="0" tIns="0" rIns="0" bIns="0" rtlCol="0" anchor="ctr"/>
          <a:lstStyle/>
          <a:p>
            <a:pPr indent="0" marL="0">
              <a:lnSpc>
                <a:spcPts val="1800"/>
              </a:lnSpc>
              <a:buNone/>
            </a:pPr>
            <a:r>
              <a:rPr lang="en-US" sz="1100" dirty="0">
                <a:solidFill>
                  <a:srgbClr val="5F594E"/>
                </a:solidFill>
                <a:latin typeface="Yu Gothic" pitchFamily="34" charset="0"/>
                <a:ea typeface="Yu Gothic" pitchFamily="34" charset="-122"/>
                <a:cs typeface="Yu Gothic" pitchFamily="34" charset="-120"/>
              </a:rPr>
              <a:t>大学対抗の企画リールが拡散の入口になり、プロフィールのLINEから就活相談の申込みまで一本でつながる設計。「累計インターンマッチング数 業界No.1」をうたうサービスの集客装置です。</a:t>
            </a:r>
            <a:endParaRPr lang="en-US" sz="1100" dirty="0"/>
          </a:p>
        </p:txBody>
      </p:sp>
      <p:sp>
        <p:nvSpPr>
          <p:cNvPr id="27" name="Shape 20"/>
          <p:cNvSpPr/>
          <p:nvPr/>
        </p:nvSpPr>
        <p:spPr>
          <a:xfrm>
            <a:off x="548640" y="6455664"/>
            <a:ext cx="11091672" cy="0"/>
          </a:xfrm>
          <a:prstGeom prst="line">
            <a:avLst/>
          </a:prstGeom>
          <a:noFill/>
          <a:ln w="12700">
            <a:solidFill>
              <a:srgbClr val="E2DCCE"/>
            </a:solidFill>
            <a:prstDash val="solid"/>
          </a:ln>
        </p:spPr>
      </p:sp>
      <p:sp>
        <p:nvSpPr>
          <p:cNvPr id="28" name="Text 21"/>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29" name="Text 22"/>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08 / </a:t>
            </a:r>
            <a:pPr indent="0" marL="0">
              <a:buNone/>
            </a:pPr>
            <a:r>
              <a:rPr lang="en-US" sz="1200" b="1" spc="300" kern="0" dirty="0">
                <a:solidFill>
                  <a:srgbClr val="B8860B"/>
                </a:solidFill>
                <a:latin typeface="Arial" pitchFamily="34" charset="0"/>
                <a:ea typeface="Arial" pitchFamily="34" charset="-122"/>
                <a:cs typeface="Arial" pitchFamily="34" charset="-120"/>
              </a:rPr>
              <a:t>OUR WORKS — INSTAGRAM 02</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REVA Group 様 — 代表「青学生社長」アカウント</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Shape 4"/>
          <p:cNvSpPr/>
          <p:nvPr/>
        </p:nvSpPr>
        <p:spPr>
          <a:xfrm>
            <a:off x="10698480" y="338328"/>
            <a:ext cx="932688" cy="932688"/>
          </a:xfrm>
          <a:prstGeom prst="ellipse">
            <a:avLst/>
          </a:prstGeom>
          <a:ln w="25400">
            <a:solidFill>
              <a:srgbClr val="141210"/>
            </a:solidFill>
            <a:prstDash val="solid"/>
          </a:ln>
        </p:spPr>
      </p:sp>
      <p:pic>
        <p:nvPicPr>
          <p:cNvPr id="7" name="Image 0" descr="icon_rt.png">    </p:cNvPr>
          <p:cNvPicPr>
            <a:picLocks noChangeAspect="1"/>
          </p:cNvPicPr>
          <p:nvPr/>
        </p:nvPicPr>
        <p:blipFill>
          <a:blip r:embed="rId1"/>
          <a:stretch>
            <a:fillRect/>
          </a:stretch>
        </p:blipFill>
        <p:spPr>
          <a:xfrm>
            <a:off x="10744200" y="384048"/>
            <a:ext cx="841248" cy="841248"/>
          </a:xfrm>
          <a:prstGeom prst="rect">
            <a:avLst/>
          </a:prstGeom>
        </p:spPr>
      </p:pic>
      <p:pic>
        <p:nvPicPr>
          <p:cNvPr id="8" name="Image 1" descr="ig_rt_head.jpg">    </p:cNvPr>
          <p:cNvPicPr>
            <a:picLocks noChangeAspect="1"/>
          </p:cNvPicPr>
          <p:nvPr/>
        </p:nvPicPr>
        <p:blipFill>
          <a:blip r:embed="rId2"/>
          <a:stretch>
            <a:fillRect/>
          </a:stretch>
        </p:blipFill>
        <p:spPr>
          <a:xfrm>
            <a:off x="548640" y="1600200"/>
            <a:ext cx="3496905" cy="1481328"/>
          </a:xfrm>
          <a:prstGeom prst="rect">
            <a:avLst/>
          </a:prstGeom>
        </p:spPr>
      </p:pic>
      <p:sp>
        <p:nvSpPr>
          <p:cNvPr id="9" name="Shape 5"/>
          <p:cNvSpPr/>
          <p:nvPr/>
        </p:nvSpPr>
        <p:spPr>
          <a:xfrm>
            <a:off x="548640" y="1600200"/>
            <a:ext cx="3496905" cy="1481328"/>
          </a:xfrm>
          <a:prstGeom prst="rect">
            <a:avLst/>
          </a:prstGeom>
          <a:ln w="19050">
            <a:solidFill>
              <a:srgbClr val="141210"/>
            </a:solidFill>
            <a:prstDash val="solid"/>
          </a:ln>
        </p:spPr>
      </p:sp>
      <p:sp>
        <p:nvSpPr>
          <p:cNvPr id="10" name="Shape 6"/>
          <p:cNvSpPr/>
          <p:nvPr/>
        </p:nvSpPr>
        <p:spPr>
          <a:xfrm>
            <a:off x="4572000" y="1664208"/>
            <a:ext cx="329184" cy="82296"/>
          </a:xfrm>
          <a:prstGeom prst="rect">
            <a:avLst/>
          </a:prstGeom>
          <a:solidFill>
            <a:srgbClr val="FFC62E"/>
          </a:solidFill>
          <a:ln/>
        </p:spPr>
      </p:sp>
      <p:sp>
        <p:nvSpPr>
          <p:cNvPr id="11" name="Text 7"/>
          <p:cNvSpPr txBox="1"/>
          <p:nvPr/>
        </p:nvSpPr>
        <p:spPr>
          <a:xfrm>
            <a:off x="4572000" y="1828800"/>
            <a:ext cx="2011680" cy="27432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企画リール最高再生</a:t>
            </a:r>
            <a:endParaRPr lang="en-US" sz="1050" dirty="0"/>
          </a:p>
        </p:txBody>
      </p:sp>
      <p:sp>
        <p:nvSpPr>
          <p:cNvPr id="12" name="Text 8"/>
          <p:cNvSpPr txBox="1"/>
          <p:nvPr/>
        </p:nvSpPr>
        <p:spPr>
          <a:xfrm>
            <a:off x="4544568" y="2084832"/>
            <a:ext cx="2194560" cy="636104"/>
          </a:xfrm>
          <a:prstGeom prst="rect">
            <a:avLst/>
          </a:prstGeom>
          <a:noFill/>
          <a:ln/>
        </p:spPr>
        <p:txBody>
          <a:bodyPr wrap="square" lIns="0" tIns="0" rIns="0" bIns="0" rtlCol="0" anchor="ctr"/>
          <a:lstStyle/>
          <a:p>
            <a:pPr indent="0" marL="0">
              <a:buNone/>
            </a:pPr>
            <a:r>
              <a:rPr lang="en-US" sz="3200" dirty="0">
                <a:solidFill>
                  <a:srgbClr val="141210"/>
                </a:solidFill>
                <a:latin typeface="Arial Black" pitchFamily="34" charset="0"/>
                <a:ea typeface="Arial Black" pitchFamily="34" charset="-122"/>
                <a:cs typeface="Arial Black" pitchFamily="34" charset="-120"/>
              </a:rPr>
              <a:t>1.3万</a:t>
            </a:r>
            <a:pPr indent="0" marL="0">
              <a:buNone/>
            </a:pPr>
            <a:endParaRPr lang="en-US" sz="3200" dirty="0"/>
          </a:p>
        </p:txBody>
      </p:sp>
      <p:sp>
        <p:nvSpPr>
          <p:cNvPr id="13" name="Text 9"/>
          <p:cNvSpPr txBox="1"/>
          <p:nvPr/>
        </p:nvSpPr>
        <p:spPr>
          <a:xfrm>
            <a:off x="6949440" y="1783080"/>
            <a:ext cx="4663440" cy="777240"/>
          </a:xfrm>
          <a:prstGeom prst="rect">
            <a:avLst/>
          </a:prstGeom>
          <a:noFill/>
          <a:ln/>
        </p:spPr>
        <p:txBody>
          <a:bodyPr wrap="square" lIns="0" tIns="0" rIns="0" bIns="0" rtlCol="0" anchor="ctr"/>
          <a:lstStyle/>
          <a:p>
            <a:pPr indent="0" marL="0">
              <a:lnSpc>
                <a:spcPts val="1600"/>
              </a:lnSpc>
              <a:buNone/>
            </a:pPr>
            <a:r>
              <a:rPr lang="en-US" sz="1050" dirty="0">
                <a:solidFill>
                  <a:srgbClr val="5F594E"/>
                </a:solidFill>
                <a:latin typeface="Yu Gothic" pitchFamily="34" charset="0"/>
                <a:ea typeface="Yu Gothic" pitchFamily="34" charset="-122"/>
                <a:cs typeface="Yu Gothic" pitchFamily="34" charset="-120"/>
              </a:rPr>
              <a:t>完全歩合制の営業会社 REVA Group のCEO（05年生まれ・現役青学生）。「若者が1番成り上がれる環境」を発信。</a:t>
            </a:r>
            <a:endParaRPr lang="en-US" sz="1050" dirty="0"/>
          </a:p>
        </p:txBody>
      </p:sp>
      <p:pic>
        <p:nvPicPr>
          <p:cNvPr id="14" name="Image 2" descr="rt1.jpg">    </p:cNvPr>
          <p:cNvPicPr>
            <a:picLocks noChangeAspect="1"/>
          </p:cNvPicPr>
          <p:nvPr/>
        </p:nvPicPr>
        <p:blipFill>
          <a:blip r:embed="rId3"/>
          <a:stretch>
            <a:fillRect/>
          </a:stretch>
        </p:blipFill>
        <p:spPr>
          <a:xfrm>
            <a:off x="548640" y="3310128"/>
            <a:ext cx="1700784" cy="2606040"/>
          </a:xfrm>
          <a:prstGeom prst="rect">
            <a:avLst/>
          </a:prstGeom>
        </p:spPr>
      </p:pic>
      <p:sp>
        <p:nvSpPr>
          <p:cNvPr id="15" name="Shape 10"/>
          <p:cNvSpPr/>
          <p:nvPr/>
        </p:nvSpPr>
        <p:spPr>
          <a:xfrm>
            <a:off x="548640" y="3310128"/>
            <a:ext cx="1700784" cy="2606040"/>
          </a:xfrm>
          <a:prstGeom prst="rect">
            <a:avLst/>
          </a:prstGeom>
          <a:ln w="22225">
            <a:solidFill>
              <a:srgbClr val="141210"/>
            </a:solidFill>
            <a:prstDash val="solid"/>
          </a:ln>
        </p:spPr>
      </p:sp>
      <p:pic>
        <p:nvPicPr>
          <p:cNvPr id="16" name="Image 3" descr="rt2.jpg">    </p:cNvPr>
          <p:cNvPicPr>
            <a:picLocks noChangeAspect="1"/>
          </p:cNvPicPr>
          <p:nvPr/>
        </p:nvPicPr>
        <p:blipFill>
          <a:blip r:embed="rId4"/>
          <a:stretch>
            <a:fillRect/>
          </a:stretch>
        </p:blipFill>
        <p:spPr>
          <a:xfrm>
            <a:off x="2386584" y="3310128"/>
            <a:ext cx="1700784" cy="2606040"/>
          </a:xfrm>
          <a:prstGeom prst="rect">
            <a:avLst/>
          </a:prstGeom>
        </p:spPr>
      </p:pic>
      <p:sp>
        <p:nvSpPr>
          <p:cNvPr id="17" name="Shape 11"/>
          <p:cNvSpPr/>
          <p:nvPr/>
        </p:nvSpPr>
        <p:spPr>
          <a:xfrm>
            <a:off x="2386584" y="3310128"/>
            <a:ext cx="1700784" cy="2606040"/>
          </a:xfrm>
          <a:prstGeom prst="rect">
            <a:avLst/>
          </a:prstGeom>
          <a:ln w="22225">
            <a:solidFill>
              <a:srgbClr val="141210"/>
            </a:solidFill>
            <a:prstDash val="solid"/>
          </a:ln>
        </p:spPr>
      </p:sp>
      <p:pic>
        <p:nvPicPr>
          <p:cNvPr id="18" name="Image 4" descr="rt3.jpg">    </p:cNvPr>
          <p:cNvPicPr>
            <a:picLocks noChangeAspect="1"/>
          </p:cNvPicPr>
          <p:nvPr/>
        </p:nvPicPr>
        <p:blipFill>
          <a:blip r:embed="rId5"/>
          <a:stretch>
            <a:fillRect/>
          </a:stretch>
        </p:blipFill>
        <p:spPr>
          <a:xfrm>
            <a:off x="4224528" y="3310128"/>
            <a:ext cx="1700784" cy="2606040"/>
          </a:xfrm>
          <a:prstGeom prst="rect">
            <a:avLst/>
          </a:prstGeom>
        </p:spPr>
      </p:pic>
      <p:sp>
        <p:nvSpPr>
          <p:cNvPr id="19" name="Shape 12"/>
          <p:cNvSpPr/>
          <p:nvPr/>
        </p:nvSpPr>
        <p:spPr>
          <a:xfrm>
            <a:off x="4224528" y="3310128"/>
            <a:ext cx="1700784" cy="2606040"/>
          </a:xfrm>
          <a:prstGeom prst="rect">
            <a:avLst/>
          </a:prstGeom>
          <a:ln w="22225">
            <a:solidFill>
              <a:srgbClr val="141210"/>
            </a:solidFill>
            <a:prstDash val="solid"/>
          </a:ln>
        </p:spPr>
      </p:sp>
      <p:pic>
        <p:nvPicPr>
          <p:cNvPr id="20" name="Image 5" descr="rt4.jpg">    </p:cNvPr>
          <p:cNvPicPr>
            <a:picLocks noChangeAspect="1"/>
          </p:cNvPicPr>
          <p:nvPr/>
        </p:nvPicPr>
        <p:blipFill>
          <a:blip r:embed="rId6"/>
          <a:stretch>
            <a:fillRect/>
          </a:stretch>
        </p:blipFill>
        <p:spPr>
          <a:xfrm>
            <a:off x="6062472" y="3310128"/>
            <a:ext cx="1700784" cy="2606040"/>
          </a:xfrm>
          <a:prstGeom prst="rect">
            <a:avLst/>
          </a:prstGeom>
        </p:spPr>
      </p:pic>
      <p:sp>
        <p:nvSpPr>
          <p:cNvPr id="21" name="Shape 13"/>
          <p:cNvSpPr/>
          <p:nvPr/>
        </p:nvSpPr>
        <p:spPr>
          <a:xfrm>
            <a:off x="6062472" y="3310128"/>
            <a:ext cx="1700784" cy="2606040"/>
          </a:xfrm>
          <a:prstGeom prst="rect">
            <a:avLst/>
          </a:prstGeom>
          <a:ln w="22225">
            <a:solidFill>
              <a:srgbClr val="141210"/>
            </a:solidFill>
            <a:prstDash val="solid"/>
          </a:ln>
        </p:spPr>
      </p:sp>
      <p:sp>
        <p:nvSpPr>
          <p:cNvPr id="22" name="Text 14"/>
          <p:cNvSpPr txBox="1"/>
          <p:nvPr/>
        </p:nvSpPr>
        <p:spPr>
          <a:xfrm>
            <a:off x="548640" y="5989320"/>
            <a:ext cx="548640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企画リール（再生数は左下の実測値）</a:t>
            </a:r>
            <a:endParaRPr lang="en-US" sz="900" dirty="0"/>
          </a:p>
        </p:txBody>
      </p:sp>
      <p:sp>
        <p:nvSpPr>
          <p:cNvPr id="23" name="Shape 15"/>
          <p:cNvSpPr/>
          <p:nvPr/>
        </p:nvSpPr>
        <p:spPr>
          <a:xfrm>
            <a:off x="8229600" y="3429000"/>
            <a:ext cx="329184" cy="82296"/>
          </a:xfrm>
          <a:prstGeom prst="rect">
            <a:avLst/>
          </a:prstGeom>
          <a:solidFill>
            <a:srgbClr val="FFC62E"/>
          </a:solidFill>
          <a:ln/>
        </p:spPr>
      </p:sp>
      <p:sp>
        <p:nvSpPr>
          <p:cNvPr id="24" name="Text 16"/>
          <p:cNvSpPr txBox="1"/>
          <p:nvPr/>
        </p:nvSpPr>
        <p:spPr>
          <a:xfrm>
            <a:off x="8229600" y="3639312"/>
            <a:ext cx="3383280" cy="685800"/>
          </a:xfrm>
          <a:prstGeom prst="rect">
            <a:avLst/>
          </a:prstGeom>
          <a:noFill/>
          <a:ln/>
        </p:spPr>
        <p:txBody>
          <a:bodyPr wrap="square" lIns="0" tIns="0" rIns="0" bIns="0" rtlCol="0" anchor="ctr"/>
          <a:lstStyle/>
          <a:p>
            <a:pPr indent="0" marL="0">
              <a:lnSpc>
                <a:spcPts val="2000"/>
              </a:lnSpc>
              <a:buNone/>
            </a:pPr>
            <a:r>
              <a:rPr lang="en-US" sz="1300" b="1" dirty="0">
                <a:solidFill>
                  <a:srgbClr val="141210"/>
                </a:solidFill>
                <a:latin typeface="Yu Gothic" pitchFamily="34" charset="0"/>
                <a:ea typeface="Yu Gothic" pitchFamily="34" charset="-122"/>
                <a:cs typeface="Yu Gothic" pitchFamily="34" charset="-120"/>
              </a:rPr>
              <a:t>代表の顔が見えると、採用も営業も話が早い。</a:t>
            </a:r>
            <a:endParaRPr lang="en-US" sz="1300" dirty="0"/>
          </a:p>
        </p:txBody>
      </p:sp>
      <p:sp>
        <p:nvSpPr>
          <p:cNvPr id="25" name="Text 17"/>
          <p:cNvSpPr txBox="1"/>
          <p:nvPr/>
        </p:nvSpPr>
        <p:spPr>
          <a:xfrm>
            <a:off x="8229600" y="4434840"/>
            <a:ext cx="3383280" cy="1371600"/>
          </a:xfrm>
          <a:prstGeom prst="rect">
            <a:avLst/>
          </a:prstGeom>
          <a:noFill/>
          <a:ln/>
        </p:spPr>
        <p:txBody>
          <a:bodyPr wrap="square" lIns="0" tIns="0" rIns="0" bIns="0" rtlCol="0" anchor="ctr"/>
          <a:lstStyle/>
          <a:p>
            <a:pPr indent="0" marL="0">
              <a:lnSpc>
                <a:spcPts val="1800"/>
              </a:lnSpc>
              <a:buNone/>
            </a:pPr>
            <a:r>
              <a:rPr lang="en-US" sz="1100" dirty="0">
                <a:solidFill>
                  <a:srgbClr val="5F594E"/>
                </a:solidFill>
                <a:latin typeface="Yu Gothic" pitchFamily="34" charset="0"/>
                <a:ea typeface="Yu Gothic" pitchFamily="34" charset="-122"/>
                <a:cs typeface="Yu Gothic" pitchFamily="34" charset="-120"/>
              </a:rPr>
              <a:t>応募者は入社前に「社長の顔」を検索します。その答えを先に用意しておく、完全歩合制の営業会社のCEOアカウントです。</a:t>
            </a:r>
            <a:endParaRPr lang="en-US" sz="1100" dirty="0"/>
          </a:p>
        </p:txBody>
      </p:sp>
      <p:sp>
        <p:nvSpPr>
          <p:cNvPr id="26" name="Shape 18"/>
          <p:cNvSpPr/>
          <p:nvPr/>
        </p:nvSpPr>
        <p:spPr>
          <a:xfrm>
            <a:off x="548640" y="6455664"/>
            <a:ext cx="11091672" cy="0"/>
          </a:xfrm>
          <a:prstGeom prst="line">
            <a:avLst/>
          </a:prstGeom>
          <a:noFill/>
          <a:ln w="12700">
            <a:solidFill>
              <a:srgbClr val="E2DCCE"/>
            </a:solidFill>
            <a:prstDash val="solid"/>
          </a:ln>
        </p:spPr>
      </p:sp>
      <p:sp>
        <p:nvSpPr>
          <p:cNvPr id="27" name="Text 19"/>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28" name="Text 20"/>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08 / </a:t>
            </a:r>
            <a:pPr indent="0" marL="0">
              <a:buNone/>
            </a:pPr>
            <a:r>
              <a:rPr lang="en-US" sz="1200" b="1" spc="300" kern="0" dirty="0">
                <a:solidFill>
                  <a:srgbClr val="B8860B"/>
                </a:solidFill>
                <a:latin typeface="Arial" pitchFamily="34" charset="0"/>
                <a:ea typeface="Arial" pitchFamily="34" charset="-122"/>
                <a:cs typeface="Arial" pitchFamily="34" charset="-120"/>
              </a:rPr>
              <a:t>OUR WORKS — INSTAGRAM 03</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REVA Group 様 — メンバーアカウント</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Shape 4"/>
          <p:cNvSpPr/>
          <p:nvPr/>
        </p:nvSpPr>
        <p:spPr>
          <a:xfrm>
            <a:off x="10698480" y="338328"/>
            <a:ext cx="932688" cy="932688"/>
          </a:xfrm>
          <a:prstGeom prst="ellipse">
            <a:avLst/>
          </a:prstGeom>
          <a:ln w="25400">
            <a:solidFill>
              <a:srgbClr val="141210"/>
            </a:solidFill>
            <a:prstDash val="solid"/>
          </a:ln>
        </p:spPr>
      </p:sp>
      <p:pic>
        <p:nvPicPr>
          <p:cNvPr id="7" name="Image 0" descr="icon_inai.png">    </p:cNvPr>
          <p:cNvPicPr>
            <a:picLocks noChangeAspect="1"/>
          </p:cNvPicPr>
          <p:nvPr/>
        </p:nvPicPr>
        <p:blipFill>
          <a:blip r:embed="rId1"/>
          <a:stretch>
            <a:fillRect/>
          </a:stretch>
        </p:blipFill>
        <p:spPr>
          <a:xfrm>
            <a:off x="10744200" y="384048"/>
            <a:ext cx="841248" cy="841248"/>
          </a:xfrm>
          <a:prstGeom prst="rect">
            <a:avLst/>
          </a:prstGeom>
        </p:spPr>
      </p:pic>
      <p:pic>
        <p:nvPicPr>
          <p:cNvPr id="8" name="Image 1" descr="ig_in_head.jpg">    </p:cNvPr>
          <p:cNvPicPr>
            <a:picLocks noChangeAspect="1"/>
          </p:cNvPicPr>
          <p:nvPr/>
        </p:nvPicPr>
        <p:blipFill>
          <a:blip r:embed="rId2"/>
          <a:stretch>
            <a:fillRect/>
          </a:stretch>
        </p:blipFill>
        <p:spPr>
          <a:xfrm>
            <a:off x="548640" y="1600200"/>
            <a:ext cx="3677780" cy="1481328"/>
          </a:xfrm>
          <a:prstGeom prst="rect">
            <a:avLst/>
          </a:prstGeom>
        </p:spPr>
      </p:pic>
      <p:sp>
        <p:nvSpPr>
          <p:cNvPr id="9" name="Shape 5"/>
          <p:cNvSpPr/>
          <p:nvPr/>
        </p:nvSpPr>
        <p:spPr>
          <a:xfrm>
            <a:off x="548640" y="1600200"/>
            <a:ext cx="3677780" cy="1481328"/>
          </a:xfrm>
          <a:prstGeom prst="rect">
            <a:avLst/>
          </a:prstGeom>
          <a:ln w="19050">
            <a:solidFill>
              <a:srgbClr val="141210"/>
            </a:solidFill>
            <a:prstDash val="solid"/>
          </a:ln>
        </p:spPr>
      </p:sp>
      <p:sp>
        <p:nvSpPr>
          <p:cNvPr id="10" name="Shape 6"/>
          <p:cNvSpPr/>
          <p:nvPr/>
        </p:nvSpPr>
        <p:spPr>
          <a:xfrm>
            <a:off x="4800600" y="1664208"/>
            <a:ext cx="329184" cy="82296"/>
          </a:xfrm>
          <a:prstGeom prst="rect">
            <a:avLst/>
          </a:prstGeom>
          <a:solidFill>
            <a:srgbClr val="FFC62E"/>
          </a:solidFill>
          <a:ln/>
        </p:spPr>
      </p:sp>
      <p:sp>
        <p:nvSpPr>
          <p:cNvPr id="11" name="Text 7"/>
          <p:cNvSpPr txBox="1"/>
          <p:nvPr/>
        </p:nvSpPr>
        <p:spPr>
          <a:xfrm>
            <a:off x="4800600" y="1828800"/>
            <a:ext cx="2011680" cy="27432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リール最高再生</a:t>
            </a:r>
            <a:endParaRPr lang="en-US" sz="1050" dirty="0"/>
          </a:p>
        </p:txBody>
      </p:sp>
      <p:sp>
        <p:nvSpPr>
          <p:cNvPr id="12" name="Text 8"/>
          <p:cNvSpPr txBox="1"/>
          <p:nvPr/>
        </p:nvSpPr>
        <p:spPr>
          <a:xfrm>
            <a:off x="4773168" y="2084832"/>
            <a:ext cx="2194560" cy="636104"/>
          </a:xfrm>
          <a:prstGeom prst="rect">
            <a:avLst/>
          </a:prstGeom>
          <a:noFill/>
          <a:ln/>
        </p:spPr>
        <p:txBody>
          <a:bodyPr wrap="square" lIns="0" tIns="0" rIns="0" bIns="0" rtlCol="0" anchor="ctr"/>
          <a:lstStyle/>
          <a:p>
            <a:pPr indent="0" marL="0">
              <a:buNone/>
            </a:pPr>
            <a:r>
              <a:rPr lang="en-US" sz="3200" dirty="0">
                <a:solidFill>
                  <a:srgbClr val="141210"/>
                </a:solidFill>
                <a:latin typeface="Arial Black" pitchFamily="34" charset="0"/>
                <a:ea typeface="Arial Black" pitchFamily="34" charset="-122"/>
                <a:cs typeface="Arial Black" pitchFamily="34" charset="-120"/>
              </a:rPr>
              <a:t>3.9万</a:t>
            </a:r>
            <a:pPr indent="0" marL="0">
              <a:buNone/>
            </a:pPr>
            <a:endParaRPr lang="en-US" sz="3200" dirty="0"/>
          </a:p>
        </p:txBody>
      </p:sp>
      <p:sp>
        <p:nvSpPr>
          <p:cNvPr id="13" name="Text 9"/>
          <p:cNvSpPr txBox="1"/>
          <p:nvPr/>
        </p:nvSpPr>
        <p:spPr>
          <a:xfrm>
            <a:off x="7132320" y="1783080"/>
            <a:ext cx="4480560" cy="777240"/>
          </a:xfrm>
          <a:prstGeom prst="rect">
            <a:avLst/>
          </a:prstGeom>
          <a:noFill/>
          <a:ln/>
        </p:spPr>
        <p:txBody>
          <a:bodyPr wrap="square" lIns="0" tIns="0" rIns="0" bIns="0" rtlCol="0" anchor="ctr"/>
          <a:lstStyle/>
          <a:p>
            <a:pPr indent="0" marL="0">
              <a:lnSpc>
                <a:spcPts val="1600"/>
              </a:lnSpc>
              <a:buNone/>
            </a:pPr>
            <a:r>
              <a:rPr lang="en-US" sz="1050" dirty="0">
                <a:solidFill>
                  <a:srgbClr val="5F594E"/>
                </a:solidFill>
                <a:latin typeface="Yu Gothic" pitchFamily="34" charset="0"/>
                <a:ea typeface="Yu Gothic" pitchFamily="34" charset="-122"/>
                <a:cs typeface="Yu Gothic" pitchFamily="34" charset="-120"/>
              </a:rPr>
              <a:t>営業会社 REVA Group のメンバーによる「学歴・就活の本音」発信。会社の公式が言えないことを個人の声で。</a:t>
            </a:r>
            <a:endParaRPr lang="en-US" sz="1050" dirty="0"/>
          </a:p>
        </p:txBody>
      </p:sp>
      <p:pic>
        <p:nvPicPr>
          <p:cNvPr id="14" name="Image 2" descr="in1.jpg">    </p:cNvPr>
          <p:cNvPicPr>
            <a:picLocks noChangeAspect="1"/>
          </p:cNvPicPr>
          <p:nvPr/>
        </p:nvPicPr>
        <p:blipFill>
          <a:blip r:embed="rId3"/>
          <a:stretch>
            <a:fillRect/>
          </a:stretch>
        </p:blipFill>
        <p:spPr>
          <a:xfrm>
            <a:off x="548640" y="3310128"/>
            <a:ext cx="1700784" cy="2606040"/>
          </a:xfrm>
          <a:prstGeom prst="rect">
            <a:avLst/>
          </a:prstGeom>
        </p:spPr>
      </p:pic>
      <p:sp>
        <p:nvSpPr>
          <p:cNvPr id="15" name="Shape 10"/>
          <p:cNvSpPr/>
          <p:nvPr/>
        </p:nvSpPr>
        <p:spPr>
          <a:xfrm>
            <a:off x="548640" y="3310128"/>
            <a:ext cx="1700784" cy="2606040"/>
          </a:xfrm>
          <a:prstGeom prst="rect">
            <a:avLst/>
          </a:prstGeom>
          <a:ln w="22225">
            <a:solidFill>
              <a:srgbClr val="141210"/>
            </a:solidFill>
            <a:prstDash val="solid"/>
          </a:ln>
        </p:spPr>
      </p:sp>
      <p:pic>
        <p:nvPicPr>
          <p:cNvPr id="16" name="Image 3" descr="in2.jpg">    </p:cNvPr>
          <p:cNvPicPr>
            <a:picLocks noChangeAspect="1"/>
          </p:cNvPicPr>
          <p:nvPr/>
        </p:nvPicPr>
        <p:blipFill>
          <a:blip r:embed="rId4"/>
          <a:stretch>
            <a:fillRect/>
          </a:stretch>
        </p:blipFill>
        <p:spPr>
          <a:xfrm>
            <a:off x="2386584" y="3310128"/>
            <a:ext cx="1700784" cy="2606040"/>
          </a:xfrm>
          <a:prstGeom prst="rect">
            <a:avLst/>
          </a:prstGeom>
        </p:spPr>
      </p:pic>
      <p:sp>
        <p:nvSpPr>
          <p:cNvPr id="17" name="Shape 11"/>
          <p:cNvSpPr/>
          <p:nvPr/>
        </p:nvSpPr>
        <p:spPr>
          <a:xfrm>
            <a:off x="2386584" y="3310128"/>
            <a:ext cx="1700784" cy="2606040"/>
          </a:xfrm>
          <a:prstGeom prst="rect">
            <a:avLst/>
          </a:prstGeom>
          <a:ln w="22225">
            <a:solidFill>
              <a:srgbClr val="141210"/>
            </a:solidFill>
            <a:prstDash val="solid"/>
          </a:ln>
        </p:spPr>
      </p:sp>
      <p:pic>
        <p:nvPicPr>
          <p:cNvPr id="18" name="Image 4" descr="in3.jpg">    </p:cNvPr>
          <p:cNvPicPr>
            <a:picLocks noChangeAspect="1"/>
          </p:cNvPicPr>
          <p:nvPr/>
        </p:nvPicPr>
        <p:blipFill>
          <a:blip r:embed="rId5"/>
          <a:stretch>
            <a:fillRect/>
          </a:stretch>
        </p:blipFill>
        <p:spPr>
          <a:xfrm>
            <a:off x="4224528" y="3310128"/>
            <a:ext cx="1700784" cy="2606040"/>
          </a:xfrm>
          <a:prstGeom prst="rect">
            <a:avLst/>
          </a:prstGeom>
        </p:spPr>
      </p:pic>
      <p:sp>
        <p:nvSpPr>
          <p:cNvPr id="19" name="Shape 12"/>
          <p:cNvSpPr/>
          <p:nvPr/>
        </p:nvSpPr>
        <p:spPr>
          <a:xfrm>
            <a:off x="4224528" y="3310128"/>
            <a:ext cx="1700784" cy="2606040"/>
          </a:xfrm>
          <a:prstGeom prst="rect">
            <a:avLst/>
          </a:prstGeom>
          <a:ln w="22225">
            <a:solidFill>
              <a:srgbClr val="141210"/>
            </a:solidFill>
            <a:prstDash val="solid"/>
          </a:ln>
        </p:spPr>
      </p:sp>
      <p:pic>
        <p:nvPicPr>
          <p:cNvPr id="20" name="Image 5" descr="in4.jpg">    </p:cNvPr>
          <p:cNvPicPr>
            <a:picLocks noChangeAspect="1"/>
          </p:cNvPicPr>
          <p:nvPr/>
        </p:nvPicPr>
        <p:blipFill>
          <a:blip r:embed="rId6"/>
          <a:stretch>
            <a:fillRect/>
          </a:stretch>
        </p:blipFill>
        <p:spPr>
          <a:xfrm>
            <a:off x="6062472" y="3310128"/>
            <a:ext cx="1700784" cy="2606040"/>
          </a:xfrm>
          <a:prstGeom prst="rect">
            <a:avLst/>
          </a:prstGeom>
        </p:spPr>
      </p:pic>
      <p:sp>
        <p:nvSpPr>
          <p:cNvPr id="21" name="Shape 13"/>
          <p:cNvSpPr/>
          <p:nvPr/>
        </p:nvSpPr>
        <p:spPr>
          <a:xfrm>
            <a:off x="6062472" y="3310128"/>
            <a:ext cx="1700784" cy="2606040"/>
          </a:xfrm>
          <a:prstGeom prst="rect">
            <a:avLst/>
          </a:prstGeom>
          <a:ln w="22225">
            <a:solidFill>
              <a:srgbClr val="141210"/>
            </a:solidFill>
            <a:prstDash val="solid"/>
          </a:ln>
        </p:spPr>
      </p:sp>
      <p:sp>
        <p:nvSpPr>
          <p:cNvPr id="22" name="Text 14"/>
          <p:cNvSpPr txBox="1"/>
          <p:nvPr/>
        </p:nvSpPr>
        <p:spPr>
          <a:xfrm>
            <a:off x="548640" y="5989320"/>
            <a:ext cx="548640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リール（再生数は左下の実測値）</a:t>
            </a:r>
            <a:endParaRPr lang="en-US" sz="900" dirty="0"/>
          </a:p>
        </p:txBody>
      </p:sp>
      <p:sp>
        <p:nvSpPr>
          <p:cNvPr id="23" name="Shape 15"/>
          <p:cNvSpPr/>
          <p:nvPr/>
        </p:nvSpPr>
        <p:spPr>
          <a:xfrm>
            <a:off x="8229600" y="3429000"/>
            <a:ext cx="329184" cy="82296"/>
          </a:xfrm>
          <a:prstGeom prst="rect">
            <a:avLst/>
          </a:prstGeom>
          <a:solidFill>
            <a:srgbClr val="FFC62E"/>
          </a:solidFill>
          <a:ln/>
        </p:spPr>
      </p:sp>
      <p:sp>
        <p:nvSpPr>
          <p:cNvPr id="24" name="Text 16"/>
          <p:cNvSpPr txBox="1"/>
          <p:nvPr/>
        </p:nvSpPr>
        <p:spPr>
          <a:xfrm>
            <a:off x="8229600" y="3639312"/>
            <a:ext cx="3383280" cy="685800"/>
          </a:xfrm>
          <a:prstGeom prst="rect">
            <a:avLst/>
          </a:prstGeom>
          <a:noFill/>
          <a:ln/>
        </p:spPr>
        <p:txBody>
          <a:bodyPr wrap="square" lIns="0" tIns="0" rIns="0" bIns="0" rtlCol="0" anchor="ctr"/>
          <a:lstStyle/>
          <a:p>
            <a:pPr indent="0" marL="0">
              <a:lnSpc>
                <a:spcPts val="2000"/>
              </a:lnSpc>
              <a:buNone/>
            </a:pPr>
            <a:r>
              <a:rPr lang="en-US" sz="1300" b="1" dirty="0">
                <a:solidFill>
                  <a:srgbClr val="141210"/>
                </a:solidFill>
                <a:latin typeface="Yu Gothic" pitchFamily="34" charset="0"/>
                <a:ea typeface="Yu Gothic" pitchFamily="34" charset="-122"/>
                <a:cs typeface="Yu Gothic" pitchFamily="34" charset="-120"/>
              </a:rPr>
              <a:t>公式・代表・メンバーの3面運用で、入口を3倍に。</a:t>
            </a:r>
            <a:endParaRPr lang="en-US" sz="1300" dirty="0"/>
          </a:p>
        </p:txBody>
      </p:sp>
      <p:sp>
        <p:nvSpPr>
          <p:cNvPr id="25" name="Text 17"/>
          <p:cNvSpPr txBox="1"/>
          <p:nvPr/>
        </p:nvSpPr>
        <p:spPr>
          <a:xfrm>
            <a:off x="8229600" y="4434840"/>
            <a:ext cx="3383280" cy="1371600"/>
          </a:xfrm>
          <a:prstGeom prst="rect">
            <a:avLst/>
          </a:prstGeom>
          <a:noFill/>
          <a:ln/>
        </p:spPr>
        <p:txBody>
          <a:bodyPr wrap="square" lIns="0" tIns="0" rIns="0" bIns="0" rtlCol="0" anchor="ctr"/>
          <a:lstStyle/>
          <a:p>
            <a:pPr indent="0" marL="0">
              <a:lnSpc>
                <a:spcPts val="1800"/>
              </a:lnSpc>
              <a:buNone/>
            </a:pPr>
            <a:r>
              <a:rPr lang="en-US" sz="1100" dirty="0">
                <a:solidFill>
                  <a:srgbClr val="5F594E"/>
                </a:solidFill>
                <a:latin typeface="Yu Gothic" pitchFamily="34" charset="0"/>
                <a:ea typeface="Yu Gothic" pitchFamily="34" charset="-122"/>
                <a:cs typeface="Yu Gothic" pitchFamily="34" charset="-120"/>
              </a:rPr>
              <a:t>1社1アカウントの時代は終わり。REVA Groupの3枚は、BRIDGE HATCHが推奨する複数アカウント戦略の実例です。</a:t>
            </a:r>
            <a:endParaRPr lang="en-US" sz="1100" dirty="0"/>
          </a:p>
        </p:txBody>
      </p:sp>
      <p:sp>
        <p:nvSpPr>
          <p:cNvPr id="26" name="Shape 18"/>
          <p:cNvSpPr/>
          <p:nvPr/>
        </p:nvSpPr>
        <p:spPr>
          <a:xfrm>
            <a:off x="548640" y="6455664"/>
            <a:ext cx="11091672" cy="0"/>
          </a:xfrm>
          <a:prstGeom prst="line">
            <a:avLst/>
          </a:prstGeom>
          <a:noFill/>
          <a:ln w="12700">
            <a:solidFill>
              <a:srgbClr val="E2DCCE"/>
            </a:solidFill>
            <a:prstDash val="solid"/>
          </a:ln>
        </p:spPr>
      </p:sp>
      <p:sp>
        <p:nvSpPr>
          <p:cNvPr id="27" name="Text 19"/>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28" name="Text 20"/>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09 / </a:t>
            </a:r>
            <a:pPr indent="0" marL="0">
              <a:buNone/>
            </a:pPr>
            <a:r>
              <a:rPr lang="en-US" sz="1200" b="1" spc="300" kern="0" dirty="0">
                <a:solidFill>
                  <a:srgbClr val="B8860B"/>
                </a:solidFill>
                <a:latin typeface="Arial" pitchFamily="34" charset="0"/>
                <a:ea typeface="Arial" pitchFamily="34" charset="-122"/>
                <a:cs typeface="Arial" pitchFamily="34" charset="-120"/>
              </a:rPr>
              <a:t>CLIENT COMPANY</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導入企業のご紹介 — オーダースーツSADA 様</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Shape 4"/>
          <p:cNvSpPr/>
          <p:nvPr/>
        </p:nvSpPr>
        <p:spPr>
          <a:xfrm>
            <a:off x="10698480" y="338328"/>
            <a:ext cx="932688" cy="932688"/>
          </a:xfrm>
          <a:prstGeom prst="ellipse">
            <a:avLst/>
          </a:prstGeom>
          <a:ln w="25400">
            <a:solidFill>
              <a:srgbClr val="141210"/>
            </a:solidFill>
            <a:prstDash val="solid"/>
          </a:ln>
        </p:spPr>
      </p:sp>
      <p:pic>
        <p:nvPicPr>
          <p:cNvPr id="7" name="Image 0" descr="icon_sada.png">    </p:cNvPr>
          <p:cNvPicPr>
            <a:picLocks noChangeAspect="1"/>
          </p:cNvPicPr>
          <p:nvPr/>
        </p:nvPicPr>
        <p:blipFill>
          <a:blip r:embed="rId1"/>
          <a:stretch>
            <a:fillRect/>
          </a:stretch>
        </p:blipFill>
        <p:spPr>
          <a:xfrm>
            <a:off x="10744200" y="384048"/>
            <a:ext cx="841248" cy="841248"/>
          </a:xfrm>
          <a:prstGeom prst="rect">
            <a:avLst/>
          </a:prstGeom>
        </p:spPr>
      </p:pic>
      <p:sp>
        <p:nvSpPr>
          <p:cNvPr id="8" name="Shape 5"/>
          <p:cNvSpPr/>
          <p:nvPr/>
        </p:nvSpPr>
        <p:spPr>
          <a:xfrm>
            <a:off x="548640" y="3913632"/>
            <a:ext cx="2651760" cy="128016"/>
          </a:xfrm>
          <a:prstGeom prst="rect">
            <a:avLst/>
          </a:prstGeom>
          <a:solidFill>
            <a:srgbClr val="FFC62E"/>
          </a:solidFill>
          <a:ln/>
        </p:spPr>
      </p:sp>
      <p:pic>
        <p:nvPicPr>
          <p:cNvPr id="9" name="Image 1" descr="sada_ceo_cut.png">    </p:cNvPr>
          <p:cNvPicPr>
            <a:picLocks noChangeAspect="1"/>
          </p:cNvPicPr>
          <p:nvPr/>
        </p:nvPicPr>
        <p:blipFill>
          <a:blip r:embed="rId2"/>
          <a:stretch>
            <a:fillRect/>
          </a:stretch>
        </p:blipFill>
        <p:spPr>
          <a:xfrm>
            <a:off x="566928" y="1600200"/>
            <a:ext cx="2509464" cy="2468880"/>
          </a:xfrm>
          <a:prstGeom prst="rect">
            <a:avLst/>
          </a:prstGeom>
        </p:spPr>
      </p:pic>
      <p:sp>
        <p:nvSpPr>
          <p:cNvPr id="10" name="Text 6"/>
          <p:cNvSpPr txBox="1"/>
          <p:nvPr/>
        </p:nvSpPr>
        <p:spPr>
          <a:xfrm>
            <a:off x="548640" y="4114800"/>
            <a:ext cx="2834640" cy="502920"/>
          </a:xfrm>
          <a:prstGeom prst="rect">
            <a:avLst/>
          </a:prstGeom>
          <a:noFill/>
          <a:ln/>
        </p:spPr>
        <p:txBody>
          <a:bodyPr wrap="square" lIns="0" tIns="0" rIns="0" bIns="0" rtlCol="0" anchor="ctr"/>
          <a:lstStyle/>
          <a:p>
            <a:pPr indent="0" marL="0">
              <a:lnSpc>
                <a:spcPts val="1350"/>
              </a:lnSpc>
              <a:buNone/>
            </a:pPr>
            <a:r>
              <a:rPr lang="en-US" sz="950" b="1" dirty="0">
                <a:solidFill>
                  <a:srgbClr val="141210"/>
                </a:solidFill>
                <a:latin typeface="Yu Gothic" pitchFamily="34" charset="0"/>
                <a:ea typeface="Yu Gothic" pitchFamily="34" charset="-122"/>
                <a:cs typeface="Yu Gothic" pitchFamily="34" charset="-120"/>
              </a:rPr>
              <a:t>代表取締役社長　佐田展隆 氏</a:t>
            </a:r>
            <a:endParaRPr lang="en-US" sz="950" dirty="0"/>
          </a:p>
        </p:txBody>
      </p:sp>
      <p:sp>
        <p:nvSpPr>
          <p:cNvPr id="11" name="Text 7"/>
          <p:cNvSpPr txBox="1"/>
          <p:nvPr/>
        </p:nvSpPr>
        <p:spPr>
          <a:xfrm>
            <a:off x="3429000" y="1691640"/>
            <a:ext cx="123444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会社名</a:t>
            </a:r>
            <a:endParaRPr lang="en-US" sz="1050" dirty="0"/>
          </a:p>
        </p:txBody>
      </p:sp>
      <p:sp>
        <p:nvSpPr>
          <p:cNvPr id="12" name="Text 8"/>
          <p:cNvSpPr txBox="1"/>
          <p:nvPr/>
        </p:nvSpPr>
        <p:spPr>
          <a:xfrm>
            <a:off x="4709160" y="1691640"/>
            <a:ext cx="3886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株式会社オーダースーツSADA</a:t>
            </a:r>
            <a:endParaRPr lang="en-US" sz="1000" dirty="0"/>
          </a:p>
        </p:txBody>
      </p:sp>
      <p:sp>
        <p:nvSpPr>
          <p:cNvPr id="13" name="Shape 9"/>
          <p:cNvSpPr/>
          <p:nvPr/>
        </p:nvSpPr>
        <p:spPr>
          <a:xfrm>
            <a:off x="3429000" y="2084832"/>
            <a:ext cx="4983480" cy="0"/>
          </a:xfrm>
          <a:prstGeom prst="line">
            <a:avLst/>
          </a:prstGeom>
          <a:noFill/>
          <a:ln w="12700">
            <a:solidFill>
              <a:srgbClr val="E2DCCE"/>
            </a:solidFill>
            <a:prstDash val="solid"/>
          </a:ln>
        </p:spPr>
      </p:sp>
      <p:sp>
        <p:nvSpPr>
          <p:cNvPr id="14" name="Text 10"/>
          <p:cNvSpPr txBox="1"/>
          <p:nvPr/>
        </p:nvSpPr>
        <p:spPr>
          <a:xfrm>
            <a:off x="3429000" y="2157984"/>
            <a:ext cx="123444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創業</a:t>
            </a:r>
            <a:endParaRPr lang="en-US" sz="1050" dirty="0"/>
          </a:p>
        </p:txBody>
      </p:sp>
      <p:sp>
        <p:nvSpPr>
          <p:cNvPr id="15" name="Text 11"/>
          <p:cNvSpPr txBox="1"/>
          <p:nvPr/>
        </p:nvSpPr>
        <p:spPr>
          <a:xfrm>
            <a:off x="4709160" y="2157984"/>
            <a:ext cx="3886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1923年（創業103年）</a:t>
            </a:r>
            <a:endParaRPr lang="en-US" sz="1000" dirty="0"/>
          </a:p>
        </p:txBody>
      </p:sp>
      <p:sp>
        <p:nvSpPr>
          <p:cNvPr id="16" name="Shape 12"/>
          <p:cNvSpPr/>
          <p:nvPr/>
        </p:nvSpPr>
        <p:spPr>
          <a:xfrm>
            <a:off x="3429000" y="2551176"/>
            <a:ext cx="4983480" cy="0"/>
          </a:xfrm>
          <a:prstGeom prst="line">
            <a:avLst/>
          </a:prstGeom>
          <a:noFill/>
          <a:ln w="12700">
            <a:solidFill>
              <a:srgbClr val="E2DCCE"/>
            </a:solidFill>
            <a:prstDash val="solid"/>
          </a:ln>
        </p:spPr>
      </p:sp>
      <p:sp>
        <p:nvSpPr>
          <p:cNvPr id="17" name="Text 13"/>
          <p:cNvSpPr txBox="1"/>
          <p:nvPr/>
        </p:nvSpPr>
        <p:spPr>
          <a:xfrm>
            <a:off x="3429000" y="2624328"/>
            <a:ext cx="123444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事業内容</a:t>
            </a:r>
            <a:endParaRPr lang="en-US" sz="1050" dirty="0"/>
          </a:p>
        </p:txBody>
      </p:sp>
      <p:sp>
        <p:nvSpPr>
          <p:cNvPr id="18" name="Text 14"/>
          <p:cNvSpPr txBox="1"/>
          <p:nvPr/>
        </p:nvSpPr>
        <p:spPr>
          <a:xfrm>
            <a:off x="4709160" y="2624328"/>
            <a:ext cx="3886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フルオーダースーツの製造・販売（国内自社工場で一貫生産）</a:t>
            </a:r>
            <a:endParaRPr lang="en-US" sz="1000" dirty="0"/>
          </a:p>
        </p:txBody>
      </p:sp>
      <p:sp>
        <p:nvSpPr>
          <p:cNvPr id="19" name="Shape 15"/>
          <p:cNvSpPr/>
          <p:nvPr/>
        </p:nvSpPr>
        <p:spPr>
          <a:xfrm>
            <a:off x="3429000" y="3017520"/>
            <a:ext cx="4983480" cy="0"/>
          </a:xfrm>
          <a:prstGeom prst="line">
            <a:avLst/>
          </a:prstGeom>
          <a:noFill/>
          <a:ln w="12700">
            <a:solidFill>
              <a:srgbClr val="E2DCCE"/>
            </a:solidFill>
            <a:prstDash val="solid"/>
          </a:ln>
        </p:spPr>
      </p:sp>
      <p:sp>
        <p:nvSpPr>
          <p:cNvPr id="20" name="Text 16"/>
          <p:cNvSpPr txBox="1"/>
          <p:nvPr/>
        </p:nvSpPr>
        <p:spPr>
          <a:xfrm>
            <a:off x="3429000" y="3090672"/>
            <a:ext cx="123444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店舗</a:t>
            </a:r>
            <a:endParaRPr lang="en-US" sz="1050" dirty="0"/>
          </a:p>
        </p:txBody>
      </p:sp>
      <p:sp>
        <p:nvSpPr>
          <p:cNvPr id="21" name="Text 17"/>
          <p:cNvSpPr txBox="1"/>
          <p:nvPr/>
        </p:nvSpPr>
        <p:spPr>
          <a:xfrm>
            <a:off x="4709160" y="3090672"/>
            <a:ext cx="3886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全国47店舗</a:t>
            </a:r>
            <a:endParaRPr lang="en-US" sz="1000" dirty="0"/>
          </a:p>
        </p:txBody>
      </p:sp>
      <p:sp>
        <p:nvSpPr>
          <p:cNvPr id="22" name="Shape 18"/>
          <p:cNvSpPr/>
          <p:nvPr/>
        </p:nvSpPr>
        <p:spPr>
          <a:xfrm>
            <a:off x="3429000" y="3483864"/>
            <a:ext cx="4983480" cy="0"/>
          </a:xfrm>
          <a:prstGeom prst="line">
            <a:avLst/>
          </a:prstGeom>
          <a:noFill/>
          <a:ln w="12700">
            <a:solidFill>
              <a:srgbClr val="E2DCCE"/>
            </a:solidFill>
            <a:prstDash val="solid"/>
          </a:ln>
        </p:spPr>
      </p:sp>
      <p:sp>
        <p:nvSpPr>
          <p:cNvPr id="23" name="Text 19"/>
          <p:cNvSpPr txBox="1"/>
          <p:nvPr/>
        </p:nvSpPr>
        <p:spPr>
          <a:xfrm>
            <a:off x="3429000" y="3557016"/>
            <a:ext cx="123444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価格帯</a:t>
            </a:r>
            <a:endParaRPr lang="en-US" sz="1050" dirty="0"/>
          </a:p>
        </p:txBody>
      </p:sp>
      <p:sp>
        <p:nvSpPr>
          <p:cNvPr id="24" name="Text 20"/>
          <p:cNvSpPr txBox="1"/>
          <p:nvPr/>
        </p:nvSpPr>
        <p:spPr>
          <a:xfrm>
            <a:off x="4709160" y="3557016"/>
            <a:ext cx="3886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初回お試し 19,800円〜</a:t>
            </a:r>
            <a:endParaRPr lang="en-US" sz="1000" dirty="0"/>
          </a:p>
        </p:txBody>
      </p:sp>
      <p:sp>
        <p:nvSpPr>
          <p:cNvPr id="25" name="Shape 21"/>
          <p:cNvSpPr/>
          <p:nvPr/>
        </p:nvSpPr>
        <p:spPr>
          <a:xfrm>
            <a:off x="3429000" y="3950208"/>
            <a:ext cx="4983480" cy="0"/>
          </a:xfrm>
          <a:prstGeom prst="line">
            <a:avLst/>
          </a:prstGeom>
          <a:noFill/>
          <a:ln w="12700">
            <a:solidFill>
              <a:srgbClr val="E2DCCE"/>
            </a:solidFill>
            <a:prstDash val="solid"/>
          </a:ln>
        </p:spPr>
      </p:sp>
      <p:sp>
        <p:nvSpPr>
          <p:cNvPr id="26" name="Text 22"/>
          <p:cNvSpPr txBox="1"/>
          <p:nvPr/>
        </p:nvSpPr>
        <p:spPr>
          <a:xfrm>
            <a:off x="3429000" y="4023360"/>
            <a:ext cx="123444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経営理念</a:t>
            </a:r>
            <a:endParaRPr lang="en-US" sz="1050" dirty="0"/>
          </a:p>
        </p:txBody>
      </p:sp>
      <p:sp>
        <p:nvSpPr>
          <p:cNvPr id="27" name="Text 23"/>
          <p:cNvSpPr txBox="1"/>
          <p:nvPr/>
        </p:nvSpPr>
        <p:spPr>
          <a:xfrm>
            <a:off x="4709160" y="4023360"/>
            <a:ext cx="3886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オーダースーツで日本のビジネスシーンを明るく、元気に。</a:t>
            </a:r>
            <a:endParaRPr lang="en-US" sz="1000" dirty="0"/>
          </a:p>
        </p:txBody>
      </p:sp>
      <p:sp>
        <p:nvSpPr>
          <p:cNvPr id="28" name="Shape 24"/>
          <p:cNvSpPr/>
          <p:nvPr/>
        </p:nvSpPr>
        <p:spPr>
          <a:xfrm>
            <a:off x="3429000" y="4416552"/>
            <a:ext cx="4983480" cy="0"/>
          </a:xfrm>
          <a:prstGeom prst="line">
            <a:avLst/>
          </a:prstGeom>
          <a:noFill/>
          <a:ln w="12700">
            <a:solidFill>
              <a:srgbClr val="E2DCCE"/>
            </a:solidFill>
            <a:prstDash val="solid"/>
          </a:ln>
        </p:spPr>
      </p:sp>
      <p:sp>
        <p:nvSpPr>
          <p:cNvPr id="29" name="Shape 25"/>
          <p:cNvSpPr/>
          <p:nvPr/>
        </p:nvSpPr>
        <p:spPr>
          <a:xfrm>
            <a:off x="8869680" y="1572768"/>
            <a:ext cx="1883664" cy="3026664"/>
          </a:xfrm>
          <a:prstGeom prst="roundRect">
            <a:avLst>
              <a:gd name="adj" fmla="val 6311"/>
            </a:avLst>
          </a:prstGeom>
          <a:solidFill>
            <a:srgbClr val="141210"/>
          </a:solidFill>
          <a:ln/>
        </p:spPr>
      </p:sp>
      <p:pic>
        <p:nvPicPr>
          <p:cNvPr id="30" name="Image 2" descr="sada_phone.jpg">    </p:cNvPr>
          <p:cNvPicPr>
            <a:picLocks noChangeAspect="1"/>
          </p:cNvPicPr>
          <p:nvPr/>
        </p:nvPicPr>
        <p:blipFill>
          <a:blip r:embed="rId3"/>
          <a:stretch>
            <a:fillRect/>
          </a:stretch>
        </p:blipFill>
        <p:spPr>
          <a:xfrm>
            <a:off x="8942832" y="1700784"/>
            <a:ext cx="1737360" cy="2729484"/>
          </a:xfrm>
          <a:prstGeom prst="rect">
            <a:avLst/>
          </a:prstGeom>
        </p:spPr>
      </p:pic>
      <p:pic>
        <p:nvPicPr>
          <p:cNvPr id="31" name="Image 3" descr="sada_factory_clean.jpg">    </p:cNvPr>
          <p:cNvPicPr>
            <a:picLocks noChangeAspect="1"/>
          </p:cNvPicPr>
          <p:nvPr/>
        </p:nvPicPr>
        <p:blipFill>
          <a:blip r:embed="rId4"/>
          <a:stretch>
            <a:fillRect/>
          </a:stretch>
        </p:blipFill>
        <p:spPr>
          <a:xfrm>
            <a:off x="3429000" y="4617720"/>
            <a:ext cx="1515764" cy="960120"/>
          </a:xfrm>
          <a:prstGeom prst="rect">
            <a:avLst/>
          </a:prstGeom>
        </p:spPr>
      </p:pic>
      <p:sp>
        <p:nvSpPr>
          <p:cNvPr id="32" name="Shape 26"/>
          <p:cNvSpPr/>
          <p:nvPr/>
        </p:nvSpPr>
        <p:spPr>
          <a:xfrm>
            <a:off x="3429000" y="4617720"/>
            <a:ext cx="1515764" cy="960120"/>
          </a:xfrm>
          <a:prstGeom prst="rect">
            <a:avLst/>
          </a:prstGeom>
          <a:ln w="22225">
            <a:solidFill>
              <a:srgbClr val="141210"/>
            </a:solidFill>
            <a:prstDash val="solid"/>
          </a:ln>
        </p:spPr>
      </p:sp>
      <p:sp>
        <p:nvSpPr>
          <p:cNvPr id="33" name="Text 27"/>
          <p:cNvSpPr txBox="1"/>
          <p:nvPr/>
        </p:nvSpPr>
        <p:spPr>
          <a:xfrm>
            <a:off x="3429000" y="5641848"/>
            <a:ext cx="2430164"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国内自社工場での一貫生産</a:t>
            </a:r>
            <a:endParaRPr lang="en-US" sz="900" dirty="0"/>
          </a:p>
        </p:txBody>
      </p:sp>
      <p:pic>
        <p:nvPicPr>
          <p:cNvPr id="34" name="Image 4" descr="sada_bldg_wide.jpg">    </p:cNvPr>
          <p:cNvPicPr>
            <a:picLocks noChangeAspect="1"/>
          </p:cNvPicPr>
          <p:nvPr/>
        </p:nvPicPr>
        <p:blipFill>
          <a:blip r:embed="rId5"/>
          <a:stretch>
            <a:fillRect/>
          </a:stretch>
        </p:blipFill>
        <p:spPr>
          <a:xfrm>
            <a:off x="5120640" y="4617720"/>
            <a:ext cx="1396538" cy="960120"/>
          </a:xfrm>
          <a:prstGeom prst="rect">
            <a:avLst/>
          </a:prstGeom>
        </p:spPr>
      </p:pic>
      <p:sp>
        <p:nvSpPr>
          <p:cNvPr id="35" name="Shape 28"/>
          <p:cNvSpPr/>
          <p:nvPr/>
        </p:nvSpPr>
        <p:spPr>
          <a:xfrm>
            <a:off x="5120640" y="4617720"/>
            <a:ext cx="1396538" cy="960120"/>
          </a:xfrm>
          <a:prstGeom prst="rect">
            <a:avLst/>
          </a:prstGeom>
          <a:ln w="22225">
            <a:solidFill>
              <a:srgbClr val="141210"/>
            </a:solidFill>
            <a:prstDash val="solid"/>
          </a:ln>
        </p:spPr>
      </p:sp>
      <p:sp>
        <p:nvSpPr>
          <p:cNvPr id="36" name="Text 29"/>
          <p:cNvSpPr txBox="1"/>
          <p:nvPr/>
        </p:nvSpPr>
        <p:spPr>
          <a:xfrm>
            <a:off x="5120640" y="5641848"/>
            <a:ext cx="2310938"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本社（東京都千代田区）</a:t>
            </a:r>
            <a:endParaRPr lang="en-US" sz="900" dirty="0"/>
          </a:p>
        </p:txBody>
      </p:sp>
      <p:sp>
        <p:nvSpPr>
          <p:cNvPr id="37" name="Shape 30"/>
          <p:cNvSpPr/>
          <p:nvPr/>
        </p:nvSpPr>
        <p:spPr>
          <a:xfrm>
            <a:off x="6858000" y="4709160"/>
            <a:ext cx="329184" cy="82296"/>
          </a:xfrm>
          <a:prstGeom prst="rect">
            <a:avLst/>
          </a:prstGeom>
          <a:solidFill>
            <a:srgbClr val="FFC62E"/>
          </a:solidFill>
          <a:ln/>
        </p:spPr>
      </p:sp>
      <p:sp>
        <p:nvSpPr>
          <p:cNvPr id="38" name="Text 31"/>
          <p:cNvSpPr txBox="1"/>
          <p:nvPr/>
        </p:nvSpPr>
        <p:spPr>
          <a:xfrm>
            <a:off x="6858000" y="4873752"/>
            <a:ext cx="2011680" cy="27432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お仕立て累計</a:t>
            </a:r>
            <a:endParaRPr lang="en-US" sz="1050" dirty="0"/>
          </a:p>
        </p:txBody>
      </p:sp>
      <p:sp>
        <p:nvSpPr>
          <p:cNvPr id="39" name="Text 32"/>
          <p:cNvSpPr txBox="1"/>
          <p:nvPr/>
        </p:nvSpPr>
        <p:spPr>
          <a:xfrm>
            <a:off x="6830568" y="5129784"/>
            <a:ext cx="2194560" cy="437322"/>
          </a:xfrm>
          <a:prstGeom prst="rect">
            <a:avLst/>
          </a:prstGeom>
          <a:noFill/>
          <a:ln/>
        </p:spPr>
        <p:txBody>
          <a:bodyPr wrap="square" lIns="0" tIns="0" rIns="0" bIns="0" rtlCol="0" anchor="ctr"/>
          <a:lstStyle/>
          <a:p>
            <a:pPr indent="0" marL="0">
              <a:buNone/>
            </a:pPr>
            <a:r>
              <a:rPr lang="en-US" sz="2200" dirty="0">
                <a:solidFill>
                  <a:srgbClr val="141210"/>
                </a:solidFill>
                <a:latin typeface="Arial Black" pitchFamily="34" charset="0"/>
                <a:ea typeface="Arial Black" pitchFamily="34" charset="-122"/>
                <a:cs typeface="Arial Black" pitchFamily="34" charset="-120"/>
              </a:rPr>
              <a:t>500万</a:t>
            </a:r>
            <a:pPr indent="0" marL="0">
              <a:buNone/>
            </a:pPr>
            <a:r>
              <a:rPr lang="en-US" sz="836" b="1" dirty="0">
                <a:solidFill>
                  <a:srgbClr val="5F594E"/>
                </a:solidFill>
                <a:latin typeface="Yu Gothic" pitchFamily="34" charset="0"/>
                <a:ea typeface="Yu Gothic" pitchFamily="34" charset="-122"/>
                <a:cs typeface="Yu Gothic" pitchFamily="34" charset="-120"/>
              </a:rPr>
              <a:t> 着</a:t>
            </a:r>
            <a:endParaRPr lang="en-US" sz="2200" dirty="0"/>
          </a:p>
        </p:txBody>
      </p:sp>
      <p:sp>
        <p:nvSpPr>
          <p:cNvPr id="40" name="Shape 33"/>
          <p:cNvSpPr/>
          <p:nvPr/>
        </p:nvSpPr>
        <p:spPr>
          <a:xfrm>
            <a:off x="8915400" y="4709160"/>
            <a:ext cx="329184" cy="82296"/>
          </a:xfrm>
          <a:prstGeom prst="rect">
            <a:avLst/>
          </a:prstGeom>
          <a:solidFill>
            <a:srgbClr val="FFC62E"/>
          </a:solidFill>
          <a:ln/>
        </p:spPr>
      </p:sp>
      <p:sp>
        <p:nvSpPr>
          <p:cNvPr id="41" name="Text 34"/>
          <p:cNvSpPr txBox="1"/>
          <p:nvPr/>
        </p:nvSpPr>
        <p:spPr>
          <a:xfrm>
            <a:off x="8915400" y="4873752"/>
            <a:ext cx="2011680" cy="27432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お客様満足度</a:t>
            </a:r>
            <a:endParaRPr lang="en-US" sz="1050" dirty="0"/>
          </a:p>
        </p:txBody>
      </p:sp>
      <p:sp>
        <p:nvSpPr>
          <p:cNvPr id="42" name="Text 35"/>
          <p:cNvSpPr txBox="1"/>
          <p:nvPr/>
        </p:nvSpPr>
        <p:spPr>
          <a:xfrm>
            <a:off x="8887968" y="5129784"/>
            <a:ext cx="2194560" cy="437322"/>
          </a:xfrm>
          <a:prstGeom prst="rect">
            <a:avLst/>
          </a:prstGeom>
          <a:noFill/>
          <a:ln/>
        </p:spPr>
        <p:txBody>
          <a:bodyPr wrap="square" lIns="0" tIns="0" rIns="0" bIns="0" rtlCol="0" anchor="ctr"/>
          <a:lstStyle/>
          <a:p>
            <a:pPr indent="0" marL="0">
              <a:buNone/>
            </a:pPr>
            <a:r>
              <a:rPr lang="en-US" sz="2200" dirty="0">
                <a:solidFill>
                  <a:srgbClr val="141210"/>
                </a:solidFill>
                <a:latin typeface="Arial Black" pitchFamily="34" charset="0"/>
                <a:ea typeface="Arial Black" pitchFamily="34" charset="-122"/>
                <a:cs typeface="Arial Black" pitchFamily="34" charset="-120"/>
              </a:rPr>
              <a:t>5冠</a:t>
            </a:r>
            <a:pPr indent="0" marL="0">
              <a:buNone/>
            </a:pPr>
            <a:endParaRPr lang="en-US" sz="2200" dirty="0"/>
          </a:p>
        </p:txBody>
      </p:sp>
      <p:sp>
        <p:nvSpPr>
          <p:cNvPr id="43" name="Shape 36"/>
          <p:cNvSpPr/>
          <p:nvPr/>
        </p:nvSpPr>
        <p:spPr>
          <a:xfrm>
            <a:off x="548640" y="5943600"/>
            <a:ext cx="11091672" cy="0"/>
          </a:xfrm>
          <a:prstGeom prst="line">
            <a:avLst/>
          </a:prstGeom>
          <a:noFill/>
          <a:ln w="25400">
            <a:solidFill>
              <a:srgbClr val="141210"/>
            </a:solidFill>
            <a:prstDash val="solid"/>
          </a:ln>
        </p:spPr>
      </p:sp>
      <p:sp>
        <p:nvSpPr>
          <p:cNvPr id="44" name="Text 37"/>
          <p:cNvSpPr txBox="1"/>
          <p:nvPr/>
        </p:nvSpPr>
        <p:spPr>
          <a:xfrm>
            <a:off x="548640" y="6035040"/>
            <a:ext cx="11064240" cy="292608"/>
          </a:xfrm>
          <a:prstGeom prst="rect">
            <a:avLst/>
          </a:prstGeom>
          <a:noFill/>
          <a:ln/>
        </p:spPr>
        <p:txBody>
          <a:bodyPr wrap="square" lIns="0" tIns="0" rIns="0" bIns="0" rtlCol="0" anchor="ctr"/>
          <a:lstStyle/>
          <a:p>
            <a:pPr indent="0" marL="0">
              <a:buNone/>
            </a:pPr>
            <a:r>
              <a:rPr lang="en-US" sz="1100" b="1" dirty="0">
                <a:solidFill>
                  <a:srgbClr val="141210"/>
                </a:solidFill>
                <a:latin typeface="Yu Gothic" pitchFamily="34" charset="0"/>
                <a:ea typeface="Yu Gothic" pitchFamily="34" charset="-122"/>
                <a:cs typeface="Yu Gothic" pitchFamily="34" charset="-120"/>
              </a:rPr>
              <a:t>創業103年の老舗も、TikTokを回す時代です — その運用を当社がご支援しています（@sada.tiktok.official／フォロワー3.9万・総いいね71.8万）。</a:t>
            </a:r>
            <a:endParaRPr lang="en-US" sz="1100" dirty="0"/>
          </a:p>
        </p:txBody>
      </p:sp>
      <p:sp>
        <p:nvSpPr>
          <p:cNvPr id="45" name="Text 38"/>
          <p:cNvSpPr txBox="1"/>
          <p:nvPr/>
        </p:nvSpPr>
        <p:spPr>
          <a:xfrm>
            <a:off x="548640" y="6327648"/>
            <a:ext cx="10972800" cy="201168"/>
          </a:xfrm>
          <a:prstGeom prst="rect">
            <a:avLst/>
          </a:prstGeom>
          <a:noFill/>
          <a:ln/>
        </p:spPr>
        <p:txBody>
          <a:bodyPr wrap="square" lIns="0" tIns="0" rIns="0" bIns="0" rtlCol="0" anchor="ctr"/>
          <a:lstStyle/>
          <a:p>
            <a:pPr indent="0" marL="0">
              <a:buNone/>
            </a:pPr>
            <a:r>
              <a:rPr lang="en-US" sz="800" dirty="0">
                <a:solidFill>
                  <a:srgbClr val="5F594E"/>
                </a:solidFill>
                <a:latin typeface="Yu Gothic" pitchFamily="34" charset="0"/>
                <a:ea typeface="Yu Gothic" pitchFamily="34" charset="-122"/>
                <a:cs typeface="Yu Gothic" pitchFamily="34" charset="-120"/>
              </a:rPr>
              <a:t>※写真・情報は公式サイト（ordersuit.info）より。2026年9月時点。</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09 / </a:t>
            </a:r>
            <a:pPr indent="0" marL="0">
              <a:buNone/>
            </a:pPr>
            <a:r>
              <a:rPr lang="en-US" sz="1200" b="1" spc="300" kern="0" dirty="0">
                <a:solidFill>
                  <a:srgbClr val="B8860B"/>
                </a:solidFill>
                <a:latin typeface="Arial" pitchFamily="34" charset="0"/>
                <a:ea typeface="Arial" pitchFamily="34" charset="-122"/>
                <a:cs typeface="Arial" pitchFamily="34" charset="-120"/>
              </a:rPr>
              <a:t>CLIENT COMPANY</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導入企業のご紹介 — HOTEL みなと 西麻布 様</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548640" y="16916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施設</a:t>
            </a:r>
            <a:endParaRPr lang="en-US" sz="1050" dirty="0"/>
          </a:p>
        </p:txBody>
      </p:sp>
      <p:sp>
        <p:nvSpPr>
          <p:cNvPr id="7" name="Text 5"/>
          <p:cNvSpPr txBox="1"/>
          <p:nvPr/>
        </p:nvSpPr>
        <p:spPr>
          <a:xfrm>
            <a:off x="1691640" y="1691640"/>
            <a:ext cx="283464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HOTEL みなと 西麻布（東京都港区西麻布1-13-17）</a:t>
            </a:r>
            <a:endParaRPr lang="en-US" sz="1000" dirty="0"/>
          </a:p>
        </p:txBody>
      </p:sp>
      <p:sp>
        <p:nvSpPr>
          <p:cNvPr id="8" name="Shape 6"/>
          <p:cNvSpPr/>
          <p:nvPr/>
        </p:nvSpPr>
        <p:spPr>
          <a:xfrm>
            <a:off x="548640" y="2075688"/>
            <a:ext cx="3977640" cy="0"/>
          </a:xfrm>
          <a:prstGeom prst="line">
            <a:avLst/>
          </a:prstGeom>
          <a:noFill/>
          <a:ln w="12700">
            <a:solidFill>
              <a:srgbClr val="E2DCCE"/>
            </a:solidFill>
            <a:prstDash val="solid"/>
          </a:ln>
        </p:spPr>
      </p:sp>
      <p:sp>
        <p:nvSpPr>
          <p:cNvPr id="9" name="Text 7"/>
          <p:cNvSpPr txBox="1"/>
          <p:nvPr/>
        </p:nvSpPr>
        <p:spPr>
          <a:xfrm>
            <a:off x="548640" y="21488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客室</a:t>
            </a:r>
            <a:endParaRPr lang="en-US" sz="1050" dirty="0"/>
          </a:p>
        </p:txBody>
      </p:sp>
      <p:sp>
        <p:nvSpPr>
          <p:cNvPr id="10" name="Text 8"/>
          <p:cNvSpPr txBox="1"/>
          <p:nvPr/>
        </p:nvSpPr>
        <p:spPr>
          <a:xfrm>
            <a:off x="1691640" y="2148840"/>
            <a:ext cx="283464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露天風呂付き客室／Luxury・Suiteの2タイプ</a:t>
            </a:r>
            <a:endParaRPr lang="en-US" sz="1000" dirty="0"/>
          </a:p>
        </p:txBody>
      </p:sp>
      <p:sp>
        <p:nvSpPr>
          <p:cNvPr id="11" name="Shape 9"/>
          <p:cNvSpPr/>
          <p:nvPr/>
        </p:nvSpPr>
        <p:spPr>
          <a:xfrm>
            <a:off x="548640" y="2532888"/>
            <a:ext cx="3977640" cy="0"/>
          </a:xfrm>
          <a:prstGeom prst="line">
            <a:avLst/>
          </a:prstGeom>
          <a:noFill/>
          <a:ln w="12700">
            <a:solidFill>
              <a:srgbClr val="E2DCCE"/>
            </a:solidFill>
            <a:prstDash val="solid"/>
          </a:ln>
        </p:spPr>
      </p:sp>
      <p:sp>
        <p:nvSpPr>
          <p:cNvPr id="12" name="Text 10"/>
          <p:cNvSpPr txBox="1"/>
          <p:nvPr/>
        </p:nvSpPr>
        <p:spPr>
          <a:xfrm>
            <a:off x="548640" y="26060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設備</a:t>
            </a:r>
            <a:endParaRPr lang="en-US" sz="1050" dirty="0"/>
          </a:p>
        </p:txBody>
      </p:sp>
      <p:sp>
        <p:nvSpPr>
          <p:cNvPr id="13" name="Text 11"/>
          <p:cNvSpPr txBox="1"/>
          <p:nvPr/>
        </p:nvSpPr>
        <p:spPr>
          <a:xfrm>
            <a:off x="1691640" y="2606040"/>
            <a:ext cx="283464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全客室にプライベートサウナ・本格AIカラオケを完備</a:t>
            </a:r>
            <a:endParaRPr lang="en-US" sz="1000" dirty="0"/>
          </a:p>
        </p:txBody>
      </p:sp>
      <p:sp>
        <p:nvSpPr>
          <p:cNvPr id="14" name="Shape 12"/>
          <p:cNvSpPr/>
          <p:nvPr/>
        </p:nvSpPr>
        <p:spPr>
          <a:xfrm>
            <a:off x="548640" y="2990088"/>
            <a:ext cx="3977640" cy="0"/>
          </a:xfrm>
          <a:prstGeom prst="line">
            <a:avLst/>
          </a:prstGeom>
          <a:noFill/>
          <a:ln w="12700">
            <a:solidFill>
              <a:srgbClr val="E2DCCE"/>
            </a:solidFill>
            <a:prstDash val="solid"/>
          </a:ln>
        </p:spPr>
      </p:sp>
      <p:sp>
        <p:nvSpPr>
          <p:cNvPr id="15" name="Text 13"/>
          <p:cNvSpPr txBox="1"/>
          <p:nvPr/>
        </p:nvSpPr>
        <p:spPr>
          <a:xfrm>
            <a:off x="548640" y="30632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展開</a:t>
            </a:r>
            <a:endParaRPr lang="en-US" sz="1050" dirty="0"/>
          </a:p>
        </p:txBody>
      </p:sp>
      <p:sp>
        <p:nvSpPr>
          <p:cNvPr id="16" name="Text 14"/>
          <p:cNvSpPr txBox="1"/>
          <p:nvPr/>
        </p:nvSpPr>
        <p:spPr>
          <a:xfrm>
            <a:off x="1691640" y="3063240"/>
            <a:ext cx="283464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西麻布のほか 麻布十番・新宿・虎ノ門 など系列展開</a:t>
            </a:r>
            <a:endParaRPr lang="en-US" sz="1000" dirty="0"/>
          </a:p>
        </p:txBody>
      </p:sp>
      <p:sp>
        <p:nvSpPr>
          <p:cNvPr id="17" name="Shape 15"/>
          <p:cNvSpPr/>
          <p:nvPr/>
        </p:nvSpPr>
        <p:spPr>
          <a:xfrm>
            <a:off x="548640" y="3447288"/>
            <a:ext cx="3977640" cy="0"/>
          </a:xfrm>
          <a:prstGeom prst="line">
            <a:avLst/>
          </a:prstGeom>
          <a:noFill/>
          <a:ln w="12700">
            <a:solidFill>
              <a:srgbClr val="E2DCCE"/>
            </a:solidFill>
            <a:prstDash val="solid"/>
          </a:ln>
        </p:spPr>
      </p:sp>
      <p:sp>
        <p:nvSpPr>
          <p:cNvPr id="18" name="Shape 16"/>
          <p:cNvSpPr/>
          <p:nvPr/>
        </p:nvSpPr>
        <p:spPr>
          <a:xfrm>
            <a:off x="548640" y="3794760"/>
            <a:ext cx="68580" cy="777240"/>
          </a:xfrm>
          <a:prstGeom prst="rect">
            <a:avLst/>
          </a:prstGeom>
          <a:solidFill>
            <a:srgbClr val="FFC62E"/>
          </a:solidFill>
          <a:ln/>
        </p:spPr>
      </p:sp>
      <p:sp>
        <p:nvSpPr>
          <p:cNvPr id="19" name="Text 17"/>
          <p:cNvSpPr txBox="1"/>
          <p:nvPr/>
        </p:nvSpPr>
        <p:spPr>
          <a:xfrm>
            <a:off x="777240" y="3840480"/>
            <a:ext cx="3749040" cy="731520"/>
          </a:xfrm>
          <a:prstGeom prst="rect">
            <a:avLst/>
          </a:prstGeom>
          <a:noFill/>
          <a:ln/>
        </p:spPr>
        <p:txBody>
          <a:bodyPr wrap="square" lIns="0" tIns="0" rIns="0" bIns="0" rtlCol="0" anchor="ctr"/>
          <a:lstStyle/>
          <a:p>
            <a:pPr indent="0" marL="0">
              <a:lnSpc>
                <a:spcPts val="1900"/>
              </a:lnSpc>
              <a:buNone/>
            </a:pPr>
            <a:r>
              <a:rPr lang="en-US" sz="1200" b="1" dirty="0">
                <a:solidFill>
                  <a:srgbClr val="141210"/>
                </a:solidFill>
                <a:latin typeface="Yu Gothic" pitchFamily="34" charset="0"/>
                <a:ea typeface="Yu Gothic" pitchFamily="34" charset="-122"/>
                <a:cs typeface="Yu Gothic" pitchFamily="34" charset="-120"/>
              </a:rPr>
              <a:t>あなたを包み込む、</a:t>
            </a:r>
            <a:endParaRPr lang="en-US" sz="1200" dirty="0"/>
          </a:p>
          <a:p>
            <a:pPr indent="0" marL="0">
              <a:lnSpc>
                <a:spcPts val="1900"/>
              </a:lnSpc>
              <a:buNone/>
            </a:pPr>
            <a:r>
              <a:rPr lang="en-US" sz="1200" b="1" dirty="0">
                <a:solidFill>
                  <a:srgbClr val="141210"/>
                </a:solidFill>
                <a:latin typeface="Yu Gothic" pitchFamily="34" charset="0"/>
                <a:ea typeface="Yu Gothic" pitchFamily="34" charset="-122"/>
                <a:cs typeface="Yu Gothic" pitchFamily="34" charset="-120"/>
              </a:rPr>
              <a:t>西麻布の寛ぎの隠れ家。</a:t>
            </a:r>
            <a:endParaRPr lang="en-US" sz="1200" dirty="0"/>
          </a:p>
        </p:txBody>
      </p:sp>
      <p:sp>
        <p:nvSpPr>
          <p:cNvPr id="20" name="Text 18"/>
          <p:cNvSpPr txBox="1"/>
          <p:nvPr/>
        </p:nvSpPr>
        <p:spPr>
          <a:xfrm>
            <a:off x="777240" y="4709160"/>
            <a:ext cx="3657600" cy="320040"/>
          </a:xfrm>
          <a:prstGeom prst="rect">
            <a:avLst/>
          </a:prstGeom>
          <a:noFill/>
          <a:ln/>
        </p:spPr>
        <p:txBody>
          <a:bodyPr wrap="square" lIns="0" tIns="0" rIns="0" bIns="0" rtlCol="0" anchor="ctr"/>
          <a:lstStyle/>
          <a:p>
            <a:pPr indent="0" marL="0">
              <a:buNone/>
            </a:pPr>
            <a:r>
              <a:rPr lang="en-US" sz="1050" b="1" spc="200" kern="0" dirty="0">
                <a:solidFill>
                  <a:srgbClr val="5F594E"/>
                </a:solidFill>
                <a:latin typeface="Arial" pitchFamily="34" charset="0"/>
                <a:ea typeface="Arial" pitchFamily="34" charset="-122"/>
                <a:cs typeface="Arial" pitchFamily="34" charset="-120"/>
              </a:rPr>
              <a:t>HOTEL MINATO — TIMELESS RESORT</a:t>
            </a:r>
            <a:endParaRPr lang="en-US" sz="1050" dirty="0"/>
          </a:p>
        </p:txBody>
      </p:sp>
      <p:pic>
        <p:nvPicPr>
          <p:cNvPr id="21" name="Image 0" descr="mn_entrance.jpg">    </p:cNvPr>
          <p:cNvPicPr>
            <a:picLocks noChangeAspect="1"/>
          </p:cNvPicPr>
          <p:nvPr/>
        </p:nvPicPr>
        <p:blipFill>
          <a:blip r:embed="rId1"/>
          <a:stretch>
            <a:fillRect/>
          </a:stretch>
        </p:blipFill>
        <p:spPr>
          <a:xfrm>
            <a:off x="4892040" y="1627632"/>
            <a:ext cx="4023360" cy="2268667"/>
          </a:xfrm>
          <a:prstGeom prst="rect">
            <a:avLst/>
          </a:prstGeom>
        </p:spPr>
      </p:pic>
      <p:sp>
        <p:nvSpPr>
          <p:cNvPr id="22" name="Shape 19"/>
          <p:cNvSpPr/>
          <p:nvPr/>
        </p:nvSpPr>
        <p:spPr>
          <a:xfrm>
            <a:off x="4892040" y="1627632"/>
            <a:ext cx="4023360" cy="2268667"/>
          </a:xfrm>
          <a:prstGeom prst="rect">
            <a:avLst/>
          </a:prstGeom>
          <a:ln w="22225">
            <a:solidFill>
              <a:srgbClr val="141210"/>
            </a:solidFill>
            <a:prstDash val="solid"/>
          </a:ln>
        </p:spPr>
      </p:sp>
      <p:sp>
        <p:nvSpPr>
          <p:cNvPr id="23" name="Text 20"/>
          <p:cNvSpPr txBox="1"/>
          <p:nvPr/>
        </p:nvSpPr>
        <p:spPr>
          <a:xfrm>
            <a:off x="4892040" y="3960307"/>
            <a:ext cx="493776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hotel-minato.com — エントランス</a:t>
            </a:r>
            <a:endParaRPr lang="en-US" sz="900" dirty="0"/>
          </a:p>
        </p:txBody>
      </p:sp>
      <p:pic>
        <p:nvPicPr>
          <p:cNvPr id="24" name="Image 1" descr="mn_suite.jpg">    </p:cNvPr>
          <p:cNvPicPr>
            <a:picLocks noChangeAspect="1"/>
          </p:cNvPicPr>
          <p:nvPr/>
        </p:nvPicPr>
        <p:blipFill>
          <a:blip r:embed="rId2"/>
          <a:stretch>
            <a:fillRect/>
          </a:stretch>
        </p:blipFill>
        <p:spPr>
          <a:xfrm>
            <a:off x="9098280" y="1627632"/>
            <a:ext cx="2514600" cy="1417917"/>
          </a:xfrm>
          <a:prstGeom prst="rect">
            <a:avLst/>
          </a:prstGeom>
        </p:spPr>
      </p:pic>
      <p:sp>
        <p:nvSpPr>
          <p:cNvPr id="25" name="Shape 21"/>
          <p:cNvSpPr/>
          <p:nvPr/>
        </p:nvSpPr>
        <p:spPr>
          <a:xfrm>
            <a:off x="9098280" y="1627632"/>
            <a:ext cx="2514600" cy="1417917"/>
          </a:xfrm>
          <a:prstGeom prst="rect">
            <a:avLst/>
          </a:prstGeom>
          <a:ln w="22225">
            <a:solidFill>
              <a:srgbClr val="141210"/>
            </a:solidFill>
            <a:prstDash val="solid"/>
          </a:ln>
        </p:spPr>
      </p:sp>
      <p:sp>
        <p:nvSpPr>
          <p:cNvPr id="26" name="Text 22"/>
          <p:cNvSpPr txBox="1"/>
          <p:nvPr/>
        </p:nvSpPr>
        <p:spPr>
          <a:xfrm>
            <a:off x="9098280" y="3109557"/>
            <a:ext cx="342900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Suite Room</a:t>
            </a:r>
            <a:endParaRPr lang="en-US" sz="900" dirty="0"/>
          </a:p>
        </p:txBody>
      </p:sp>
      <p:sp>
        <p:nvSpPr>
          <p:cNvPr id="27" name="Text 23"/>
          <p:cNvSpPr txBox="1"/>
          <p:nvPr/>
        </p:nvSpPr>
        <p:spPr>
          <a:xfrm>
            <a:off x="4892040" y="4251960"/>
            <a:ext cx="6675120" cy="548640"/>
          </a:xfrm>
          <a:prstGeom prst="rect">
            <a:avLst/>
          </a:prstGeom>
          <a:noFill/>
          <a:ln/>
        </p:spPr>
        <p:txBody>
          <a:bodyPr wrap="square" lIns="0" tIns="0" rIns="0" bIns="0" rtlCol="0" anchor="ctr"/>
          <a:lstStyle/>
          <a:p>
            <a:pPr indent="0" marL="0">
              <a:lnSpc>
                <a:spcPts val="1700"/>
              </a:lnSpc>
              <a:buNone/>
            </a:pPr>
            <a:r>
              <a:rPr lang="en-US" sz="1100" b="1" dirty="0">
                <a:solidFill>
                  <a:srgbClr val="141210"/>
                </a:solidFill>
                <a:latin typeface="Yu Gothic" pitchFamily="34" charset="0"/>
                <a:ea typeface="Yu Gothic" pitchFamily="34" charset="-122"/>
                <a:cs typeface="Yu Gothic" pitchFamily="34" charset="-120"/>
              </a:rPr>
              <a:t>都心で系列展開するラグジュアリーホテルグループ。施設の魅力とプラン告知を、TikTok・Instagramの縦動画でご支援しています。</a:t>
            </a:r>
            <a:endParaRPr lang="en-US" sz="1100" dirty="0"/>
          </a:p>
        </p:txBody>
      </p:sp>
      <p:sp>
        <p:nvSpPr>
          <p:cNvPr id="28" name="Text 24"/>
          <p:cNvSpPr txBox="1"/>
          <p:nvPr/>
        </p:nvSpPr>
        <p:spPr>
          <a:xfrm>
            <a:off x="4892040" y="4937760"/>
            <a:ext cx="6675120" cy="237744"/>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※施設情報・画像は公式サイト（hotel-minato.com）より。2026年9月時点。</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09 / </a:t>
            </a:r>
            <a:pPr indent="0" marL="0">
              <a:buNone/>
            </a:pPr>
            <a:r>
              <a:rPr lang="en-US" sz="1200" b="1" spc="300" kern="0" dirty="0">
                <a:solidFill>
                  <a:srgbClr val="B8860B"/>
                </a:solidFill>
                <a:latin typeface="Arial" pitchFamily="34" charset="0"/>
                <a:ea typeface="Arial" pitchFamily="34" charset="-122"/>
                <a:cs typeface="Arial" pitchFamily="34" charset="-120"/>
              </a:rPr>
              <a:t>CLIENT COMPANY</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導入企業のご紹介 — 株式会社Reivy 様</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548640" y="16916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会社名</a:t>
            </a:r>
            <a:endParaRPr lang="en-US" sz="1050" dirty="0"/>
          </a:p>
        </p:txBody>
      </p:sp>
      <p:sp>
        <p:nvSpPr>
          <p:cNvPr id="7" name="Text 5"/>
          <p:cNvSpPr txBox="1"/>
          <p:nvPr/>
        </p:nvSpPr>
        <p:spPr>
          <a:xfrm>
            <a:off x="1691640" y="1691640"/>
            <a:ext cx="2743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株式会社Reivy / Reivy inc.</a:t>
            </a:r>
            <a:endParaRPr lang="en-US" sz="1000" dirty="0"/>
          </a:p>
        </p:txBody>
      </p:sp>
      <p:sp>
        <p:nvSpPr>
          <p:cNvPr id="8" name="Shape 6"/>
          <p:cNvSpPr/>
          <p:nvPr/>
        </p:nvSpPr>
        <p:spPr>
          <a:xfrm>
            <a:off x="548640" y="2075688"/>
            <a:ext cx="3886200" cy="0"/>
          </a:xfrm>
          <a:prstGeom prst="line">
            <a:avLst/>
          </a:prstGeom>
          <a:noFill/>
          <a:ln w="12700">
            <a:solidFill>
              <a:srgbClr val="E2DCCE"/>
            </a:solidFill>
            <a:prstDash val="solid"/>
          </a:ln>
        </p:spPr>
      </p:sp>
      <p:sp>
        <p:nvSpPr>
          <p:cNvPr id="9" name="Text 7"/>
          <p:cNvSpPr txBox="1"/>
          <p:nvPr/>
        </p:nvSpPr>
        <p:spPr>
          <a:xfrm>
            <a:off x="548640" y="21488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設立</a:t>
            </a:r>
            <a:endParaRPr lang="en-US" sz="1050" dirty="0"/>
          </a:p>
        </p:txBody>
      </p:sp>
      <p:sp>
        <p:nvSpPr>
          <p:cNvPr id="10" name="Text 8"/>
          <p:cNvSpPr txBox="1"/>
          <p:nvPr/>
        </p:nvSpPr>
        <p:spPr>
          <a:xfrm>
            <a:off x="1691640" y="2148840"/>
            <a:ext cx="2743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2023年7月</a:t>
            </a:r>
            <a:endParaRPr lang="en-US" sz="1000" dirty="0"/>
          </a:p>
        </p:txBody>
      </p:sp>
      <p:sp>
        <p:nvSpPr>
          <p:cNvPr id="11" name="Shape 9"/>
          <p:cNvSpPr/>
          <p:nvPr/>
        </p:nvSpPr>
        <p:spPr>
          <a:xfrm>
            <a:off x="548640" y="2532888"/>
            <a:ext cx="3886200" cy="0"/>
          </a:xfrm>
          <a:prstGeom prst="line">
            <a:avLst/>
          </a:prstGeom>
          <a:noFill/>
          <a:ln w="12700">
            <a:solidFill>
              <a:srgbClr val="E2DCCE"/>
            </a:solidFill>
            <a:prstDash val="solid"/>
          </a:ln>
        </p:spPr>
      </p:sp>
      <p:sp>
        <p:nvSpPr>
          <p:cNvPr id="12" name="Text 10"/>
          <p:cNvSpPr txBox="1"/>
          <p:nvPr/>
        </p:nvSpPr>
        <p:spPr>
          <a:xfrm>
            <a:off x="548640" y="26060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所在地</a:t>
            </a:r>
            <a:endParaRPr lang="en-US" sz="1050" dirty="0"/>
          </a:p>
        </p:txBody>
      </p:sp>
      <p:sp>
        <p:nvSpPr>
          <p:cNvPr id="13" name="Text 11"/>
          <p:cNvSpPr txBox="1"/>
          <p:nvPr/>
        </p:nvSpPr>
        <p:spPr>
          <a:xfrm>
            <a:off x="1691640" y="2606040"/>
            <a:ext cx="2743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東京都渋谷区渋谷</a:t>
            </a:r>
            <a:endParaRPr lang="en-US" sz="1000" dirty="0"/>
          </a:p>
        </p:txBody>
      </p:sp>
      <p:sp>
        <p:nvSpPr>
          <p:cNvPr id="14" name="Shape 12"/>
          <p:cNvSpPr/>
          <p:nvPr/>
        </p:nvSpPr>
        <p:spPr>
          <a:xfrm>
            <a:off x="548640" y="2990088"/>
            <a:ext cx="3886200" cy="0"/>
          </a:xfrm>
          <a:prstGeom prst="line">
            <a:avLst/>
          </a:prstGeom>
          <a:noFill/>
          <a:ln w="12700">
            <a:solidFill>
              <a:srgbClr val="E2DCCE"/>
            </a:solidFill>
            <a:prstDash val="solid"/>
          </a:ln>
        </p:spPr>
      </p:sp>
      <p:sp>
        <p:nvSpPr>
          <p:cNvPr id="15" name="Text 13"/>
          <p:cNvSpPr txBox="1"/>
          <p:nvPr/>
        </p:nvSpPr>
        <p:spPr>
          <a:xfrm>
            <a:off x="548640" y="30632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事業内容</a:t>
            </a:r>
            <a:endParaRPr lang="en-US" sz="1050" dirty="0"/>
          </a:p>
        </p:txBody>
      </p:sp>
      <p:sp>
        <p:nvSpPr>
          <p:cNvPr id="16" name="Text 14"/>
          <p:cNvSpPr txBox="1"/>
          <p:nvPr/>
        </p:nvSpPr>
        <p:spPr>
          <a:xfrm>
            <a:off x="1691640" y="3063240"/>
            <a:ext cx="2743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EC運営／EC運営代行・コンサルティング／貿易</a:t>
            </a:r>
            <a:endParaRPr lang="en-US" sz="1000" dirty="0"/>
          </a:p>
        </p:txBody>
      </p:sp>
      <p:sp>
        <p:nvSpPr>
          <p:cNvPr id="17" name="Shape 15"/>
          <p:cNvSpPr/>
          <p:nvPr/>
        </p:nvSpPr>
        <p:spPr>
          <a:xfrm>
            <a:off x="548640" y="3447288"/>
            <a:ext cx="3886200" cy="0"/>
          </a:xfrm>
          <a:prstGeom prst="line">
            <a:avLst/>
          </a:prstGeom>
          <a:noFill/>
          <a:ln w="12700">
            <a:solidFill>
              <a:srgbClr val="E2DCCE"/>
            </a:solidFill>
            <a:prstDash val="solid"/>
          </a:ln>
        </p:spPr>
      </p:sp>
      <p:sp>
        <p:nvSpPr>
          <p:cNvPr id="18" name="Text 16"/>
          <p:cNvSpPr txBox="1"/>
          <p:nvPr/>
        </p:nvSpPr>
        <p:spPr>
          <a:xfrm>
            <a:off x="548640" y="35204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代表</a:t>
            </a:r>
            <a:endParaRPr lang="en-US" sz="1050" dirty="0"/>
          </a:p>
        </p:txBody>
      </p:sp>
      <p:sp>
        <p:nvSpPr>
          <p:cNvPr id="19" name="Text 17"/>
          <p:cNvSpPr txBox="1"/>
          <p:nvPr/>
        </p:nvSpPr>
        <p:spPr>
          <a:xfrm>
            <a:off x="1691640" y="3520440"/>
            <a:ext cx="274320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代表取締役CEO 山田 一輝 氏</a:t>
            </a:r>
            <a:endParaRPr lang="en-US" sz="1000" dirty="0"/>
          </a:p>
        </p:txBody>
      </p:sp>
      <p:sp>
        <p:nvSpPr>
          <p:cNvPr id="20" name="Shape 18"/>
          <p:cNvSpPr/>
          <p:nvPr/>
        </p:nvSpPr>
        <p:spPr>
          <a:xfrm>
            <a:off x="548640" y="3904488"/>
            <a:ext cx="3886200" cy="0"/>
          </a:xfrm>
          <a:prstGeom prst="line">
            <a:avLst/>
          </a:prstGeom>
          <a:noFill/>
          <a:ln w="12700">
            <a:solidFill>
              <a:srgbClr val="E2DCCE"/>
            </a:solidFill>
            <a:prstDash val="solid"/>
          </a:ln>
        </p:spPr>
      </p:sp>
      <p:sp>
        <p:nvSpPr>
          <p:cNvPr id="21" name="Shape 19"/>
          <p:cNvSpPr/>
          <p:nvPr/>
        </p:nvSpPr>
        <p:spPr>
          <a:xfrm>
            <a:off x="548640" y="4160520"/>
            <a:ext cx="68580" cy="777240"/>
          </a:xfrm>
          <a:prstGeom prst="rect">
            <a:avLst/>
          </a:prstGeom>
          <a:solidFill>
            <a:srgbClr val="FFC62E"/>
          </a:solidFill>
          <a:ln/>
        </p:spPr>
      </p:sp>
      <p:sp>
        <p:nvSpPr>
          <p:cNvPr id="22" name="Text 20"/>
          <p:cNvSpPr txBox="1"/>
          <p:nvPr/>
        </p:nvSpPr>
        <p:spPr>
          <a:xfrm>
            <a:off x="777240" y="4206240"/>
            <a:ext cx="3657600" cy="731520"/>
          </a:xfrm>
          <a:prstGeom prst="rect">
            <a:avLst/>
          </a:prstGeom>
          <a:noFill/>
          <a:ln/>
        </p:spPr>
        <p:txBody>
          <a:bodyPr wrap="square" lIns="0" tIns="0" rIns="0" bIns="0" rtlCol="0" anchor="ctr"/>
          <a:lstStyle/>
          <a:p>
            <a:pPr indent="0" marL="0">
              <a:lnSpc>
                <a:spcPts val="1900"/>
              </a:lnSpc>
              <a:buNone/>
            </a:pPr>
            <a:r>
              <a:rPr lang="en-US" sz="1200" b="1" dirty="0">
                <a:solidFill>
                  <a:srgbClr val="141210"/>
                </a:solidFill>
                <a:latin typeface="Yu Gothic" pitchFamily="34" charset="0"/>
                <a:ea typeface="Yu Gothic" pitchFamily="34" charset="-122"/>
                <a:cs typeface="Yu Gothic" pitchFamily="34" charset="-120"/>
              </a:rPr>
              <a:t>FROM VISION TO VALUE.</a:t>
            </a:r>
            <a:endParaRPr lang="en-US" sz="1200" dirty="0"/>
          </a:p>
          <a:p>
            <a:pPr indent="0" marL="0">
              <a:lnSpc>
                <a:spcPts val="1900"/>
              </a:lnSpc>
              <a:buNone/>
            </a:pPr>
            <a:r>
              <a:rPr lang="en-US" sz="1200" b="1" dirty="0">
                <a:solidFill>
                  <a:srgbClr val="141210"/>
                </a:solidFill>
                <a:latin typeface="Yu Gothic" pitchFamily="34" charset="0"/>
                <a:ea typeface="Yu Gothic" pitchFamily="34" charset="-122"/>
                <a:cs typeface="Yu Gothic" pitchFamily="34" charset="-120"/>
              </a:rPr>
              <a:t>構想を、事業価値へ。</a:t>
            </a:r>
            <a:endParaRPr lang="en-US" sz="1200" dirty="0"/>
          </a:p>
        </p:txBody>
      </p:sp>
      <p:sp>
        <p:nvSpPr>
          <p:cNvPr id="23" name="Shape 21"/>
          <p:cNvSpPr/>
          <p:nvPr/>
        </p:nvSpPr>
        <p:spPr>
          <a:xfrm>
            <a:off x="548640" y="5029200"/>
            <a:ext cx="329184" cy="82296"/>
          </a:xfrm>
          <a:prstGeom prst="rect">
            <a:avLst/>
          </a:prstGeom>
          <a:solidFill>
            <a:srgbClr val="FFC62E"/>
          </a:solidFill>
          <a:ln/>
        </p:spPr>
      </p:sp>
      <p:sp>
        <p:nvSpPr>
          <p:cNvPr id="24" name="Text 22"/>
          <p:cNvSpPr txBox="1"/>
          <p:nvPr/>
        </p:nvSpPr>
        <p:spPr>
          <a:xfrm>
            <a:off x="548640" y="5193792"/>
            <a:ext cx="3657600" cy="27432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ブランドポートフォリオ</a:t>
            </a:r>
            <a:endParaRPr lang="en-US" sz="1050" dirty="0"/>
          </a:p>
        </p:txBody>
      </p:sp>
      <p:sp>
        <p:nvSpPr>
          <p:cNvPr id="25" name="Text 23"/>
          <p:cNvSpPr txBox="1"/>
          <p:nvPr/>
        </p:nvSpPr>
        <p:spPr>
          <a:xfrm>
            <a:off x="521208" y="5449824"/>
            <a:ext cx="3840480" cy="596348"/>
          </a:xfrm>
          <a:prstGeom prst="rect">
            <a:avLst/>
          </a:prstGeom>
          <a:noFill/>
          <a:ln/>
        </p:spPr>
        <p:txBody>
          <a:bodyPr wrap="square" lIns="0" tIns="0" rIns="0" bIns="0" rtlCol="0" anchor="ctr"/>
          <a:lstStyle/>
          <a:p>
            <a:pPr indent="0" marL="0">
              <a:buNone/>
            </a:pPr>
            <a:r>
              <a:rPr lang="en-US" sz="3000" dirty="0">
                <a:solidFill>
                  <a:srgbClr val="141210"/>
                </a:solidFill>
                <a:latin typeface="Arial Black" pitchFamily="34" charset="0"/>
                <a:ea typeface="Arial Black" pitchFamily="34" charset="-122"/>
                <a:cs typeface="Arial Black" pitchFamily="34" charset="-120"/>
              </a:rPr>
              <a:t>13</a:t>
            </a:r>
            <a:pPr indent="0" marL="0">
              <a:buNone/>
            </a:pPr>
            <a:r>
              <a:rPr lang="en-US" sz="1140" b="1" dirty="0">
                <a:solidFill>
                  <a:srgbClr val="5F594E"/>
                </a:solidFill>
                <a:latin typeface="Yu Gothic" pitchFamily="34" charset="0"/>
                <a:ea typeface="Yu Gothic" pitchFamily="34" charset="-122"/>
                <a:cs typeface="Yu Gothic" pitchFamily="34" charset="-120"/>
              </a:rPr>
              <a:t> ブランド</a:t>
            </a:r>
            <a:endParaRPr lang="en-US" sz="3000" dirty="0"/>
          </a:p>
        </p:txBody>
      </p:sp>
      <p:pic>
        <p:nvPicPr>
          <p:cNvPr id="26" name="Image 0" descr="rv_velune.jpg">    </p:cNvPr>
          <p:cNvPicPr>
            <a:picLocks noChangeAspect="1"/>
          </p:cNvPicPr>
          <p:nvPr/>
        </p:nvPicPr>
        <p:blipFill>
          <a:blip r:embed="rId1"/>
          <a:stretch>
            <a:fillRect/>
          </a:stretch>
        </p:blipFill>
        <p:spPr>
          <a:xfrm>
            <a:off x="4892040" y="1627632"/>
            <a:ext cx="3017520" cy="1951548"/>
          </a:xfrm>
          <a:prstGeom prst="rect">
            <a:avLst/>
          </a:prstGeom>
        </p:spPr>
      </p:pic>
      <p:sp>
        <p:nvSpPr>
          <p:cNvPr id="27" name="Shape 24"/>
          <p:cNvSpPr/>
          <p:nvPr/>
        </p:nvSpPr>
        <p:spPr>
          <a:xfrm>
            <a:off x="4892040" y="1627632"/>
            <a:ext cx="3017520" cy="1951548"/>
          </a:xfrm>
          <a:prstGeom prst="rect">
            <a:avLst/>
          </a:prstGeom>
          <a:ln w="22225">
            <a:solidFill>
              <a:srgbClr val="141210"/>
            </a:solidFill>
            <a:prstDash val="solid"/>
          </a:ln>
        </p:spPr>
      </p:sp>
      <p:sp>
        <p:nvSpPr>
          <p:cNvPr id="28" name="Text 25"/>
          <p:cNvSpPr txBox="1"/>
          <p:nvPr/>
        </p:nvSpPr>
        <p:spPr>
          <a:xfrm>
            <a:off x="4892040" y="3643188"/>
            <a:ext cx="393192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VELUNE — velune.jp</a:t>
            </a:r>
            <a:endParaRPr lang="en-US" sz="900" dirty="0"/>
          </a:p>
        </p:txBody>
      </p:sp>
      <p:pic>
        <p:nvPicPr>
          <p:cNvPr id="29" name="Image 1" descr="rv_makelove.jpg">    </p:cNvPr>
          <p:cNvPicPr>
            <a:picLocks noChangeAspect="1"/>
          </p:cNvPicPr>
          <p:nvPr/>
        </p:nvPicPr>
        <p:blipFill>
          <a:blip r:embed="rId2"/>
          <a:stretch>
            <a:fillRect/>
          </a:stretch>
        </p:blipFill>
        <p:spPr>
          <a:xfrm>
            <a:off x="8092440" y="1627632"/>
            <a:ext cx="3017520" cy="1951548"/>
          </a:xfrm>
          <a:prstGeom prst="rect">
            <a:avLst/>
          </a:prstGeom>
        </p:spPr>
      </p:pic>
      <p:sp>
        <p:nvSpPr>
          <p:cNvPr id="30" name="Shape 26"/>
          <p:cNvSpPr/>
          <p:nvPr/>
        </p:nvSpPr>
        <p:spPr>
          <a:xfrm>
            <a:off x="8092440" y="1627632"/>
            <a:ext cx="3017520" cy="1951548"/>
          </a:xfrm>
          <a:prstGeom prst="rect">
            <a:avLst/>
          </a:prstGeom>
          <a:ln w="22225">
            <a:solidFill>
              <a:srgbClr val="141210"/>
            </a:solidFill>
            <a:prstDash val="solid"/>
          </a:ln>
        </p:spPr>
      </p:sp>
      <p:sp>
        <p:nvSpPr>
          <p:cNvPr id="31" name="Text 27"/>
          <p:cNvSpPr txBox="1"/>
          <p:nvPr/>
        </p:nvSpPr>
        <p:spPr>
          <a:xfrm>
            <a:off x="8092440" y="3643188"/>
            <a:ext cx="393192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MAKE LOVE — makelove.jp</a:t>
            </a:r>
            <a:endParaRPr lang="en-US" sz="900" dirty="0"/>
          </a:p>
        </p:txBody>
      </p:sp>
      <p:pic>
        <p:nvPicPr>
          <p:cNvPr id="32" name="Image 2" descr="rv_liora.jpg">    </p:cNvPr>
          <p:cNvPicPr>
            <a:picLocks noChangeAspect="1"/>
          </p:cNvPicPr>
          <p:nvPr/>
        </p:nvPicPr>
        <p:blipFill>
          <a:blip r:embed="rId3"/>
          <a:stretch>
            <a:fillRect/>
          </a:stretch>
        </p:blipFill>
        <p:spPr>
          <a:xfrm>
            <a:off x="4892040" y="3877056"/>
            <a:ext cx="3017520" cy="1951548"/>
          </a:xfrm>
          <a:prstGeom prst="rect">
            <a:avLst/>
          </a:prstGeom>
        </p:spPr>
      </p:pic>
      <p:sp>
        <p:nvSpPr>
          <p:cNvPr id="33" name="Shape 28"/>
          <p:cNvSpPr/>
          <p:nvPr/>
        </p:nvSpPr>
        <p:spPr>
          <a:xfrm>
            <a:off x="4892040" y="3877056"/>
            <a:ext cx="3017520" cy="1951548"/>
          </a:xfrm>
          <a:prstGeom prst="rect">
            <a:avLst/>
          </a:prstGeom>
          <a:ln w="22225">
            <a:solidFill>
              <a:srgbClr val="141210"/>
            </a:solidFill>
            <a:prstDash val="solid"/>
          </a:ln>
        </p:spPr>
      </p:sp>
      <p:sp>
        <p:nvSpPr>
          <p:cNvPr id="34" name="Text 29"/>
          <p:cNvSpPr txBox="1"/>
          <p:nvPr/>
        </p:nvSpPr>
        <p:spPr>
          <a:xfrm>
            <a:off x="4892040" y="5892612"/>
            <a:ext cx="393192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LIORA — liora-official.store</a:t>
            </a:r>
            <a:endParaRPr lang="en-US" sz="900" dirty="0"/>
          </a:p>
        </p:txBody>
      </p:sp>
      <p:pic>
        <p:nvPicPr>
          <p:cNvPr id="35" name="Image 3" descr="rv_milla.jpg">    </p:cNvPr>
          <p:cNvPicPr>
            <a:picLocks noChangeAspect="1"/>
          </p:cNvPicPr>
          <p:nvPr/>
        </p:nvPicPr>
        <p:blipFill>
          <a:blip r:embed="rId4"/>
          <a:stretch>
            <a:fillRect/>
          </a:stretch>
        </p:blipFill>
        <p:spPr>
          <a:xfrm>
            <a:off x="8092440" y="3877056"/>
            <a:ext cx="3017520" cy="1777713"/>
          </a:xfrm>
          <a:prstGeom prst="rect">
            <a:avLst/>
          </a:prstGeom>
        </p:spPr>
      </p:pic>
      <p:sp>
        <p:nvSpPr>
          <p:cNvPr id="36" name="Shape 30"/>
          <p:cNvSpPr/>
          <p:nvPr/>
        </p:nvSpPr>
        <p:spPr>
          <a:xfrm>
            <a:off x="8092440" y="3877056"/>
            <a:ext cx="3017520" cy="1777713"/>
          </a:xfrm>
          <a:prstGeom prst="rect">
            <a:avLst/>
          </a:prstGeom>
          <a:ln w="22225">
            <a:solidFill>
              <a:srgbClr val="141210"/>
            </a:solidFill>
            <a:prstDash val="solid"/>
          </a:ln>
        </p:spPr>
      </p:sp>
      <p:sp>
        <p:nvSpPr>
          <p:cNvPr id="37" name="Text 31"/>
          <p:cNvSpPr txBox="1"/>
          <p:nvPr/>
        </p:nvSpPr>
        <p:spPr>
          <a:xfrm>
            <a:off x="8092440" y="5718777"/>
            <a:ext cx="393192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MILLA — milla-official.com</a:t>
            </a:r>
            <a:endParaRPr lang="en-US" sz="900" dirty="0"/>
          </a:p>
        </p:txBody>
      </p:sp>
      <p:sp>
        <p:nvSpPr>
          <p:cNvPr id="38" name="Text 32"/>
          <p:cNvSpPr txBox="1"/>
          <p:nvPr/>
        </p:nvSpPr>
        <p:spPr>
          <a:xfrm>
            <a:off x="548640" y="6199632"/>
            <a:ext cx="11064240" cy="274320"/>
          </a:xfrm>
          <a:prstGeom prst="rect">
            <a:avLst/>
          </a:prstGeom>
          <a:noFill/>
          <a:ln/>
        </p:spPr>
        <p:txBody>
          <a:bodyPr wrap="square" lIns="0" tIns="0" rIns="0" bIns="0" rtlCol="0" anchor="ctr"/>
          <a:lstStyle/>
          <a:p>
            <a:pPr indent="0" marL="0">
              <a:buNone/>
            </a:pPr>
            <a:r>
              <a:rPr lang="en-US" sz="1100" b="1" dirty="0">
                <a:solidFill>
                  <a:srgbClr val="141210"/>
                </a:solidFill>
                <a:latin typeface="Yu Gothic" pitchFamily="34" charset="0"/>
                <a:ea typeface="Yu Gothic" pitchFamily="34" charset="-122"/>
                <a:cs typeface="Yu Gothic" pitchFamily="34" charset="-120"/>
              </a:rPr>
              <a:t>VELUNE・MAKELOVE・LIORA・MILLAなど13ブランドを同時運営するビジネスビルダーが、BRIDGE HATCHをご契約。各ブランドのSNS・制作まわりを当社がご支援しています。</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09 / </a:t>
            </a:r>
            <a:pPr indent="0" marL="0">
              <a:buNone/>
            </a:pPr>
            <a:r>
              <a:rPr lang="en-US" sz="1200" b="1" spc="300" kern="0" dirty="0">
                <a:solidFill>
                  <a:srgbClr val="B8860B"/>
                </a:solidFill>
                <a:latin typeface="Arial" pitchFamily="34" charset="0"/>
                <a:ea typeface="Arial" pitchFamily="34" charset="-122"/>
                <a:cs typeface="Arial" pitchFamily="34" charset="-120"/>
              </a:rPr>
              <a:t>CLIENT COMPANY</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導入企業のご紹介 — 相馬家の食卓 様</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548640" y="16916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ブランド</a:t>
            </a:r>
            <a:endParaRPr lang="en-US" sz="1050" dirty="0"/>
          </a:p>
        </p:txBody>
      </p:sp>
      <p:sp>
        <p:nvSpPr>
          <p:cNvPr id="7" name="Text 5"/>
          <p:cNvSpPr txBox="1"/>
          <p:nvPr/>
        </p:nvSpPr>
        <p:spPr>
          <a:xfrm>
            <a:off x="1691640" y="1691640"/>
            <a:ext cx="283464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相馬家の食卓 — 産地直送の生鮮EC（soumaya.life）</a:t>
            </a:r>
            <a:endParaRPr lang="en-US" sz="1000" dirty="0"/>
          </a:p>
        </p:txBody>
      </p:sp>
      <p:sp>
        <p:nvSpPr>
          <p:cNvPr id="8" name="Shape 6"/>
          <p:cNvSpPr/>
          <p:nvPr/>
        </p:nvSpPr>
        <p:spPr>
          <a:xfrm>
            <a:off x="548640" y="2075688"/>
            <a:ext cx="3977640" cy="0"/>
          </a:xfrm>
          <a:prstGeom prst="line">
            <a:avLst/>
          </a:prstGeom>
          <a:noFill/>
          <a:ln w="12700">
            <a:solidFill>
              <a:srgbClr val="E2DCCE"/>
            </a:solidFill>
            <a:prstDash val="solid"/>
          </a:ln>
        </p:spPr>
      </p:sp>
      <p:sp>
        <p:nvSpPr>
          <p:cNvPr id="9" name="Text 7"/>
          <p:cNvSpPr txBox="1"/>
          <p:nvPr/>
        </p:nvSpPr>
        <p:spPr>
          <a:xfrm>
            <a:off x="548640" y="21488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運営</a:t>
            </a:r>
            <a:endParaRPr lang="en-US" sz="1050" dirty="0"/>
          </a:p>
        </p:txBody>
      </p:sp>
      <p:sp>
        <p:nvSpPr>
          <p:cNvPr id="10" name="Text 8"/>
          <p:cNvSpPr txBox="1"/>
          <p:nvPr/>
        </p:nvSpPr>
        <p:spPr>
          <a:xfrm>
            <a:off x="1691640" y="2148840"/>
            <a:ext cx="283464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人気クリエイター・相馬トランジスタ × 全国の生産者</a:t>
            </a:r>
            <a:endParaRPr lang="en-US" sz="1000" dirty="0"/>
          </a:p>
        </p:txBody>
      </p:sp>
      <p:sp>
        <p:nvSpPr>
          <p:cNvPr id="11" name="Shape 9"/>
          <p:cNvSpPr/>
          <p:nvPr/>
        </p:nvSpPr>
        <p:spPr>
          <a:xfrm>
            <a:off x="548640" y="2532888"/>
            <a:ext cx="3977640" cy="0"/>
          </a:xfrm>
          <a:prstGeom prst="line">
            <a:avLst/>
          </a:prstGeom>
          <a:noFill/>
          <a:ln w="12700">
            <a:solidFill>
              <a:srgbClr val="E2DCCE"/>
            </a:solidFill>
            <a:prstDash val="solid"/>
          </a:ln>
        </p:spPr>
      </p:sp>
      <p:sp>
        <p:nvSpPr>
          <p:cNvPr id="12" name="Text 10"/>
          <p:cNvSpPr txBox="1"/>
          <p:nvPr/>
        </p:nvSpPr>
        <p:spPr>
          <a:xfrm>
            <a:off x="548640" y="26060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取扱い</a:t>
            </a:r>
            <a:endParaRPr lang="en-US" sz="1050" dirty="0"/>
          </a:p>
        </p:txBody>
      </p:sp>
      <p:sp>
        <p:nvSpPr>
          <p:cNvPr id="13" name="Text 11"/>
          <p:cNvSpPr txBox="1"/>
          <p:nvPr/>
        </p:nvSpPr>
        <p:spPr>
          <a:xfrm>
            <a:off x="1691640" y="2606040"/>
            <a:ext cx="283464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朝どれ野菜・果物・国産和牛（1頭買付・BMS10）・惣菜</a:t>
            </a:r>
            <a:endParaRPr lang="en-US" sz="1000" dirty="0"/>
          </a:p>
        </p:txBody>
      </p:sp>
      <p:sp>
        <p:nvSpPr>
          <p:cNvPr id="14" name="Shape 12"/>
          <p:cNvSpPr/>
          <p:nvPr/>
        </p:nvSpPr>
        <p:spPr>
          <a:xfrm>
            <a:off x="548640" y="2990088"/>
            <a:ext cx="3977640" cy="0"/>
          </a:xfrm>
          <a:prstGeom prst="line">
            <a:avLst/>
          </a:prstGeom>
          <a:noFill/>
          <a:ln w="12700">
            <a:solidFill>
              <a:srgbClr val="E2DCCE"/>
            </a:solidFill>
            <a:prstDash val="solid"/>
          </a:ln>
        </p:spPr>
      </p:sp>
      <p:sp>
        <p:nvSpPr>
          <p:cNvPr id="15" name="Text 13"/>
          <p:cNvSpPr txBox="1"/>
          <p:nvPr/>
        </p:nvSpPr>
        <p:spPr>
          <a:xfrm>
            <a:off x="548640" y="30632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特徴</a:t>
            </a:r>
            <a:endParaRPr lang="en-US" sz="1050" dirty="0"/>
          </a:p>
        </p:txBody>
      </p:sp>
      <p:sp>
        <p:nvSpPr>
          <p:cNvPr id="16" name="Text 14"/>
          <p:cNvSpPr txBox="1"/>
          <p:nvPr/>
        </p:nvSpPr>
        <p:spPr>
          <a:xfrm>
            <a:off x="1691640" y="3063240"/>
            <a:ext cx="283464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生産者の顔が見える。現地で梱包し、産地から直送</a:t>
            </a:r>
            <a:endParaRPr lang="en-US" sz="1000" dirty="0"/>
          </a:p>
        </p:txBody>
      </p:sp>
      <p:sp>
        <p:nvSpPr>
          <p:cNvPr id="17" name="Shape 15"/>
          <p:cNvSpPr/>
          <p:nvPr/>
        </p:nvSpPr>
        <p:spPr>
          <a:xfrm>
            <a:off x="548640" y="3447288"/>
            <a:ext cx="3977640" cy="0"/>
          </a:xfrm>
          <a:prstGeom prst="line">
            <a:avLst/>
          </a:prstGeom>
          <a:noFill/>
          <a:ln w="12700">
            <a:solidFill>
              <a:srgbClr val="E2DCCE"/>
            </a:solidFill>
            <a:prstDash val="solid"/>
          </a:ln>
        </p:spPr>
      </p:sp>
      <p:sp>
        <p:nvSpPr>
          <p:cNvPr id="18" name="Shape 16"/>
          <p:cNvSpPr/>
          <p:nvPr/>
        </p:nvSpPr>
        <p:spPr>
          <a:xfrm>
            <a:off x="548640" y="3794760"/>
            <a:ext cx="68580" cy="777240"/>
          </a:xfrm>
          <a:prstGeom prst="rect">
            <a:avLst/>
          </a:prstGeom>
          <a:solidFill>
            <a:srgbClr val="FFC62E"/>
          </a:solidFill>
          <a:ln/>
        </p:spPr>
      </p:sp>
      <p:sp>
        <p:nvSpPr>
          <p:cNvPr id="19" name="Text 17"/>
          <p:cNvSpPr txBox="1"/>
          <p:nvPr/>
        </p:nvSpPr>
        <p:spPr>
          <a:xfrm>
            <a:off x="777240" y="3840480"/>
            <a:ext cx="3749040" cy="731520"/>
          </a:xfrm>
          <a:prstGeom prst="rect">
            <a:avLst/>
          </a:prstGeom>
          <a:noFill/>
          <a:ln/>
        </p:spPr>
        <p:txBody>
          <a:bodyPr wrap="square" lIns="0" tIns="0" rIns="0" bIns="0" rtlCol="0" anchor="ctr"/>
          <a:lstStyle/>
          <a:p>
            <a:pPr indent="0" marL="0">
              <a:lnSpc>
                <a:spcPts val="1900"/>
              </a:lnSpc>
              <a:buNone/>
            </a:pPr>
            <a:r>
              <a:rPr lang="en-US" sz="1200" b="1" dirty="0">
                <a:solidFill>
                  <a:srgbClr val="141210"/>
                </a:solidFill>
                <a:latin typeface="Yu Gothic" pitchFamily="34" charset="0"/>
                <a:ea typeface="Yu Gothic" pitchFamily="34" charset="-122"/>
                <a:cs typeface="Yu Gothic" pitchFamily="34" charset="-120"/>
              </a:rPr>
              <a:t>新鮮！獲れたて野菜を、</a:t>
            </a:r>
            <a:endParaRPr lang="en-US" sz="1200" dirty="0"/>
          </a:p>
          <a:p>
            <a:pPr indent="0" marL="0">
              <a:lnSpc>
                <a:spcPts val="1900"/>
              </a:lnSpc>
              <a:buNone/>
            </a:pPr>
            <a:r>
              <a:rPr lang="en-US" sz="1200" b="1" dirty="0">
                <a:solidFill>
                  <a:srgbClr val="141210"/>
                </a:solidFill>
                <a:latin typeface="Yu Gothic" pitchFamily="34" charset="0"/>
                <a:ea typeface="Yu Gothic" pitchFamily="34" charset="-122"/>
                <a:cs typeface="Yu Gothic" pitchFamily="34" charset="-120"/>
              </a:rPr>
              <a:t>現地から直送。</a:t>
            </a:r>
            <a:endParaRPr lang="en-US" sz="1200" dirty="0"/>
          </a:p>
        </p:txBody>
      </p:sp>
      <p:sp>
        <p:nvSpPr>
          <p:cNvPr id="20" name="Text 18"/>
          <p:cNvSpPr txBox="1"/>
          <p:nvPr/>
        </p:nvSpPr>
        <p:spPr>
          <a:xfrm>
            <a:off x="777240" y="4709160"/>
            <a:ext cx="3657600" cy="320040"/>
          </a:xfrm>
          <a:prstGeom prst="rect">
            <a:avLst/>
          </a:prstGeom>
          <a:noFill/>
          <a:ln/>
        </p:spPr>
        <p:txBody>
          <a:bodyPr wrap="square" lIns="0" tIns="0" rIns="0" bIns="0" rtlCol="0" anchor="ctr"/>
          <a:lstStyle/>
          <a:p>
            <a:pPr indent="0" marL="0">
              <a:buNone/>
            </a:pPr>
            <a:r>
              <a:rPr lang="en-US" sz="1050" b="1" spc="200" kern="0" dirty="0">
                <a:solidFill>
                  <a:srgbClr val="5F594E"/>
                </a:solidFill>
                <a:latin typeface="Arial" pitchFamily="34" charset="0"/>
                <a:ea typeface="Arial" pitchFamily="34" charset="-122"/>
                <a:cs typeface="Arial" pitchFamily="34" charset="-120"/>
              </a:rPr>
              <a:t>SOUMAYA.LIFE — FARM TO TABLE</a:t>
            </a:r>
            <a:endParaRPr lang="en-US" sz="1050" dirty="0"/>
          </a:p>
        </p:txBody>
      </p:sp>
      <p:pic>
        <p:nvPicPr>
          <p:cNvPr id="21" name="Image 0" descr="sm_veg.jpg">    </p:cNvPr>
          <p:cNvPicPr>
            <a:picLocks noChangeAspect="1"/>
          </p:cNvPicPr>
          <p:nvPr/>
        </p:nvPicPr>
        <p:blipFill>
          <a:blip r:embed="rId1"/>
          <a:stretch>
            <a:fillRect/>
          </a:stretch>
        </p:blipFill>
        <p:spPr>
          <a:xfrm>
            <a:off x="4892040" y="1627632"/>
            <a:ext cx="4023360" cy="2268667"/>
          </a:xfrm>
          <a:prstGeom prst="rect">
            <a:avLst/>
          </a:prstGeom>
        </p:spPr>
      </p:pic>
      <p:sp>
        <p:nvSpPr>
          <p:cNvPr id="22" name="Shape 19"/>
          <p:cNvSpPr/>
          <p:nvPr/>
        </p:nvSpPr>
        <p:spPr>
          <a:xfrm>
            <a:off x="4892040" y="1627632"/>
            <a:ext cx="4023360" cy="2268667"/>
          </a:xfrm>
          <a:prstGeom prst="rect">
            <a:avLst/>
          </a:prstGeom>
          <a:ln w="22225">
            <a:solidFill>
              <a:srgbClr val="141210"/>
            </a:solidFill>
            <a:prstDash val="solid"/>
          </a:ln>
        </p:spPr>
      </p:sp>
      <p:sp>
        <p:nvSpPr>
          <p:cNvPr id="23" name="Text 20"/>
          <p:cNvSpPr txBox="1"/>
          <p:nvPr/>
        </p:nvSpPr>
        <p:spPr>
          <a:xfrm>
            <a:off x="4892040" y="3960307"/>
            <a:ext cx="493776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soumaya.life — 石川県産地直送</a:t>
            </a:r>
            <a:endParaRPr lang="en-US" sz="900" dirty="0"/>
          </a:p>
        </p:txBody>
      </p:sp>
      <p:pic>
        <p:nvPicPr>
          <p:cNvPr id="24" name="Image 1" descr="sm_wagyu.jpg">    </p:cNvPr>
          <p:cNvPicPr>
            <a:picLocks noChangeAspect="1"/>
          </p:cNvPicPr>
          <p:nvPr/>
        </p:nvPicPr>
        <p:blipFill>
          <a:blip r:embed="rId2"/>
          <a:stretch>
            <a:fillRect/>
          </a:stretch>
        </p:blipFill>
        <p:spPr>
          <a:xfrm>
            <a:off x="9098280" y="1627632"/>
            <a:ext cx="2514600" cy="1417917"/>
          </a:xfrm>
          <a:prstGeom prst="rect">
            <a:avLst/>
          </a:prstGeom>
        </p:spPr>
      </p:pic>
      <p:sp>
        <p:nvSpPr>
          <p:cNvPr id="25" name="Shape 21"/>
          <p:cNvSpPr/>
          <p:nvPr/>
        </p:nvSpPr>
        <p:spPr>
          <a:xfrm>
            <a:off x="9098280" y="1627632"/>
            <a:ext cx="2514600" cy="1417917"/>
          </a:xfrm>
          <a:prstGeom prst="rect">
            <a:avLst/>
          </a:prstGeom>
          <a:ln w="22225">
            <a:solidFill>
              <a:srgbClr val="141210"/>
            </a:solidFill>
            <a:prstDash val="solid"/>
          </a:ln>
        </p:spPr>
      </p:sp>
      <p:sp>
        <p:nvSpPr>
          <p:cNvPr id="26" name="Text 22"/>
          <p:cNvSpPr txBox="1"/>
          <p:nvPr/>
        </p:nvSpPr>
        <p:spPr>
          <a:xfrm>
            <a:off x="9098280" y="3109557"/>
            <a:ext cx="342900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国産和牛 1頭買付</a:t>
            </a:r>
            <a:endParaRPr lang="en-US" sz="900" dirty="0"/>
          </a:p>
        </p:txBody>
      </p:sp>
      <p:sp>
        <p:nvSpPr>
          <p:cNvPr id="27" name="Text 23"/>
          <p:cNvSpPr txBox="1"/>
          <p:nvPr/>
        </p:nvSpPr>
        <p:spPr>
          <a:xfrm>
            <a:off x="4892040" y="4251960"/>
            <a:ext cx="6675120" cy="548640"/>
          </a:xfrm>
          <a:prstGeom prst="rect">
            <a:avLst/>
          </a:prstGeom>
          <a:noFill/>
          <a:ln/>
        </p:spPr>
        <p:txBody>
          <a:bodyPr wrap="square" lIns="0" tIns="0" rIns="0" bIns="0" rtlCol="0" anchor="ctr"/>
          <a:lstStyle/>
          <a:p>
            <a:pPr indent="0" marL="0">
              <a:lnSpc>
                <a:spcPts val="1700"/>
              </a:lnSpc>
              <a:buNone/>
            </a:pPr>
            <a:r>
              <a:rPr lang="en-US" sz="1100" b="1" dirty="0">
                <a:solidFill>
                  <a:srgbClr val="141210"/>
                </a:solidFill>
                <a:latin typeface="Yu Gothic" pitchFamily="34" charset="0"/>
                <a:ea typeface="Yu Gothic" pitchFamily="34" charset="-122"/>
                <a:cs typeface="Yu Gothic" pitchFamily="34" charset="-120"/>
              </a:rPr>
              <a:t>「作り手の顔が見える」を体現する産直EC。生産者と商品のストーリーを、TikTok・Instagramの縦動画でご支援しています。</a:t>
            </a:r>
            <a:endParaRPr lang="en-US" sz="1100" dirty="0"/>
          </a:p>
        </p:txBody>
      </p:sp>
      <p:sp>
        <p:nvSpPr>
          <p:cNvPr id="28" name="Text 24"/>
          <p:cNvSpPr txBox="1"/>
          <p:nvPr/>
        </p:nvSpPr>
        <p:spPr>
          <a:xfrm>
            <a:off x="4892040" y="4937760"/>
            <a:ext cx="6675120" cy="237744"/>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※ブランド情報・画像は公式EC（soumaya.life）より。2026年9月時点。</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09 / </a:t>
            </a:r>
            <a:pPr indent="0" marL="0">
              <a:buNone/>
            </a:pPr>
            <a:r>
              <a:rPr lang="en-US" sz="1200" b="1" spc="300" kern="0" dirty="0">
                <a:solidFill>
                  <a:srgbClr val="B8860B"/>
                </a:solidFill>
                <a:latin typeface="Arial" pitchFamily="34" charset="0"/>
                <a:ea typeface="Arial" pitchFamily="34" charset="-122"/>
                <a:cs typeface="Arial" pitchFamily="34" charset="-120"/>
              </a:rPr>
              <a:t>CLIENT COMPANY</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導入企業のご紹介 — SANGSANG JAPAN 様</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548640" y="16916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ブランド</a:t>
            </a:r>
            <a:endParaRPr lang="en-US" sz="1050" dirty="0"/>
          </a:p>
        </p:txBody>
      </p:sp>
      <p:sp>
        <p:nvSpPr>
          <p:cNvPr id="7" name="Text 5"/>
          <p:cNvSpPr txBox="1"/>
          <p:nvPr/>
        </p:nvSpPr>
        <p:spPr>
          <a:xfrm>
            <a:off x="1691640" y="1691640"/>
            <a:ext cx="2834640" cy="420624"/>
          </a:xfrm>
          <a:prstGeom prst="rect">
            <a:avLst/>
          </a:prstGeom>
          <a:noFill/>
          <a:ln/>
        </p:spPr>
        <p:txBody>
          <a:bodyPr wrap="square" lIns="0" tIns="0" rIns="0" bIns="0" rtlCol="0" anchor="ctr"/>
          <a:lstStyle/>
          <a:p>
            <a:pPr indent="0" marL="0">
              <a:lnSpc>
                <a:spcPts val="1300"/>
              </a:lnSpc>
              <a:buNone/>
            </a:pPr>
            <a:r>
              <a:rPr lang="en-US" sz="950" b="1" dirty="0">
                <a:solidFill>
                  <a:srgbClr val="141210"/>
                </a:solidFill>
                <a:latin typeface="Yu Gothic" pitchFamily="34" charset="0"/>
                <a:ea typeface="Yu Gothic" pitchFamily="34" charset="-122"/>
                <a:cs typeface="Yu Gothic" pitchFamily="34" charset="-120"/>
              </a:rPr>
              <a:t>SANGSANG JAPAN — 韓国IPグッズ公式EC</a:t>
            </a:r>
            <a:endParaRPr lang="en-US" sz="950" dirty="0"/>
          </a:p>
        </p:txBody>
      </p:sp>
      <p:sp>
        <p:nvSpPr>
          <p:cNvPr id="8" name="Shape 6"/>
          <p:cNvSpPr/>
          <p:nvPr/>
        </p:nvSpPr>
        <p:spPr>
          <a:xfrm>
            <a:off x="548640" y="2075688"/>
            <a:ext cx="3977640" cy="0"/>
          </a:xfrm>
          <a:prstGeom prst="line">
            <a:avLst/>
          </a:prstGeom>
          <a:noFill/>
          <a:ln w="12700">
            <a:solidFill>
              <a:srgbClr val="E2DCCE"/>
            </a:solidFill>
            <a:prstDash val="solid"/>
          </a:ln>
        </p:spPr>
      </p:sp>
      <p:sp>
        <p:nvSpPr>
          <p:cNvPr id="9" name="Text 7"/>
          <p:cNvSpPr txBox="1"/>
          <p:nvPr/>
        </p:nvSpPr>
        <p:spPr>
          <a:xfrm>
            <a:off x="548640" y="21488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事業</a:t>
            </a:r>
            <a:endParaRPr lang="en-US" sz="1050" dirty="0"/>
          </a:p>
        </p:txBody>
      </p:sp>
      <p:sp>
        <p:nvSpPr>
          <p:cNvPr id="10" name="Text 8"/>
          <p:cNvSpPr txBox="1"/>
          <p:nvPr/>
        </p:nvSpPr>
        <p:spPr>
          <a:xfrm>
            <a:off x="1691640" y="2148840"/>
            <a:ext cx="2834640" cy="420624"/>
          </a:xfrm>
          <a:prstGeom prst="rect">
            <a:avLst/>
          </a:prstGeom>
          <a:noFill/>
          <a:ln/>
        </p:spPr>
        <p:txBody>
          <a:bodyPr wrap="square" lIns="0" tIns="0" rIns="0" bIns="0" rtlCol="0" anchor="ctr"/>
          <a:lstStyle/>
          <a:p>
            <a:pPr indent="0" marL="0">
              <a:lnSpc>
                <a:spcPts val="1300"/>
              </a:lnSpc>
              <a:buNone/>
            </a:pPr>
            <a:r>
              <a:rPr lang="en-US" sz="950" b="1" dirty="0">
                <a:solidFill>
                  <a:srgbClr val="141210"/>
                </a:solidFill>
                <a:latin typeface="Yu Gothic" pitchFamily="34" charset="0"/>
                <a:ea typeface="Yu Gothic" pitchFamily="34" charset="-122"/>
                <a:cs typeface="Yu Gothic" pitchFamily="34" charset="-120"/>
              </a:rPr>
              <a:t>TinyTAN・Rolling Stone KOREA など公式ライセンス商品を販売</a:t>
            </a:r>
            <a:endParaRPr lang="en-US" sz="950" dirty="0"/>
          </a:p>
        </p:txBody>
      </p:sp>
      <p:sp>
        <p:nvSpPr>
          <p:cNvPr id="11" name="Shape 9"/>
          <p:cNvSpPr/>
          <p:nvPr/>
        </p:nvSpPr>
        <p:spPr>
          <a:xfrm>
            <a:off x="548640" y="2532888"/>
            <a:ext cx="3977640" cy="0"/>
          </a:xfrm>
          <a:prstGeom prst="line">
            <a:avLst/>
          </a:prstGeom>
          <a:noFill/>
          <a:ln w="12700">
            <a:solidFill>
              <a:srgbClr val="E2DCCE"/>
            </a:solidFill>
            <a:prstDash val="solid"/>
          </a:ln>
        </p:spPr>
      </p:sp>
      <p:sp>
        <p:nvSpPr>
          <p:cNvPr id="12" name="Text 10"/>
          <p:cNvSpPr txBox="1"/>
          <p:nvPr/>
        </p:nvSpPr>
        <p:spPr>
          <a:xfrm>
            <a:off x="548640" y="26060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特徴</a:t>
            </a:r>
            <a:endParaRPr lang="en-US" sz="1050" dirty="0"/>
          </a:p>
        </p:txBody>
      </p:sp>
      <p:sp>
        <p:nvSpPr>
          <p:cNvPr id="13" name="Text 11"/>
          <p:cNvSpPr txBox="1"/>
          <p:nvPr/>
        </p:nvSpPr>
        <p:spPr>
          <a:xfrm>
            <a:off x="1691640" y="2606040"/>
            <a:ext cx="2834640" cy="420624"/>
          </a:xfrm>
          <a:prstGeom prst="rect">
            <a:avLst/>
          </a:prstGeom>
          <a:noFill/>
          <a:ln/>
        </p:spPr>
        <p:txBody>
          <a:bodyPr wrap="square" lIns="0" tIns="0" rIns="0" bIns="0" rtlCol="0" anchor="ctr"/>
          <a:lstStyle/>
          <a:p>
            <a:pPr indent="0" marL="0">
              <a:lnSpc>
                <a:spcPts val="1300"/>
              </a:lnSpc>
              <a:buNone/>
            </a:pPr>
            <a:r>
              <a:rPr lang="en-US" sz="950" b="1" dirty="0">
                <a:solidFill>
                  <a:srgbClr val="141210"/>
                </a:solidFill>
                <a:latin typeface="Yu Gothic" pitchFamily="34" charset="0"/>
                <a:ea typeface="Yu Gothic" pitchFamily="34" charset="-122"/>
                <a:cs typeface="Yu Gothic" pitchFamily="34" charset="-120"/>
              </a:rPr>
              <a:t>韓国関連商品の日本国内正規販売ライセンスを取得した公式代理店</a:t>
            </a:r>
            <a:endParaRPr lang="en-US" sz="950" dirty="0"/>
          </a:p>
        </p:txBody>
      </p:sp>
      <p:sp>
        <p:nvSpPr>
          <p:cNvPr id="14" name="Shape 12"/>
          <p:cNvSpPr/>
          <p:nvPr/>
        </p:nvSpPr>
        <p:spPr>
          <a:xfrm>
            <a:off x="548640" y="2990088"/>
            <a:ext cx="3977640" cy="0"/>
          </a:xfrm>
          <a:prstGeom prst="line">
            <a:avLst/>
          </a:prstGeom>
          <a:noFill/>
          <a:ln w="12700">
            <a:solidFill>
              <a:srgbClr val="E2DCCE"/>
            </a:solidFill>
            <a:prstDash val="solid"/>
          </a:ln>
        </p:spPr>
      </p:sp>
      <p:sp>
        <p:nvSpPr>
          <p:cNvPr id="15" name="Text 13"/>
          <p:cNvSpPr txBox="1"/>
          <p:nvPr/>
        </p:nvSpPr>
        <p:spPr>
          <a:xfrm>
            <a:off x="548640" y="30632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お客様</a:t>
            </a:r>
            <a:endParaRPr lang="en-US" sz="1050" dirty="0"/>
          </a:p>
        </p:txBody>
      </p:sp>
      <p:sp>
        <p:nvSpPr>
          <p:cNvPr id="16" name="Text 14"/>
          <p:cNvSpPr txBox="1"/>
          <p:nvPr/>
        </p:nvSpPr>
        <p:spPr>
          <a:xfrm>
            <a:off x="1691640" y="3063240"/>
            <a:ext cx="2834640" cy="420624"/>
          </a:xfrm>
          <a:prstGeom prst="rect">
            <a:avLst/>
          </a:prstGeom>
          <a:noFill/>
          <a:ln/>
        </p:spPr>
        <p:txBody>
          <a:bodyPr wrap="square" lIns="0" tIns="0" rIns="0" bIns="0" rtlCol="0" anchor="ctr"/>
          <a:lstStyle/>
          <a:p>
            <a:pPr indent="0" marL="0">
              <a:lnSpc>
                <a:spcPts val="1300"/>
              </a:lnSpc>
              <a:buNone/>
            </a:pPr>
            <a:r>
              <a:rPr lang="en-US" sz="950" b="1" dirty="0">
                <a:solidFill>
                  <a:srgbClr val="141210"/>
                </a:solidFill>
                <a:latin typeface="Yu Gothic" pitchFamily="34" charset="0"/>
                <a:ea typeface="Yu Gothic" pitchFamily="34" charset="-122"/>
                <a:cs typeface="Yu Gothic" pitchFamily="34" charset="-120"/>
              </a:rPr>
              <a:t>推し活層（K-POPファン）— SNSとの相性が抜群</a:t>
            </a:r>
            <a:endParaRPr lang="en-US" sz="950" dirty="0"/>
          </a:p>
        </p:txBody>
      </p:sp>
      <p:sp>
        <p:nvSpPr>
          <p:cNvPr id="17" name="Shape 15"/>
          <p:cNvSpPr/>
          <p:nvPr/>
        </p:nvSpPr>
        <p:spPr>
          <a:xfrm>
            <a:off x="548640" y="3447288"/>
            <a:ext cx="3977640" cy="0"/>
          </a:xfrm>
          <a:prstGeom prst="line">
            <a:avLst/>
          </a:prstGeom>
          <a:noFill/>
          <a:ln w="12700">
            <a:solidFill>
              <a:srgbClr val="E2DCCE"/>
            </a:solidFill>
            <a:prstDash val="solid"/>
          </a:ln>
        </p:spPr>
      </p:sp>
      <p:sp>
        <p:nvSpPr>
          <p:cNvPr id="18" name="Shape 16"/>
          <p:cNvSpPr/>
          <p:nvPr/>
        </p:nvSpPr>
        <p:spPr>
          <a:xfrm>
            <a:off x="548640" y="3794760"/>
            <a:ext cx="68580" cy="777240"/>
          </a:xfrm>
          <a:prstGeom prst="rect">
            <a:avLst/>
          </a:prstGeom>
          <a:solidFill>
            <a:srgbClr val="FFC62E"/>
          </a:solidFill>
          <a:ln/>
        </p:spPr>
      </p:sp>
      <p:sp>
        <p:nvSpPr>
          <p:cNvPr id="19" name="Text 17"/>
          <p:cNvSpPr txBox="1"/>
          <p:nvPr/>
        </p:nvSpPr>
        <p:spPr>
          <a:xfrm>
            <a:off x="777240" y="3840480"/>
            <a:ext cx="3749040" cy="731520"/>
          </a:xfrm>
          <a:prstGeom prst="rect">
            <a:avLst/>
          </a:prstGeom>
          <a:noFill/>
          <a:ln/>
        </p:spPr>
        <p:txBody>
          <a:bodyPr wrap="square" lIns="0" tIns="0" rIns="0" bIns="0" rtlCol="0" anchor="ctr"/>
          <a:lstStyle/>
          <a:p>
            <a:pPr indent="0" marL="0">
              <a:lnSpc>
                <a:spcPts val="2000"/>
              </a:lnSpc>
              <a:buNone/>
            </a:pPr>
            <a:r>
              <a:rPr lang="en-US" sz="1300" b="1" dirty="0">
                <a:solidFill>
                  <a:srgbClr val="141210"/>
                </a:solidFill>
                <a:latin typeface="Yu Gothic" pitchFamily="34" charset="0"/>
                <a:ea typeface="Yu Gothic" pitchFamily="34" charset="-122"/>
                <a:cs typeface="Yu Gothic" pitchFamily="34" charset="-120"/>
              </a:rPr>
              <a:t>推し活を、</a:t>
            </a:r>
            <a:endParaRPr lang="en-US" sz="1300" dirty="0"/>
          </a:p>
          <a:p>
            <a:pPr indent="0" marL="0">
              <a:lnSpc>
                <a:spcPts val="2000"/>
              </a:lnSpc>
              <a:buNone/>
            </a:pPr>
            <a:r>
              <a:rPr lang="en-US" sz="1300" b="1" dirty="0">
                <a:solidFill>
                  <a:srgbClr val="141210"/>
                </a:solidFill>
                <a:latin typeface="Yu Gothic" pitchFamily="34" charset="0"/>
                <a:ea typeface="Yu Gothic" pitchFamily="34" charset="-122"/>
                <a:cs typeface="Yu Gothic" pitchFamily="34" charset="-120"/>
              </a:rPr>
              <a:t>もっと豊かに。</a:t>
            </a:r>
            <a:endParaRPr lang="en-US" sz="1300" dirty="0"/>
          </a:p>
        </p:txBody>
      </p:sp>
      <p:sp>
        <p:nvSpPr>
          <p:cNvPr id="20" name="Text 18"/>
          <p:cNvSpPr txBox="1"/>
          <p:nvPr/>
        </p:nvSpPr>
        <p:spPr>
          <a:xfrm>
            <a:off x="777240" y="4709160"/>
            <a:ext cx="3840480" cy="320040"/>
          </a:xfrm>
          <a:prstGeom prst="rect">
            <a:avLst/>
          </a:prstGeom>
          <a:noFill/>
          <a:ln/>
        </p:spPr>
        <p:txBody>
          <a:bodyPr wrap="square" lIns="0" tIns="0" rIns="0" bIns="0" rtlCol="0" anchor="ctr"/>
          <a:lstStyle/>
          <a:p>
            <a:pPr indent="0" marL="0">
              <a:buNone/>
            </a:pPr>
            <a:r>
              <a:rPr lang="en-US" sz="950" b="1" spc="150" kern="0" dirty="0">
                <a:solidFill>
                  <a:srgbClr val="5F594E"/>
                </a:solidFill>
                <a:latin typeface="Arial" pitchFamily="34" charset="0"/>
                <a:ea typeface="Arial" pitchFamily="34" charset="-122"/>
                <a:cs typeface="Arial" pitchFamily="34" charset="-120"/>
              </a:rPr>
              <a:t>SANGSANG JAPAN — OFFICIAL ONLINE STORE</a:t>
            </a:r>
            <a:endParaRPr lang="en-US" sz="950" dirty="0"/>
          </a:p>
        </p:txBody>
      </p:sp>
      <p:pic>
        <p:nvPicPr>
          <p:cNvPr id="21" name="Image 0" descr="sg_brand.jpg">    </p:cNvPr>
          <p:cNvPicPr>
            <a:picLocks noChangeAspect="1"/>
          </p:cNvPicPr>
          <p:nvPr/>
        </p:nvPicPr>
        <p:blipFill>
          <a:blip r:embed="rId1"/>
          <a:stretch>
            <a:fillRect/>
          </a:stretch>
        </p:blipFill>
        <p:spPr>
          <a:xfrm>
            <a:off x="4892040" y="1627632"/>
            <a:ext cx="6675120" cy="2104313"/>
          </a:xfrm>
          <a:prstGeom prst="rect">
            <a:avLst/>
          </a:prstGeom>
        </p:spPr>
      </p:pic>
      <p:sp>
        <p:nvSpPr>
          <p:cNvPr id="22" name="Shape 19"/>
          <p:cNvSpPr/>
          <p:nvPr/>
        </p:nvSpPr>
        <p:spPr>
          <a:xfrm>
            <a:off x="4892040" y="1627632"/>
            <a:ext cx="6675120" cy="2104313"/>
          </a:xfrm>
          <a:prstGeom prst="rect">
            <a:avLst/>
          </a:prstGeom>
          <a:ln w="22225">
            <a:solidFill>
              <a:srgbClr val="141210"/>
            </a:solidFill>
            <a:prstDash val="solid"/>
          </a:ln>
        </p:spPr>
      </p:sp>
      <p:sp>
        <p:nvSpPr>
          <p:cNvPr id="23" name="Text 20"/>
          <p:cNvSpPr txBox="1"/>
          <p:nvPr/>
        </p:nvSpPr>
        <p:spPr>
          <a:xfrm>
            <a:off x="4892040" y="3795953"/>
            <a:ext cx="758952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sangsangjapan.store</a:t>
            </a:r>
            <a:endParaRPr lang="en-US" sz="900" dirty="0"/>
          </a:p>
        </p:txBody>
      </p:sp>
      <p:pic>
        <p:nvPicPr>
          <p:cNvPr id="24" name="Image 1" descr="sg_seikihin.jpg">    </p:cNvPr>
          <p:cNvPicPr>
            <a:picLocks noChangeAspect="1"/>
          </p:cNvPicPr>
          <p:nvPr/>
        </p:nvPicPr>
        <p:blipFill>
          <a:blip r:embed="rId2"/>
          <a:stretch>
            <a:fillRect/>
          </a:stretch>
        </p:blipFill>
        <p:spPr>
          <a:xfrm>
            <a:off x="4892040" y="3977640"/>
            <a:ext cx="6675120" cy="2104313"/>
          </a:xfrm>
          <a:prstGeom prst="rect">
            <a:avLst/>
          </a:prstGeom>
        </p:spPr>
      </p:pic>
      <p:sp>
        <p:nvSpPr>
          <p:cNvPr id="25" name="Shape 21"/>
          <p:cNvSpPr/>
          <p:nvPr/>
        </p:nvSpPr>
        <p:spPr>
          <a:xfrm>
            <a:off x="4892040" y="3977640"/>
            <a:ext cx="6675120" cy="2104313"/>
          </a:xfrm>
          <a:prstGeom prst="rect">
            <a:avLst/>
          </a:prstGeom>
          <a:ln w="22225">
            <a:solidFill>
              <a:srgbClr val="141210"/>
            </a:solidFill>
            <a:prstDash val="solid"/>
          </a:ln>
        </p:spPr>
      </p:sp>
      <p:sp>
        <p:nvSpPr>
          <p:cNvPr id="26" name="Text 22"/>
          <p:cNvSpPr txBox="1"/>
          <p:nvPr/>
        </p:nvSpPr>
        <p:spPr>
          <a:xfrm>
            <a:off x="4892040" y="6172200"/>
            <a:ext cx="6675120" cy="502920"/>
          </a:xfrm>
          <a:prstGeom prst="rect">
            <a:avLst/>
          </a:prstGeom>
          <a:noFill/>
          <a:ln/>
        </p:spPr>
        <p:txBody>
          <a:bodyPr wrap="square" lIns="0" tIns="0" rIns="0" bIns="0" rtlCol="0" anchor="ctr"/>
          <a:lstStyle/>
          <a:p>
            <a:pPr indent="0" marL="0">
              <a:lnSpc>
                <a:spcPts val="1400"/>
              </a:lnSpc>
              <a:buNone/>
            </a:pPr>
            <a:r>
              <a:rPr lang="en-US" sz="950" dirty="0">
                <a:solidFill>
                  <a:srgbClr val="5F594E"/>
                </a:solidFill>
                <a:latin typeface="Yu Gothic" pitchFamily="34" charset="0"/>
                <a:ea typeface="Yu Gothic" pitchFamily="34" charset="-122"/>
                <a:cs typeface="Yu Gothic" pitchFamily="34" charset="-120"/>
              </a:rPr>
              <a:t>正規ライセンスの韓国IPグッズEC。新商品・入荷情報の告知動画を、TikTok・Instagramの縦動画でご支援しています。※情報・画像は公式EC（sangsangjapan.store）より。2026年9月時点。</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09 / </a:t>
            </a:r>
            <a:pPr indent="0" marL="0">
              <a:buNone/>
            </a:pPr>
            <a:r>
              <a:rPr lang="en-US" sz="1200" b="1" spc="300" kern="0" dirty="0">
                <a:solidFill>
                  <a:srgbClr val="B8860B"/>
                </a:solidFill>
                <a:latin typeface="Arial" pitchFamily="34" charset="0"/>
                <a:ea typeface="Arial" pitchFamily="34" charset="-122"/>
                <a:cs typeface="Arial" pitchFamily="34" charset="-120"/>
              </a:rPr>
              <a:t>CLIENT COMPANY</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導入企業のご紹介 — 株式会社NOVEL REPUBLIC 様</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Shape 4"/>
          <p:cNvSpPr/>
          <p:nvPr/>
        </p:nvSpPr>
        <p:spPr>
          <a:xfrm>
            <a:off x="9646920" y="347472"/>
            <a:ext cx="1993392" cy="868680"/>
          </a:xfrm>
          <a:prstGeom prst="rect">
            <a:avLst/>
          </a:prstGeom>
          <a:solidFill>
            <a:srgbClr val="141210"/>
          </a:solidFill>
          <a:ln/>
        </p:spPr>
      </p:sp>
      <p:sp>
        <p:nvSpPr>
          <p:cNvPr id="7" name="Text 5"/>
          <p:cNvSpPr txBox="1"/>
          <p:nvPr/>
        </p:nvSpPr>
        <p:spPr>
          <a:xfrm>
            <a:off x="9646920" y="429768"/>
            <a:ext cx="1993392" cy="457200"/>
          </a:xfrm>
          <a:prstGeom prst="rect">
            <a:avLst/>
          </a:prstGeom>
          <a:noFill/>
          <a:ln/>
        </p:spPr>
        <p:txBody>
          <a:bodyPr wrap="square" lIns="0" tIns="0" rIns="0" bIns="0" rtlCol="0" anchor="ctr"/>
          <a:lstStyle/>
          <a:p>
            <a:pPr algn="ctr" indent="0" marL="0">
              <a:buNone/>
            </a:pPr>
            <a:r>
              <a:rPr lang="en-US" sz="2000" spc="200" kern="0" dirty="0">
                <a:solidFill>
                  <a:srgbClr val="FFFFFF"/>
                </a:solidFill>
                <a:latin typeface="Arial Black" pitchFamily="34" charset="0"/>
                <a:ea typeface="Arial Black" pitchFamily="34" charset="-122"/>
                <a:cs typeface="Arial Black" pitchFamily="34" charset="-120"/>
              </a:rPr>
              <a:t>FILLIN</a:t>
            </a:r>
            <a:endParaRPr lang="en-US" sz="2000" dirty="0"/>
          </a:p>
        </p:txBody>
      </p:sp>
      <p:sp>
        <p:nvSpPr>
          <p:cNvPr id="8" name="Text 6"/>
          <p:cNvSpPr txBox="1"/>
          <p:nvPr/>
        </p:nvSpPr>
        <p:spPr>
          <a:xfrm>
            <a:off x="9646920" y="896112"/>
            <a:ext cx="1993392" cy="237744"/>
          </a:xfrm>
          <a:prstGeom prst="rect">
            <a:avLst/>
          </a:prstGeom>
          <a:noFill/>
          <a:ln/>
        </p:spPr>
        <p:txBody>
          <a:bodyPr wrap="square" lIns="0" tIns="0" rIns="0" bIns="0" rtlCol="0" anchor="ctr"/>
          <a:lstStyle/>
          <a:p>
            <a:pPr algn="ctr" indent="0" marL="0">
              <a:buNone/>
            </a:pPr>
            <a:r>
              <a:rPr lang="en-US" sz="800" b="1" dirty="0">
                <a:solidFill>
                  <a:srgbClr val="FFC62E"/>
                </a:solidFill>
                <a:latin typeface="Yu Gothic" pitchFamily="34" charset="0"/>
                <a:ea typeface="Yu Gothic" pitchFamily="34" charset="-122"/>
                <a:cs typeface="Yu Gothic" pitchFamily="34" charset="-120"/>
              </a:rPr>
              <a:t>スタイルアップシューズ</a:t>
            </a:r>
            <a:endParaRPr lang="en-US" sz="800" dirty="0"/>
          </a:p>
        </p:txBody>
      </p:sp>
      <p:sp>
        <p:nvSpPr>
          <p:cNvPr id="9" name="Text 7"/>
          <p:cNvSpPr txBox="1"/>
          <p:nvPr/>
        </p:nvSpPr>
        <p:spPr>
          <a:xfrm>
            <a:off x="548640" y="16916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ブランド</a:t>
            </a:r>
            <a:endParaRPr lang="en-US" sz="1050" dirty="0"/>
          </a:p>
        </p:txBody>
      </p:sp>
      <p:sp>
        <p:nvSpPr>
          <p:cNvPr id="10" name="Text 8"/>
          <p:cNvSpPr txBox="1"/>
          <p:nvPr/>
        </p:nvSpPr>
        <p:spPr>
          <a:xfrm>
            <a:off x="1691640" y="1691640"/>
            <a:ext cx="265176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「FILLIN（フィルイン）」— スタイルアップシューズのD2C</a:t>
            </a:r>
            <a:endParaRPr lang="en-US" sz="1000" dirty="0"/>
          </a:p>
        </p:txBody>
      </p:sp>
      <p:sp>
        <p:nvSpPr>
          <p:cNvPr id="11" name="Shape 9"/>
          <p:cNvSpPr/>
          <p:nvPr/>
        </p:nvSpPr>
        <p:spPr>
          <a:xfrm>
            <a:off x="548640" y="2075688"/>
            <a:ext cx="3840480" cy="0"/>
          </a:xfrm>
          <a:prstGeom prst="line">
            <a:avLst/>
          </a:prstGeom>
          <a:noFill/>
          <a:ln w="12700">
            <a:solidFill>
              <a:srgbClr val="E2DCCE"/>
            </a:solidFill>
            <a:prstDash val="solid"/>
          </a:ln>
        </p:spPr>
      </p:sp>
      <p:sp>
        <p:nvSpPr>
          <p:cNvPr id="12" name="Text 10"/>
          <p:cNvSpPr txBox="1"/>
          <p:nvPr/>
        </p:nvSpPr>
        <p:spPr>
          <a:xfrm>
            <a:off x="548640" y="21488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会社名</a:t>
            </a:r>
            <a:endParaRPr lang="en-US" sz="1050" dirty="0"/>
          </a:p>
        </p:txBody>
      </p:sp>
      <p:sp>
        <p:nvSpPr>
          <p:cNvPr id="13" name="Text 11"/>
          <p:cNvSpPr txBox="1"/>
          <p:nvPr/>
        </p:nvSpPr>
        <p:spPr>
          <a:xfrm>
            <a:off x="1691640" y="2148840"/>
            <a:ext cx="265176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株式会社NOVEL REPUBLIC</a:t>
            </a:r>
            <a:endParaRPr lang="en-US" sz="1000" dirty="0"/>
          </a:p>
        </p:txBody>
      </p:sp>
      <p:sp>
        <p:nvSpPr>
          <p:cNvPr id="14" name="Shape 12"/>
          <p:cNvSpPr/>
          <p:nvPr/>
        </p:nvSpPr>
        <p:spPr>
          <a:xfrm>
            <a:off x="548640" y="2532888"/>
            <a:ext cx="3840480" cy="0"/>
          </a:xfrm>
          <a:prstGeom prst="line">
            <a:avLst/>
          </a:prstGeom>
          <a:noFill/>
          <a:ln w="12700">
            <a:solidFill>
              <a:srgbClr val="E2DCCE"/>
            </a:solidFill>
            <a:prstDash val="solid"/>
          </a:ln>
        </p:spPr>
      </p:sp>
      <p:sp>
        <p:nvSpPr>
          <p:cNvPr id="15" name="Text 13"/>
          <p:cNvSpPr txBox="1"/>
          <p:nvPr/>
        </p:nvSpPr>
        <p:spPr>
          <a:xfrm>
            <a:off x="548640" y="26060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設立</a:t>
            </a:r>
            <a:endParaRPr lang="en-US" sz="1050" dirty="0"/>
          </a:p>
        </p:txBody>
      </p:sp>
      <p:sp>
        <p:nvSpPr>
          <p:cNvPr id="16" name="Text 14"/>
          <p:cNvSpPr txBox="1"/>
          <p:nvPr/>
        </p:nvSpPr>
        <p:spPr>
          <a:xfrm>
            <a:off x="1691640" y="2606040"/>
            <a:ext cx="265176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2022年3月</a:t>
            </a:r>
            <a:endParaRPr lang="en-US" sz="1000" dirty="0"/>
          </a:p>
        </p:txBody>
      </p:sp>
      <p:sp>
        <p:nvSpPr>
          <p:cNvPr id="17" name="Shape 15"/>
          <p:cNvSpPr/>
          <p:nvPr/>
        </p:nvSpPr>
        <p:spPr>
          <a:xfrm>
            <a:off x="548640" y="2990088"/>
            <a:ext cx="3840480" cy="0"/>
          </a:xfrm>
          <a:prstGeom prst="line">
            <a:avLst/>
          </a:prstGeom>
          <a:noFill/>
          <a:ln w="12700">
            <a:solidFill>
              <a:srgbClr val="E2DCCE"/>
            </a:solidFill>
            <a:prstDash val="solid"/>
          </a:ln>
        </p:spPr>
      </p:sp>
      <p:sp>
        <p:nvSpPr>
          <p:cNvPr id="18" name="Text 16"/>
          <p:cNvSpPr txBox="1"/>
          <p:nvPr/>
        </p:nvSpPr>
        <p:spPr>
          <a:xfrm>
            <a:off x="548640" y="30632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所在地</a:t>
            </a:r>
            <a:endParaRPr lang="en-US" sz="1050" dirty="0"/>
          </a:p>
        </p:txBody>
      </p:sp>
      <p:sp>
        <p:nvSpPr>
          <p:cNvPr id="19" name="Text 17"/>
          <p:cNvSpPr txBox="1"/>
          <p:nvPr/>
        </p:nvSpPr>
        <p:spPr>
          <a:xfrm>
            <a:off x="1691640" y="3063240"/>
            <a:ext cx="265176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東京都渋谷区神南</a:t>
            </a:r>
            <a:endParaRPr lang="en-US" sz="1000" dirty="0"/>
          </a:p>
        </p:txBody>
      </p:sp>
      <p:sp>
        <p:nvSpPr>
          <p:cNvPr id="20" name="Shape 18"/>
          <p:cNvSpPr/>
          <p:nvPr/>
        </p:nvSpPr>
        <p:spPr>
          <a:xfrm>
            <a:off x="548640" y="3447288"/>
            <a:ext cx="3840480" cy="0"/>
          </a:xfrm>
          <a:prstGeom prst="line">
            <a:avLst/>
          </a:prstGeom>
          <a:noFill/>
          <a:ln w="12700">
            <a:solidFill>
              <a:srgbClr val="E2DCCE"/>
            </a:solidFill>
            <a:prstDash val="solid"/>
          </a:ln>
        </p:spPr>
      </p:sp>
      <p:sp>
        <p:nvSpPr>
          <p:cNvPr id="21" name="Text 19"/>
          <p:cNvSpPr txBox="1"/>
          <p:nvPr/>
        </p:nvSpPr>
        <p:spPr>
          <a:xfrm>
            <a:off x="548640" y="3520440"/>
            <a:ext cx="1097280" cy="365760"/>
          </a:xfrm>
          <a:prstGeom prst="rect">
            <a:avLst/>
          </a:prstGeom>
          <a:noFill/>
          <a:ln/>
        </p:spPr>
        <p:txBody>
          <a:bodyPr wrap="square" lIns="0" tIns="0" rIns="0" bIns="0" rtlCol="0" anchor="ctr"/>
          <a:lstStyle/>
          <a:p>
            <a:pPr indent="0" marL="0">
              <a:buNone/>
            </a:pPr>
            <a:r>
              <a:rPr lang="en-US" sz="1050" b="1" dirty="0">
                <a:solidFill>
                  <a:srgbClr val="B8860B"/>
                </a:solidFill>
                <a:latin typeface="Yu Gothic" pitchFamily="34" charset="0"/>
                <a:ea typeface="Yu Gothic" pitchFamily="34" charset="-122"/>
                <a:cs typeface="Yu Gothic" pitchFamily="34" charset="-120"/>
              </a:rPr>
              <a:t>代表</a:t>
            </a:r>
            <a:endParaRPr lang="en-US" sz="1050" dirty="0"/>
          </a:p>
        </p:txBody>
      </p:sp>
      <p:sp>
        <p:nvSpPr>
          <p:cNvPr id="22" name="Text 20"/>
          <p:cNvSpPr txBox="1"/>
          <p:nvPr/>
        </p:nvSpPr>
        <p:spPr>
          <a:xfrm>
            <a:off x="1691640" y="3520440"/>
            <a:ext cx="2651760" cy="420624"/>
          </a:xfrm>
          <a:prstGeom prst="rect">
            <a:avLst/>
          </a:prstGeom>
          <a:noFill/>
          <a:ln/>
        </p:spPr>
        <p:txBody>
          <a:bodyPr wrap="square" lIns="0" tIns="0" rIns="0" bIns="0" rtlCol="0" anchor="ctr"/>
          <a:lstStyle/>
          <a:p>
            <a:pPr indent="0" marL="0">
              <a:lnSpc>
                <a:spcPts val="1350"/>
              </a:lnSpc>
              <a:buNone/>
            </a:pPr>
            <a:r>
              <a:rPr lang="en-US" sz="1000" b="1" dirty="0">
                <a:solidFill>
                  <a:srgbClr val="141210"/>
                </a:solidFill>
                <a:latin typeface="Yu Gothic" pitchFamily="34" charset="0"/>
                <a:ea typeface="Yu Gothic" pitchFamily="34" charset="-122"/>
                <a:cs typeface="Yu Gothic" pitchFamily="34" charset="-120"/>
              </a:rPr>
              <a:t>富 東昇 氏</a:t>
            </a:r>
            <a:endParaRPr lang="en-US" sz="1000" dirty="0"/>
          </a:p>
        </p:txBody>
      </p:sp>
      <p:sp>
        <p:nvSpPr>
          <p:cNvPr id="23" name="Shape 21"/>
          <p:cNvSpPr/>
          <p:nvPr/>
        </p:nvSpPr>
        <p:spPr>
          <a:xfrm>
            <a:off x="548640" y="3904488"/>
            <a:ext cx="3840480" cy="0"/>
          </a:xfrm>
          <a:prstGeom prst="line">
            <a:avLst/>
          </a:prstGeom>
          <a:noFill/>
          <a:ln w="12700">
            <a:solidFill>
              <a:srgbClr val="E2DCCE"/>
            </a:solidFill>
            <a:prstDash val="solid"/>
          </a:ln>
        </p:spPr>
      </p:sp>
      <p:sp>
        <p:nvSpPr>
          <p:cNvPr id="24" name="Shape 22"/>
          <p:cNvSpPr/>
          <p:nvPr/>
        </p:nvSpPr>
        <p:spPr>
          <a:xfrm>
            <a:off x="548640" y="4160520"/>
            <a:ext cx="68580" cy="777240"/>
          </a:xfrm>
          <a:prstGeom prst="rect">
            <a:avLst/>
          </a:prstGeom>
          <a:solidFill>
            <a:srgbClr val="FFC62E"/>
          </a:solidFill>
          <a:ln/>
        </p:spPr>
      </p:sp>
      <p:sp>
        <p:nvSpPr>
          <p:cNvPr id="25" name="Text 23"/>
          <p:cNvSpPr txBox="1"/>
          <p:nvPr/>
        </p:nvSpPr>
        <p:spPr>
          <a:xfrm>
            <a:off x="777240" y="4206240"/>
            <a:ext cx="3749040" cy="731520"/>
          </a:xfrm>
          <a:prstGeom prst="rect">
            <a:avLst/>
          </a:prstGeom>
          <a:noFill/>
          <a:ln/>
        </p:spPr>
        <p:txBody>
          <a:bodyPr wrap="square" lIns="0" tIns="0" rIns="0" bIns="0" rtlCol="0" anchor="ctr"/>
          <a:lstStyle/>
          <a:p>
            <a:pPr indent="0" marL="0">
              <a:lnSpc>
                <a:spcPts val="1900"/>
              </a:lnSpc>
              <a:buNone/>
            </a:pPr>
            <a:r>
              <a:rPr lang="en-US" sz="1200" b="1" dirty="0">
                <a:solidFill>
                  <a:srgbClr val="141210"/>
                </a:solidFill>
                <a:latin typeface="Yu Gothic" pitchFamily="34" charset="0"/>
                <a:ea typeface="Yu Gothic" pitchFamily="34" charset="-122"/>
                <a:cs typeface="Yu Gothic" pitchFamily="34" charset="-120"/>
              </a:rPr>
              <a:t>LIGHT YOU UP MORE —</a:t>
            </a:r>
            <a:endParaRPr lang="en-US" sz="1200" dirty="0"/>
          </a:p>
          <a:p>
            <a:pPr indent="0" marL="0">
              <a:lnSpc>
                <a:spcPts val="1900"/>
              </a:lnSpc>
              <a:buNone/>
            </a:pPr>
            <a:r>
              <a:rPr lang="en-US" sz="1200" b="1" dirty="0">
                <a:solidFill>
                  <a:srgbClr val="141210"/>
                </a:solidFill>
                <a:latin typeface="Yu Gothic" pitchFamily="34" charset="0"/>
                <a:ea typeface="Yu Gothic" pitchFamily="34" charset="-122"/>
                <a:cs typeface="Yu Gothic" pitchFamily="34" charset="-120"/>
              </a:rPr>
              <a:t>足元から、印象をデザインする。</a:t>
            </a:r>
            <a:endParaRPr lang="en-US" sz="1200" dirty="0"/>
          </a:p>
        </p:txBody>
      </p:sp>
      <p:pic>
        <p:nvPicPr>
          <p:cNvPr id="26" name="Image 0" descr="fi_hero.jpg">    </p:cNvPr>
          <p:cNvPicPr>
            <a:picLocks noChangeAspect="1"/>
          </p:cNvPicPr>
          <p:nvPr/>
        </p:nvPicPr>
        <p:blipFill>
          <a:blip r:embed="rId1"/>
          <a:stretch>
            <a:fillRect/>
          </a:stretch>
        </p:blipFill>
        <p:spPr>
          <a:xfrm>
            <a:off x="4892040" y="1627632"/>
            <a:ext cx="6675120" cy="2585620"/>
          </a:xfrm>
          <a:prstGeom prst="rect">
            <a:avLst/>
          </a:prstGeom>
        </p:spPr>
      </p:pic>
      <p:sp>
        <p:nvSpPr>
          <p:cNvPr id="27" name="Shape 24"/>
          <p:cNvSpPr/>
          <p:nvPr/>
        </p:nvSpPr>
        <p:spPr>
          <a:xfrm>
            <a:off x="4892040" y="1627632"/>
            <a:ext cx="6675120" cy="2585620"/>
          </a:xfrm>
          <a:prstGeom prst="rect">
            <a:avLst/>
          </a:prstGeom>
          <a:ln w="22225">
            <a:solidFill>
              <a:srgbClr val="141210"/>
            </a:solidFill>
            <a:prstDash val="solid"/>
          </a:ln>
        </p:spPr>
      </p:sp>
      <p:sp>
        <p:nvSpPr>
          <p:cNvPr id="28" name="Text 25"/>
          <p:cNvSpPr txBox="1"/>
          <p:nvPr/>
        </p:nvSpPr>
        <p:spPr>
          <a:xfrm>
            <a:off x="4892040" y="4277260"/>
            <a:ext cx="7589520" cy="237744"/>
          </a:xfrm>
          <a:prstGeom prst="rect">
            <a:avLst/>
          </a:prstGeom>
          <a:noFill/>
          <a:ln/>
        </p:spPr>
        <p:txBody>
          <a:bodyPr wrap="square" lIns="0" tIns="0" rIns="0" bIns="0" rtlCol="0" anchor="ctr"/>
          <a:lstStyle/>
          <a:p>
            <a:pPr indent="0" marL="0">
              <a:buNone/>
            </a:pPr>
            <a:r>
              <a:rPr lang="en-US" sz="900" dirty="0">
                <a:solidFill>
                  <a:srgbClr val="5F594E"/>
                </a:solidFill>
                <a:latin typeface="Yu Gothic" pitchFamily="34" charset="0"/>
                <a:ea typeface="Yu Gothic" pitchFamily="34" charset="-122"/>
                <a:cs typeface="Yu Gothic" pitchFamily="34" charset="-120"/>
              </a:rPr>
              <a:t>スタイルアップフットウェア「FILLIN」— fillintokyo.com</a:t>
            </a:r>
            <a:endParaRPr lang="en-US" sz="900" dirty="0"/>
          </a:p>
        </p:txBody>
      </p:sp>
      <p:pic>
        <p:nvPicPr>
          <p:cNvPr id="29" name="Image 1" descr="fi_shoe.jpg">    </p:cNvPr>
          <p:cNvPicPr>
            <a:picLocks noChangeAspect="1"/>
          </p:cNvPicPr>
          <p:nvPr/>
        </p:nvPicPr>
        <p:blipFill>
          <a:blip r:embed="rId2"/>
          <a:stretch>
            <a:fillRect/>
          </a:stretch>
        </p:blipFill>
        <p:spPr>
          <a:xfrm>
            <a:off x="4892040" y="4526280"/>
            <a:ext cx="1417320" cy="1426896"/>
          </a:xfrm>
          <a:prstGeom prst="rect">
            <a:avLst/>
          </a:prstGeom>
        </p:spPr>
      </p:pic>
      <p:sp>
        <p:nvSpPr>
          <p:cNvPr id="30" name="Shape 26"/>
          <p:cNvSpPr/>
          <p:nvPr/>
        </p:nvSpPr>
        <p:spPr>
          <a:xfrm>
            <a:off x="4892040" y="4526280"/>
            <a:ext cx="1417320" cy="1426896"/>
          </a:xfrm>
          <a:prstGeom prst="rect">
            <a:avLst/>
          </a:prstGeom>
          <a:ln w="22225">
            <a:solidFill>
              <a:srgbClr val="141210"/>
            </a:solidFill>
            <a:prstDash val="solid"/>
          </a:ln>
        </p:spPr>
      </p:sp>
      <p:sp>
        <p:nvSpPr>
          <p:cNvPr id="31" name="Shape 27"/>
          <p:cNvSpPr/>
          <p:nvPr/>
        </p:nvSpPr>
        <p:spPr>
          <a:xfrm>
            <a:off x="6766560" y="4709160"/>
            <a:ext cx="329184" cy="82296"/>
          </a:xfrm>
          <a:prstGeom prst="rect">
            <a:avLst/>
          </a:prstGeom>
          <a:solidFill>
            <a:srgbClr val="FFC62E"/>
          </a:solidFill>
          <a:ln/>
        </p:spPr>
      </p:sp>
      <p:sp>
        <p:nvSpPr>
          <p:cNvPr id="32" name="Text 28"/>
          <p:cNvSpPr txBox="1"/>
          <p:nvPr/>
        </p:nvSpPr>
        <p:spPr>
          <a:xfrm>
            <a:off x="6766560" y="4873752"/>
            <a:ext cx="2286000" cy="27432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スタイルアップ</a:t>
            </a:r>
            <a:endParaRPr lang="en-US" sz="1050" dirty="0"/>
          </a:p>
        </p:txBody>
      </p:sp>
      <p:sp>
        <p:nvSpPr>
          <p:cNvPr id="33" name="Text 29"/>
          <p:cNvSpPr txBox="1"/>
          <p:nvPr/>
        </p:nvSpPr>
        <p:spPr>
          <a:xfrm>
            <a:off x="6739128" y="5129784"/>
            <a:ext cx="2468880" cy="397565"/>
          </a:xfrm>
          <a:prstGeom prst="rect">
            <a:avLst/>
          </a:prstGeom>
          <a:noFill/>
          <a:ln/>
        </p:spPr>
        <p:txBody>
          <a:bodyPr wrap="square" lIns="0" tIns="0" rIns="0" bIns="0" rtlCol="0" anchor="ctr"/>
          <a:lstStyle/>
          <a:p>
            <a:pPr indent="0" marL="0">
              <a:buNone/>
            </a:pPr>
            <a:r>
              <a:rPr lang="en-US" sz="2000" dirty="0">
                <a:solidFill>
                  <a:srgbClr val="141210"/>
                </a:solidFill>
                <a:latin typeface="Arial Black" pitchFamily="34" charset="0"/>
                <a:ea typeface="Arial Black" pitchFamily="34" charset="-122"/>
                <a:cs typeface="Arial Black" pitchFamily="34" charset="-120"/>
              </a:rPr>
              <a:t>+5.5〜7.0</a:t>
            </a:r>
            <a:pPr indent="0" marL="0">
              <a:buNone/>
            </a:pPr>
            <a:r>
              <a:rPr lang="en-US" sz="760" b="1" dirty="0">
                <a:solidFill>
                  <a:srgbClr val="5F594E"/>
                </a:solidFill>
                <a:latin typeface="Yu Gothic" pitchFamily="34" charset="0"/>
                <a:ea typeface="Yu Gothic" pitchFamily="34" charset="-122"/>
                <a:cs typeface="Yu Gothic" pitchFamily="34" charset="-120"/>
              </a:rPr>
              <a:t> cm</a:t>
            </a:r>
            <a:endParaRPr lang="en-US" sz="2000" dirty="0"/>
          </a:p>
        </p:txBody>
      </p:sp>
      <p:sp>
        <p:nvSpPr>
          <p:cNvPr id="34" name="Shape 30"/>
          <p:cNvSpPr/>
          <p:nvPr/>
        </p:nvSpPr>
        <p:spPr>
          <a:xfrm>
            <a:off x="9326880" y="4709160"/>
            <a:ext cx="329184" cy="82296"/>
          </a:xfrm>
          <a:prstGeom prst="rect">
            <a:avLst/>
          </a:prstGeom>
          <a:solidFill>
            <a:srgbClr val="FFC62E"/>
          </a:solidFill>
          <a:ln/>
        </p:spPr>
      </p:sp>
      <p:sp>
        <p:nvSpPr>
          <p:cNvPr id="35" name="Text 31"/>
          <p:cNvSpPr txBox="1"/>
          <p:nvPr/>
        </p:nvSpPr>
        <p:spPr>
          <a:xfrm>
            <a:off x="9326880" y="4873752"/>
            <a:ext cx="2286000" cy="27432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歩行時の衝撃（特許インソール）</a:t>
            </a:r>
            <a:endParaRPr lang="en-US" sz="1050" dirty="0"/>
          </a:p>
        </p:txBody>
      </p:sp>
      <p:sp>
        <p:nvSpPr>
          <p:cNvPr id="36" name="Text 32"/>
          <p:cNvSpPr txBox="1"/>
          <p:nvPr/>
        </p:nvSpPr>
        <p:spPr>
          <a:xfrm>
            <a:off x="9299448" y="5129784"/>
            <a:ext cx="2468880" cy="397565"/>
          </a:xfrm>
          <a:prstGeom prst="rect">
            <a:avLst/>
          </a:prstGeom>
          <a:noFill/>
          <a:ln/>
        </p:spPr>
        <p:txBody>
          <a:bodyPr wrap="square" lIns="0" tIns="0" rIns="0" bIns="0" rtlCol="0" anchor="ctr"/>
          <a:lstStyle/>
          <a:p>
            <a:pPr indent="0" marL="0">
              <a:buNone/>
            </a:pPr>
            <a:r>
              <a:rPr lang="en-US" sz="2000" dirty="0">
                <a:solidFill>
                  <a:srgbClr val="141210"/>
                </a:solidFill>
                <a:latin typeface="Arial Black" pitchFamily="34" charset="0"/>
                <a:ea typeface="Arial Black" pitchFamily="34" charset="-122"/>
                <a:cs typeface="Arial Black" pitchFamily="34" charset="-120"/>
              </a:rPr>
              <a:t>-60</a:t>
            </a:r>
            <a:pPr indent="0" marL="0">
              <a:buNone/>
            </a:pPr>
            <a:r>
              <a:rPr lang="en-US" sz="760" b="1" dirty="0">
                <a:solidFill>
                  <a:srgbClr val="5F594E"/>
                </a:solidFill>
                <a:latin typeface="Yu Gothic" pitchFamily="34" charset="0"/>
                <a:ea typeface="Yu Gothic" pitchFamily="34" charset="-122"/>
                <a:cs typeface="Yu Gothic" pitchFamily="34" charset="-120"/>
              </a:rPr>
              <a:t> %</a:t>
            </a:r>
            <a:endParaRPr lang="en-US" sz="2000" dirty="0"/>
          </a:p>
        </p:txBody>
      </p:sp>
      <p:sp>
        <p:nvSpPr>
          <p:cNvPr id="37" name="Text 33"/>
          <p:cNvSpPr txBox="1"/>
          <p:nvPr/>
        </p:nvSpPr>
        <p:spPr>
          <a:xfrm>
            <a:off x="548640" y="6236208"/>
            <a:ext cx="11064240" cy="274320"/>
          </a:xfrm>
          <a:prstGeom prst="rect">
            <a:avLst/>
          </a:prstGeom>
          <a:noFill/>
          <a:ln/>
        </p:spPr>
        <p:txBody>
          <a:bodyPr wrap="square" lIns="0" tIns="0" rIns="0" bIns="0" rtlCol="0" anchor="ctr"/>
          <a:lstStyle/>
          <a:p>
            <a:pPr indent="0" marL="0">
              <a:buNone/>
            </a:pPr>
            <a:r>
              <a:rPr lang="en-US" sz="1100" b="1" dirty="0">
                <a:solidFill>
                  <a:srgbClr val="141210"/>
                </a:solidFill>
                <a:latin typeface="Yu Gothic" pitchFamily="34" charset="0"/>
                <a:ea typeface="Yu Gothic" pitchFamily="34" charset="-122"/>
                <a:cs typeface="Yu Gothic" pitchFamily="34" charset="-120"/>
              </a:rPr>
              <a:t>履くだけで+5.5〜7.0cmの「FILLIN」を展開するものづくり企業。FILLINのSNS・制作まわりを当社がご支援しています。</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09 / </a:t>
            </a:r>
            <a:pPr indent="0" marL="0">
              <a:buNone/>
            </a:pPr>
            <a:r>
              <a:rPr lang="en-US" sz="1200" b="1" spc="300" kern="0" dirty="0">
                <a:solidFill>
                  <a:srgbClr val="B8860B"/>
                </a:solidFill>
                <a:latin typeface="Arial" pitchFamily="34" charset="0"/>
                <a:ea typeface="Arial" pitchFamily="34" charset="-122"/>
                <a:cs typeface="Arial" pitchFamily="34" charset="-120"/>
              </a:rPr>
              <a:t>CLIENT COMPANIES</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導入企業、ほかにも続々。</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pic>
        <p:nvPicPr>
          <p:cNvPr id="6" name="Image 0" descr="cl_gibous.jpg">    </p:cNvPr>
          <p:cNvPicPr>
            <a:picLocks noChangeAspect="1"/>
          </p:cNvPicPr>
          <p:nvPr/>
        </p:nvPicPr>
        <p:blipFill>
          <a:blip r:embed="rId1"/>
          <a:stretch>
            <a:fillRect/>
          </a:stretch>
        </p:blipFill>
        <p:spPr>
          <a:xfrm>
            <a:off x="548640" y="1691640"/>
            <a:ext cx="2651760" cy="1655064"/>
          </a:xfrm>
          <a:prstGeom prst="rect">
            <a:avLst/>
          </a:prstGeom>
        </p:spPr>
      </p:pic>
      <p:sp>
        <p:nvSpPr>
          <p:cNvPr id="7" name="Shape 4"/>
          <p:cNvSpPr/>
          <p:nvPr/>
        </p:nvSpPr>
        <p:spPr>
          <a:xfrm>
            <a:off x="548640" y="1691640"/>
            <a:ext cx="2651760" cy="1655064"/>
          </a:xfrm>
          <a:prstGeom prst="rect">
            <a:avLst/>
          </a:prstGeom>
          <a:ln w="19050">
            <a:solidFill>
              <a:srgbClr val="141210"/>
            </a:solidFill>
            <a:prstDash val="solid"/>
          </a:ln>
        </p:spPr>
      </p:sp>
      <p:sp>
        <p:nvSpPr>
          <p:cNvPr id="8" name="Shape 5"/>
          <p:cNvSpPr/>
          <p:nvPr/>
        </p:nvSpPr>
        <p:spPr>
          <a:xfrm>
            <a:off x="548640" y="3429000"/>
            <a:ext cx="128016" cy="128016"/>
          </a:xfrm>
          <a:prstGeom prst="rect">
            <a:avLst/>
          </a:prstGeom>
          <a:solidFill>
            <a:srgbClr val="FFC62E"/>
          </a:solidFill>
          <a:ln/>
        </p:spPr>
      </p:sp>
      <p:sp>
        <p:nvSpPr>
          <p:cNvPr id="9" name="Text 6"/>
          <p:cNvSpPr txBox="1"/>
          <p:nvPr/>
        </p:nvSpPr>
        <p:spPr>
          <a:xfrm>
            <a:off x="768096" y="3374136"/>
            <a:ext cx="2432304" cy="237744"/>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株式会社gibous</a:t>
            </a:r>
            <a:endParaRPr lang="en-US" sz="1000" dirty="0"/>
          </a:p>
        </p:txBody>
      </p:sp>
      <p:sp>
        <p:nvSpPr>
          <p:cNvPr id="10" name="Text 7"/>
          <p:cNvSpPr txBox="1"/>
          <p:nvPr/>
        </p:nvSpPr>
        <p:spPr>
          <a:xfrm>
            <a:off x="768096" y="3611880"/>
            <a:ext cx="2432304" cy="201168"/>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ECブランド運営</a:t>
            </a:r>
            <a:endParaRPr lang="en-US" sz="850" dirty="0"/>
          </a:p>
        </p:txBody>
      </p:sp>
      <p:pic>
        <p:nvPicPr>
          <p:cNvPr id="11" name="Image 1" descr="cl_pp.jpg">    </p:cNvPr>
          <p:cNvPicPr>
            <a:picLocks noChangeAspect="1"/>
          </p:cNvPicPr>
          <p:nvPr/>
        </p:nvPicPr>
        <p:blipFill>
          <a:blip r:embed="rId2"/>
          <a:stretch>
            <a:fillRect/>
          </a:stretch>
        </p:blipFill>
        <p:spPr>
          <a:xfrm>
            <a:off x="3346704" y="1691640"/>
            <a:ext cx="2651760" cy="1655064"/>
          </a:xfrm>
          <a:prstGeom prst="rect">
            <a:avLst/>
          </a:prstGeom>
        </p:spPr>
      </p:pic>
      <p:sp>
        <p:nvSpPr>
          <p:cNvPr id="12" name="Shape 8"/>
          <p:cNvSpPr/>
          <p:nvPr/>
        </p:nvSpPr>
        <p:spPr>
          <a:xfrm>
            <a:off x="3346704" y="1691640"/>
            <a:ext cx="2651760" cy="1655064"/>
          </a:xfrm>
          <a:prstGeom prst="rect">
            <a:avLst/>
          </a:prstGeom>
          <a:ln w="19050">
            <a:solidFill>
              <a:srgbClr val="141210"/>
            </a:solidFill>
            <a:prstDash val="solid"/>
          </a:ln>
        </p:spPr>
      </p:sp>
      <p:sp>
        <p:nvSpPr>
          <p:cNvPr id="13" name="Shape 9"/>
          <p:cNvSpPr/>
          <p:nvPr/>
        </p:nvSpPr>
        <p:spPr>
          <a:xfrm>
            <a:off x="3346704" y="3429000"/>
            <a:ext cx="128016" cy="128016"/>
          </a:xfrm>
          <a:prstGeom prst="rect">
            <a:avLst/>
          </a:prstGeom>
          <a:solidFill>
            <a:srgbClr val="FFC62E"/>
          </a:solidFill>
          <a:ln/>
        </p:spPr>
      </p:sp>
      <p:sp>
        <p:nvSpPr>
          <p:cNvPr id="14" name="Text 10"/>
          <p:cNvSpPr txBox="1"/>
          <p:nvPr/>
        </p:nvSpPr>
        <p:spPr>
          <a:xfrm>
            <a:off x="3566160" y="3374136"/>
            <a:ext cx="2432304" cy="237744"/>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株式会社PolePosition</a:t>
            </a:r>
            <a:endParaRPr lang="en-US" sz="1000" dirty="0"/>
          </a:p>
        </p:txBody>
      </p:sp>
      <p:sp>
        <p:nvSpPr>
          <p:cNvPr id="15" name="Text 11"/>
          <p:cNvSpPr txBox="1"/>
          <p:nvPr/>
        </p:nvSpPr>
        <p:spPr>
          <a:xfrm>
            <a:off x="3566160" y="3611880"/>
            <a:ext cx="2432304" cy="201168"/>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AI受託開発・AIコンサル</a:t>
            </a:r>
            <a:endParaRPr lang="en-US" sz="850" dirty="0"/>
          </a:p>
        </p:txBody>
      </p:sp>
      <p:pic>
        <p:nvPicPr>
          <p:cNvPr id="16" name="Image 2" descr="cl_caviar.jpg">    </p:cNvPr>
          <p:cNvPicPr>
            <a:picLocks noChangeAspect="1"/>
          </p:cNvPicPr>
          <p:nvPr/>
        </p:nvPicPr>
        <p:blipFill>
          <a:blip r:embed="rId3"/>
          <a:stretch>
            <a:fillRect/>
          </a:stretch>
        </p:blipFill>
        <p:spPr>
          <a:xfrm>
            <a:off x="6144768" y="1691640"/>
            <a:ext cx="2651760" cy="1655064"/>
          </a:xfrm>
          <a:prstGeom prst="rect">
            <a:avLst/>
          </a:prstGeom>
        </p:spPr>
      </p:pic>
      <p:sp>
        <p:nvSpPr>
          <p:cNvPr id="17" name="Shape 12"/>
          <p:cNvSpPr/>
          <p:nvPr/>
        </p:nvSpPr>
        <p:spPr>
          <a:xfrm>
            <a:off x="6144768" y="1691640"/>
            <a:ext cx="2651760" cy="1655064"/>
          </a:xfrm>
          <a:prstGeom prst="rect">
            <a:avLst/>
          </a:prstGeom>
          <a:ln w="19050">
            <a:solidFill>
              <a:srgbClr val="141210"/>
            </a:solidFill>
            <a:prstDash val="solid"/>
          </a:ln>
        </p:spPr>
      </p:sp>
      <p:sp>
        <p:nvSpPr>
          <p:cNvPr id="18" name="Shape 13"/>
          <p:cNvSpPr/>
          <p:nvPr/>
        </p:nvSpPr>
        <p:spPr>
          <a:xfrm>
            <a:off x="6144768" y="3429000"/>
            <a:ext cx="128016" cy="128016"/>
          </a:xfrm>
          <a:prstGeom prst="rect">
            <a:avLst/>
          </a:prstGeom>
          <a:solidFill>
            <a:srgbClr val="FFC62E"/>
          </a:solidFill>
          <a:ln/>
        </p:spPr>
      </p:sp>
      <p:sp>
        <p:nvSpPr>
          <p:cNvPr id="19" name="Text 14"/>
          <p:cNvSpPr txBox="1"/>
          <p:nvPr/>
        </p:nvSpPr>
        <p:spPr>
          <a:xfrm>
            <a:off x="6364224" y="3374136"/>
            <a:ext cx="2432304" cy="237744"/>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THE CAVIAR</a:t>
            </a:r>
            <a:endParaRPr lang="en-US" sz="1000" dirty="0"/>
          </a:p>
        </p:txBody>
      </p:sp>
      <p:sp>
        <p:nvSpPr>
          <p:cNvPr id="20" name="Text 15"/>
          <p:cNvSpPr txBox="1"/>
          <p:nvPr/>
        </p:nvSpPr>
        <p:spPr>
          <a:xfrm>
            <a:off x="6364224" y="3611880"/>
            <a:ext cx="2432304" cy="201168"/>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キャビアD2C</a:t>
            </a:r>
            <a:endParaRPr lang="en-US" sz="850" dirty="0"/>
          </a:p>
        </p:txBody>
      </p:sp>
      <p:pic>
        <p:nvPicPr>
          <p:cNvPr id="21" name="Image 3" descr="cl_ales.jpg">    </p:cNvPr>
          <p:cNvPicPr>
            <a:picLocks noChangeAspect="1"/>
          </p:cNvPicPr>
          <p:nvPr/>
        </p:nvPicPr>
        <p:blipFill>
          <a:blip r:embed="rId4"/>
          <a:stretch>
            <a:fillRect/>
          </a:stretch>
        </p:blipFill>
        <p:spPr>
          <a:xfrm>
            <a:off x="8942832" y="1691640"/>
            <a:ext cx="2651760" cy="1655064"/>
          </a:xfrm>
          <a:prstGeom prst="rect">
            <a:avLst/>
          </a:prstGeom>
        </p:spPr>
      </p:pic>
      <p:sp>
        <p:nvSpPr>
          <p:cNvPr id="22" name="Shape 16"/>
          <p:cNvSpPr/>
          <p:nvPr/>
        </p:nvSpPr>
        <p:spPr>
          <a:xfrm>
            <a:off x="8942832" y="1691640"/>
            <a:ext cx="2651760" cy="1655064"/>
          </a:xfrm>
          <a:prstGeom prst="rect">
            <a:avLst/>
          </a:prstGeom>
          <a:ln w="19050">
            <a:solidFill>
              <a:srgbClr val="141210"/>
            </a:solidFill>
            <a:prstDash val="solid"/>
          </a:ln>
        </p:spPr>
      </p:sp>
      <p:sp>
        <p:nvSpPr>
          <p:cNvPr id="23" name="Shape 17"/>
          <p:cNvSpPr/>
          <p:nvPr/>
        </p:nvSpPr>
        <p:spPr>
          <a:xfrm>
            <a:off x="8942832" y="3429000"/>
            <a:ext cx="128016" cy="128016"/>
          </a:xfrm>
          <a:prstGeom prst="rect">
            <a:avLst/>
          </a:prstGeom>
          <a:solidFill>
            <a:srgbClr val="FFC62E"/>
          </a:solidFill>
          <a:ln/>
        </p:spPr>
      </p:sp>
      <p:sp>
        <p:nvSpPr>
          <p:cNvPr id="24" name="Text 18"/>
          <p:cNvSpPr txBox="1"/>
          <p:nvPr/>
        </p:nvSpPr>
        <p:spPr>
          <a:xfrm>
            <a:off x="9162288" y="3374136"/>
            <a:ext cx="2432304" cy="237744"/>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ALES（株式会社BASELEE）</a:t>
            </a:r>
            <a:endParaRPr lang="en-US" sz="1000" dirty="0"/>
          </a:p>
        </p:txBody>
      </p:sp>
      <p:sp>
        <p:nvSpPr>
          <p:cNvPr id="25" name="Text 19"/>
          <p:cNvSpPr txBox="1"/>
          <p:nvPr/>
        </p:nvSpPr>
        <p:spPr>
          <a:xfrm>
            <a:off x="9162288" y="3611880"/>
            <a:ext cx="2432304" cy="201168"/>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ベースボールギアD2C</a:t>
            </a:r>
            <a:endParaRPr lang="en-US" sz="850" dirty="0"/>
          </a:p>
        </p:txBody>
      </p:sp>
      <p:pic>
        <p:nvPicPr>
          <p:cNvPr id="26" name="Image 4" descr="cl_oreo.jpg">    </p:cNvPr>
          <p:cNvPicPr>
            <a:picLocks noChangeAspect="1"/>
          </p:cNvPicPr>
          <p:nvPr/>
        </p:nvPicPr>
        <p:blipFill>
          <a:blip r:embed="rId5"/>
          <a:stretch>
            <a:fillRect/>
          </a:stretch>
        </p:blipFill>
        <p:spPr>
          <a:xfrm>
            <a:off x="548640" y="3931920"/>
            <a:ext cx="2651760" cy="1655064"/>
          </a:xfrm>
          <a:prstGeom prst="rect">
            <a:avLst/>
          </a:prstGeom>
        </p:spPr>
      </p:pic>
      <p:sp>
        <p:nvSpPr>
          <p:cNvPr id="27" name="Shape 20"/>
          <p:cNvSpPr/>
          <p:nvPr/>
        </p:nvSpPr>
        <p:spPr>
          <a:xfrm>
            <a:off x="548640" y="3931920"/>
            <a:ext cx="2651760" cy="1655064"/>
          </a:xfrm>
          <a:prstGeom prst="rect">
            <a:avLst/>
          </a:prstGeom>
          <a:ln w="19050">
            <a:solidFill>
              <a:srgbClr val="141210"/>
            </a:solidFill>
            <a:prstDash val="solid"/>
          </a:ln>
        </p:spPr>
      </p:sp>
      <p:sp>
        <p:nvSpPr>
          <p:cNvPr id="28" name="Shape 21"/>
          <p:cNvSpPr/>
          <p:nvPr/>
        </p:nvSpPr>
        <p:spPr>
          <a:xfrm>
            <a:off x="548640" y="5669280"/>
            <a:ext cx="128016" cy="128016"/>
          </a:xfrm>
          <a:prstGeom prst="rect">
            <a:avLst/>
          </a:prstGeom>
          <a:solidFill>
            <a:srgbClr val="FFC62E"/>
          </a:solidFill>
          <a:ln/>
        </p:spPr>
      </p:sp>
      <p:sp>
        <p:nvSpPr>
          <p:cNvPr id="29" name="Text 22"/>
          <p:cNvSpPr txBox="1"/>
          <p:nvPr/>
        </p:nvSpPr>
        <p:spPr>
          <a:xfrm>
            <a:off x="768096" y="5614416"/>
            <a:ext cx="2432304" cy="237744"/>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株式会社OREO</a:t>
            </a:r>
            <a:endParaRPr lang="en-US" sz="1000" dirty="0"/>
          </a:p>
        </p:txBody>
      </p:sp>
      <p:sp>
        <p:nvSpPr>
          <p:cNvPr id="30" name="Text 23"/>
          <p:cNvSpPr txBox="1"/>
          <p:nvPr/>
        </p:nvSpPr>
        <p:spPr>
          <a:xfrm>
            <a:off x="768096" y="5852160"/>
            <a:ext cx="2432304" cy="201168"/>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飲食「五反田韓国 臣」</a:t>
            </a:r>
            <a:endParaRPr lang="en-US" sz="850" dirty="0"/>
          </a:p>
        </p:txBody>
      </p:sp>
      <p:pic>
        <p:nvPicPr>
          <p:cNvPr id="31" name="Image 5" descr="cl_udd.jpg">    </p:cNvPr>
          <p:cNvPicPr>
            <a:picLocks noChangeAspect="1"/>
          </p:cNvPicPr>
          <p:nvPr/>
        </p:nvPicPr>
        <p:blipFill>
          <a:blip r:embed="rId6"/>
          <a:stretch>
            <a:fillRect/>
          </a:stretch>
        </p:blipFill>
        <p:spPr>
          <a:xfrm>
            <a:off x="3346704" y="3931920"/>
            <a:ext cx="2651760" cy="1655064"/>
          </a:xfrm>
          <a:prstGeom prst="rect">
            <a:avLst/>
          </a:prstGeom>
        </p:spPr>
      </p:pic>
      <p:sp>
        <p:nvSpPr>
          <p:cNvPr id="32" name="Shape 24"/>
          <p:cNvSpPr/>
          <p:nvPr/>
        </p:nvSpPr>
        <p:spPr>
          <a:xfrm>
            <a:off x="3346704" y="3931920"/>
            <a:ext cx="2651760" cy="1655064"/>
          </a:xfrm>
          <a:prstGeom prst="rect">
            <a:avLst/>
          </a:prstGeom>
          <a:ln w="19050">
            <a:solidFill>
              <a:srgbClr val="141210"/>
            </a:solidFill>
            <a:prstDash val="solid"/>
          </a:ln>
        </p:spPr>
      </p:sp>
      <p:sp>
        <p:nvSpPr>
          <p:cNvPr id="33" name="Shape 25"/>
          <p:cNvSpPr/>
          <p:nvPr/>
        </p:nvSpPr>
        <p:spPr>
          <a:xfrm>
            <a:off x="3346704" y="5669280"/>
            <a:ext cx="128016" cy="128016"/>
          </a:xfrm>
          <a:prstGeom prst="rect">
            <a:avLst/>
          </a:prstGeom>
          <a:solidFill>
            <a:srgbClr val="FFC62E"/>
          </a:solidFill>
          <a:ln/>
        </p:spPr>
      </p:sp>
      <p:sp>
        <p:nvSpPr>
          <p:cNvPr id="34" name="Text 26"/>
          <p:cNvSpPr txBox="1"/>
          <p:nvPr/>
        </p:nvSpPr>
        <p:spPr>
          <a:xfrm>
            <a:off x="3566160" y="5614416"/>
            <a:ext cx="2432304" cy="237744"/>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BAR UDD</a:t>
            </a:r>
            <a:endParaRPr lang="en-US" sz="1000" dirty="0"/>
          </a:p>
        </p:txBody>
      </p:sp>
      <p:sp>
        <p:nvSpPr>
          <p:cNvPr id="35" name="Text 27"/>
          <p:cNvSpPr txBox="1"/>
          <p:nvPr/>
        </p:nvSpPr>
        <p:spPr>
          <a:xfrm>
            <a:off x="3566160" y="5852160"/>
            <a:ext cx="2432304" cy="201168"/>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六本木のバー</a:t>
            </a:r>
            <a:endParaRPr lang="en-US" sz="850" dirty="0"/>
          </a:p>
        </p:txBody>
      </p:sp>
      <p:pic>
        <p:nvPicPr>
          <p:cNvPr id="36" name="Image 6" descr="cl_mvp.jpg">    </p:cNvPr>
          <p:cNvPicPr>
            <a:picLocks noChangeAspect="1"/>
          </p:cNvPicPr>
          <p:nvPr/>
        </p:nvPicPr>
        <p:blipFill>
          <a:blip r:embed="rId7"/>
          <a:stretch>
            <a:fillRect/>
          </a:stretch>
        </p:blipFill>
        <p:spPr>
          <a:xfrm>
            <a:off x="6144768" y="3931920"/>
            <a:ext cx="2651760" cy="1655064"/>
          </a:xfrm>
          <a:prstGeom prst="rect">
            <a:avLst/>
          </a:prstGeom>
        </p:spPr>
      </p:pic>
      <p:sp>
        <p:nvSpPr>
          <p:cNvPr id="37" name="Shape 28"/>
          <p:cNvSpPr/>
          <p:nvPr/>
        </p:nvSpPr>
        <p:spPr>
          <a:xfrm>
            <a:off x="6144768" y="3931920"/>
            <a:ext cx="2651760" cy="1655064"/>
          </a:xfrm>
          <a:prstGeom prst="rect">
            <a:avLst/>
          </a:prstGeom>
          <a:ln w="19050">
            <a:solidFill>
              <a:srgbClr val="141210"/>
            </a:solidFill>
            <a:prstDash val="solid"/>
          </a:ln>
        </p:spPr>
      </p:sp>
      <p:sp>
        <p:nvSpPr>
          <p:cNvPr id="38" name="Shape 29"/>
          <p:cNvSpPr/>
          <p:nvPr/>
        </p:nvSpPr>
        <p:spPr>
          <a:xfrm>
            <a:off x="6144768" y="5669280"/>
            <a:ext cx="128016" cy="128016"/>
          </a:xfrm>
          <a:prstGeom prst="rect">
            <a:avLst/>
          </a:prstGeom>
          <a:solidFill>
            <a:srgbClr val="FFC62E"/>
          </a:solidFill>
          <a:ln/>
        </p:spPr>
      </p:sp>
      <p:sp>
        <p:nvSpPr>
          <p:cNvPr id="39" name="Text 30"/>
          <p:cNvSpPr txBox="1"/>
          <p:nvPr/>
        </p:nvSpPr>
        <p:spPr>
          <a:xfrm>
            <a:off x="6364224" y="5614416"/>
            <a:ext cx="2432304" cy="237744"/>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MVP</a:t>
            </a:r>
            <a:endParaRPr lang="en-US" sz="1000" dirty="0"/>
          </a:p>
        </p:txBody>
      </p:sp>
      <p:sp>
        <p:nvSpPr>
          <p:cNvPr id="40" name="Text 31"/>
          <p:cNvSpPr txBox="1"/>
          <p:nvPr/>
        </p:nvSpPr>
        <p:spPr>
          <a:xfrm>
            <a:off x="6364224" y="5852160"/>
            <a:ext cx="2432304" cy="201168"/>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六本木の個室BarLounge</a:t>
            </a:r>
            <a:endParaRPr lang="en-US" sz="850" dirty="0"/>
          </a:p>
        </p:txBody>
      </p:sp>
      <p:pic>
        <p:nvPicPr>
          <p:cNvPr id="41" name="Image 7" descr="cl_3710.jpg">    </p:cNvPr>
          <p:cNvPicPr>
            <a:picLocks noChangeAspect="1"/>
          </p:cNvPicPr>
          <p:nvPr/>
        </p:nvPicPr>
        <p:blipFill>
          <a:blip r:embed="rId8"/>
          <a:stretch>
            <a:fillRect/>
          </a:stretch>
        </p:blipFill>
        <p:spPr>
          <a:xfrm>
            <a:off x="8942832" y="3931920"/>
            <a:ext cx="2651760" cy="1655064"/>
          </a:xfrm>
          <a:prstGeom prst="rect">
            <a:avLst/>
          </a:prstGeom>
        </p:spPr>
      </p:pic>
      <p:sp>
        <p:nvSpPr>
          <p:cNvPr id="42" name="Shape 32"/>
          <p:cNvSpPr/>
          <p:nvPr/>
        </p:nvSpPr>
        <p:spPr>
          <a:xfrm>
            <a:off x="8942832" y="3931920"/>
            <a:ext cx="2651760" cy="1655064"/>
          </a:xfrm>
          <a:prstGeom prst="rect">
            <a:avLst/>
          </a:prstGeom>
          <a:ln w="19050">
            <a:solidFill>
              <a:srgbClr val="141210"/>
            </a:solidFill>
            <a:prstDash val="solid"/>
          </a:ln>
        </p:spPr>
      </p:sp>
      <p:sp>
        <p:nvSpPr>
          <p:cNvPr id="43" name="Shape 33"/>
          <p:cNvSpPr/>
          <p:nvPr/>
        </p:nvSpPr>
        <p:spPr>
          <a:xfrm>
            <a:off x="8942832" y="5669280"/>
            <a:ext cx="128016" cy="128016"/>
          </a:xfrm>
          <a:prstGeom prst="rect">
            <a:avLst/>
          </a:prstGeom>
          <a:solidFill>
            <a:srgbClr val="FFC62E"/>
          </a:solidFill>
          <a:ln/>
        </p:spPr>
      </p:sp>
      <p:sp>
        <p:nvSpPr>
          <p:cNvPr id="44" name="Text 34"/>
          <p:cNvSpPr txBox="1"/>
          <p:nvPr/>
        </p:nvSpPr>
        <p:spPr>
          <a:xfrm>
            <a:off x="9162288" y="5614416"/>
            <a:ext cx="2432304" cy="237744"/>
          </a:xfrm>
          <a:prstGeom prst="rect">
            <a:avLst/>
          </a:prstGeom>
          <a:noFill/>
          <a:ln/>
        </p:spPr>
        <p:txBody>
          <a:bodyPr wrap="square" lIns="0" tIns="0" rIns="0" bIns="0" rtlCol="0" anchor="ctr"/>
          <a:lstStyle/>
          <a:p>
            <a:pPr indent="0" marL="0">
              <a:buNone/>
            </a:pPr>
            <a:r>
              <a:rPr lang="en-US" sz="1000" b="1" dirty="0">
                <a:solidFill>
                  <a:srgbClr val="141210"/>
                </a:solidFill>
                <a:latin typeface="Yu Gothic" pitchFamily="34" charset="0"/>
                <a:ea typeface="Yu Gothic" pitchFamily="34" charset="-122"/>
                <a:cs typeface="Yu Gothic" pitchFamily="34" charset="-120"/>
              </a:rPr>
              <a:t>3710 NISHIAZABU</a:t>
            </a:r>
            <a:endParaRPr lang="en-US" sz="1000" dirty="0"/>
          </a:p>
        </p:txBody>
      </p:sp>
      <p:sp>
        <p:nvSpPr>
          <p:cNvPr id="45" name="Text 35"/>
          <p:cNvSpPr txBox="1"/>
          <p:nvPr/>
        </p:nvSpPr>
        <p:spPr>
          <a:xfrm>
            <a:off x="9162288" y="5852160"/>
            <a:ext cx="2432304" cy="201168"/>
          </a:xfrm>
          <a:prstGeom prst="rect">
            <a:avLst/>
          </a:prstGeom>
          <a:noFill/>
          <a:ln/>
        </p:spPr>
        <p:txBody>
          <a:bodyPr wrap="square" lIns="0" tIns="0" rIns="0" bIns="0" rtlCol="0" anchor="ctr"/>
          <a:lstStyle/>
          <a:p>
            <a:pPr indent="0" marL="0">
              <a:buNone/>
            </a:pPr>
            <a:r>
              <a:rPr lang="en-US" sz="850" dirty="0">
                <a:solidFill>
                  <a:srgbClr val="5F594E"/>
                </a:solidFill>
                <a:latin typeface="Yu Gothic" pitchFamily="34" charset="0"/>
                <a:ea typeface="Yu Gothic" pitchFamily="34" charset="-122"/>
                <a:cs typeface="Yu Gothic" pitchFamily="34" charset="-120"/>
              </a:rPr>
              <a:t>西麻布のバー</a:t>
            </a:r>
            <a:endParaRPr lang="en-US" sz="850" dirty="0"/>
          </a:p>
        </p:txBody>
      </p:sp>
      <p:sp>
        <p:nvSpPr>
          <p:cNvPr id="46" name="Shape 36"/>
          <p:cNvSpPr/>
          <p:nvPr/>
        </p:nvSpPr>
        <p:spPr>
          <a:xfrm>
            <a:off x="548640" y="6053328"/>
            <a:ext cx="11091672" cy="548640"/>
          </a:xfrm>
          <a:prstGeom prst="rect">
            <a:avLst/>
          </a:prstGeom>
          <a:solidFill>
            <a:srgbClr val="FFC62E"/>
          </a:solidFill>
          <a:ln/>
        </p:spPr>
      </p:sp>
      <p:sp>
        <p:nvSpPr>
          <p:cNvPr id="47" name="Text 37"/>
          <p:cNvSpPr txBox="1"/>
          <p:nvPr/>
        </p:nvSpPr>
        <p:spPr>
          <a:xfrm>
            <a:off x="777240" y="6181344"/>
            <a:ext cx="10698480" cy="310896"/>
          </a:xfrm>
          <a:prstGeom prst="rect">
            <a:avLst/>
          </a:prstGeom>
          <a:noFill/>
          <a:ln/>
        </p:spPr>
        <p:txBody>
          <a:bodyPr wrap="square" lIns="0" tIns="0" rIns="0" bIns="0" rtlCol="0" anchor="ctr"/>
          <a:lstStyle/>
          <a:p>
            <a:pPr indent="0" marL="0">
              <a:buNone/>
            </a:pPr>
            <a:r>
              <a:rPr lang="en-US" sz="1200" b="1" dirty="0">
                <a:solidFill>
                  <a:srgbClr val="141210"/>
                </a:solidFill>
                <a:latin typeface="Yu Gothic" pitchFamily="34" charset="0"/>
                <a:ea typeface="Yu Gothic" pitchFamily="34" charset="-122"/>
                <a:cs typeface="Yu Gothic" pitchFamily="34" charset="-120"/>
              </a:rPr>
              <a:t>EC・AI開発・飲食・ホテル・ナイトレジャーまで — 業種を問わず、BRIDGE HATCHの巣は回っています。</a:t>
            </a:r>
            <a:endParaRPr lang="en-US" sz="1200" dirty="0"/>
          </a:p>
        </p:txBody>
      </p:sp>
      <p:sp>
        <p:nvSpPr>
          <p:cNvPr id="48" name="Text 38"/>
          <p:cNvSpPr txBox="1"/>
          <p:nvPr/>
        </p:nvSpPr>
        <p:spPr>
          <a:xfrm>
            <a:off x="548640" y="6638544"/>
            <a:ext cx="11091672" cy="182880"/>
          </a:xfrm>
          <a:prstGeom prst="rect">
            <a:avLst/>
          </a:prstGeom>
          <a:noFill/>
          <a:ln/>
        </p:spPr>
        <p:txBody>
          <a:bodyPr wrap="square" lIns="0" tIns="0" rIns="0" bIns="0" rtlCol="0" anchor="ctr"/>
          <a:lstStyle/>
          <a:p>
            <a:pPr algn="r" indent="0" marL="0">
              <a:buNone/>
            </a:pPr>
            <a:r>
              <a:rPr lang="en-US" sz="750" dirty="0">
                <a:solidFill>
                  <a:srgbClr val="5F594E"/>
                </a:solidFill>
                <a:latin typeface="Yu Gothic" pitchFamily="34" charset="0"/>
                <a:ea typeface="Yu Gothic" pitchFamily="34" charset="-122"/>
                <a:cs typeface="Yu Gothic" pitchFamily="34" charset="-120"/>
              </a:rPr>
              <a:t>※画像は各社の公式サイト・公開SNSより。2026年9月時点。</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10 / </a:t>
            </a:r>
            <a:pPr indent="0" marL="0">
              <a:buNone/>
            </a:pPr>
            <a:r>
              <a:rPr lang="en-US" sz="1200" b="1" spc="300" kern="0" dirty="0">
                <a:solidFill>
                  <a:srgbClr val="B8860B"/>
                </a:solidFill>
                <a:latin typeface="Arial" pitchFamily="34" charset="0"/>
                <a:ea typeface="Arial" pitchFamily="34" charset="-122"/>
                <a:cs typeface="Arial" pitchFamily="34" charset="-120"/>
              </a:rPr>
              <a:t>PRICE PLAN</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通常プラン — 月々のお支払い（補助金なし）</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749808" y="1783080"/>
            <a:ext cx="2194560" cy="411480"/>
          </a:xfrm>
          <a:prstGeom prst="rect">
            <a:avLst/>
          </a:prstGeom>
          <a:noFill/>
          <a:ln/>
        </p:spPr>
        <p:txBody>
          <a:bodyPr wrap="square" lIns="0" tIns="0" rIns="0" bIns="0" rtlCol="0" anchor="ctr"/>
          <a:lstStyle/>
          <a:p>
            <a:pPr indent="0" marL="0">
              <a:buNone/>
            </a:pPr>
            <a:r>
              <a:rPr lang="en-US" sz="1700" b="1" dirty="0">
                <a:solidFill>
                  <a:srgbClr val="141210"/>
                </a:solidFill>
                <a:latin typeface="Yu Gothic" pitchFamily="34" charset="0"/>
                <a:ea typeface="Yu Gothic" pitchFamily="34" charset="-122"/>
                <a:cs typeface="Yu Gothic" pitchFamily="34" charset="-120"/>
              </a:rPr>
              <a:t>ライト</a:t>
            </a:r>
            <a:endParaRPr lang="en-US" sz="1700" dirty="0"/>
          </a:p>
        </p:txBody>
      </p:sp>
      <p:sp>
        <p:nvSpPr>
          <p:cNvPr id="7" name="Text 5"/>
          <p:cNvSpPr txBox="1"/>
          <p:nvPr/>
        </p:nvSpPr>
        <p:spPr>
          <a:xfrm>
            <a:off x="749808" y="2212848"/>
            <a:ext cx="3108960" cy="822960"/>
          </a:xfrm>
          <a:prstGeom prst="rect">
            <a:avLst/>
          </a:prstGeom>
          <a:noFill/>
          <a:ln/>
        </p:spPr>
        <p:txBody>
          <a:bodyPr wrap="square" lIns="0" tIns="0" rIns="0" bIns="0" rtlCol="0" anchor="ctr"/>
          <a:lstStyle/>
          <a:p>
            <a:pPr indent="0" marL="0">
              <a:buNone/>
            </a:pPr>
            <a:r>
              <a:rPr lang="en-US" sz="1400" b="1" dirty="0">
                <a:solidFill>
                  <a:srgbClr val="141210"/>
                </a:solidFill>
                <a:latin typeface="Yu Gothic" pitchFamily="34" charset="0"/>
                <a:ea typeface="Yu Gothic" pitchFamily="34" charset="-122"/>
                <a:cs typeface="Yu Gothic" pitchFamily="34" charset="-120"/>
              </a:rPr>
              <a:t>月額 </a:t>
            </a:r>
            <a:pPr indent="0" marL="0">
              <a:buNone/>
            </a:pPr>
            <a:r>
              <a:rPr lang="en-US" sz="4200" dirty="0">
                <a:solidFill>
                  <a:srgbClr val="B8860B"/>
                </a:solidFill>
                <a:latin typeface="Arial Black" pitchFamily="34" charset="0"/>
                <a:ea typeface="Arial Black" pitchFamily="34" charset="-122"/>
                <a:cs typeface="Arial Black" pitchFamily="34" charset="-120"/>
              </a:rPr>
              <a:t>6</a:t>
            </a:r>
            <a:pPr indent="0" marL="0">
              <a:buNone/>
            </a:pPr>
            <a:r>
              <a:rPr lang="en-US" sz="1500" b="1" dirty="0">
                <a:solidFill>
                  <a:srgbClr val="141210"/>
                </a:solidFill>
                <a:latin typeface="Yu Gothic" pitchFamily="34" charset="0"/>
                <a:ea typeface="Yu Gothic" pitchFamily="34" charset="-122"/>
                <a:cs typeface="Yu Gothic" pitchFamily="34" charset="-120"/>
              </a:rPr>
              <a:t> 万円</a:t>
            </a:r>
            <a:endParaRPr lang="en-US" sz="1400" dirty="0"/>
          </a:p>
        </p:txBody>
      </p:sp>
      <p:sp>
        <p:nvSpPr>
          <p:cNvPr id="8" name="Text 6"/>
          <p:cNvSpPr txBox="1"/>
          <p:nvPr/>
        </p:nvSpPr>
        <p:spPr>
          <a:xfrm>
            <a:off x="749808" y="3072384"/>
            <a:ext cx="3108960" cy="329184"/>
          </a:xfrm>
          <a:prstGeom prst="rect">
            <a:avLst/>
          </a:prstGeom>
          <a:noFill/>
          <a:ln/>
        </p:spPr>
        <p:txBody>
          <a:bodyPr wrap="square" lIns="0" tIns="0" rIns="0" bIns="0" rtlCol="0" anchor="ctr"/>
          <a:lstStyle/>
          <a:p>
            <a:pPr indent="0" marL="0">
              <a:buNone/>
            </a:pPr>
            <a:r>
              <a:rPr lang="en-US" sz="1200" b="1" dirty="0">
                <a:solidFill>
                  <a:srgbClr val="141210"/>
                </a:solidFill>
                <a:latin typeface="Yu Gothic" pitchFamily="34" charset="0"/>
                <a:ea typeface="Yu Gothic" pitchFamily="34" charset="-122"/>
                <a:cs typeface="Yu Gothic" pitchFamily="34" charset="-120"/>
              </a:rPr>
              <a:t>毎月 50ハニー</a:t>
            </a:r>
            <a:endParaRPr lang="en-US" sz="1200" dirty="0"/>
          </a:p>
        </p:txBody>
      </p:sp>
      <p:sp>
        <p:nvSpPr>
          <p:cNvPr id="9" name="Shape 7"/>
          <p:cNvSpPr/>
          <p:nvPr/>
        </p:nvSpPr>
        <p:spPr>
          <a:xfrm>
            <a:off x="749808" y="3456432"/>
            <a:ext cx="3200400" cy="347472"/>
          </a:xfrm>
          <a:prstGeom prst="rect">
            <a:avLst/>
          </a:prstGeom>
          <a:solidFill>
            <a:srgbClr val="F5F0E1"/>
          </a:solidFill>
          <a:ln/>
        </p:spPr>
      </p:sp>
      <p:sp>
        <p:nvSpPr>
          <p:cNvPr id="10" name="Text 8"/>
          <p:cNvSpPr txBox="1"/>
          <p:nvPr/>
        </p:nvSpPr>
        <p:spPr>
          <a:xfrm>
            <a:off x="859536" y="3520440"/>
            <a:ext cx="3063240" cy="256032"/>
          </a:xfrm>
          <a:prstGeom prst="rect">
            <a:avLst/>
          </a:prstGeom>
          <a:noFill/>
          <a:ln/>
        </p:spPr>
        <p:txBody>
          <a:bodyPr wrap="square" lIns="0" tIns="0" rIns="0" bIns="0" rtlCol="0" anchor="ctr"/>
          <a:lstStyle/>
          <a:p>
            <a:pPr indent="0" marL="0">
              <a:buNone/>
            </a:pPr>
            <a:r>
              <a:rPr lang="en-US" sz="1050" b="1" dirty="0">
                <a:solidFill>
                  <a:srgbClr val="141210"/>
                </a:solidFill>
                <a:latin typeface="Yu Gothic" pitchFamily="34" charset="0"/>
                <a:ea typeface="Yu Gothic" pitchFamily="34" charset="-122"/>
                <a:cs typeface="Yu Gothic" pitchFamily="34" charset="-120"/>
              </a:rPr>
              <a:t>TikTokショート MAX 月5本</a:t>
            </a:r>
            <a:endParaRPr lang="en-US" sz="1050" dirty="0"/>
          </a:p>
        </p:txBody>
      </p:sp>
      <p:sp>
        <p:nvSpPr>
          <p:cNvPr id="11" name="Text 9"/>
          <p:cNvSpPr txBox="1"/>
          <p:nvPr/>
        </p:nvSpPr>
        <p:spPr>
          <a:xfrm>
            <a:off x="749808" y="3977640"/>
            <a:ext cx="3200400" cy="1783080"/>
          </a:xfrm>
          <a:prstGeom prst="rect">
            <a:avLst/>
          </a:prstGeom>
          <a:noFill/>
          <a:ln/>
        </p:spPr>
        <p:txBody>
          <a:bodyPr wrap="square" lIns="0" tIns="0" rIns="0" bIns="0" rtlCol="0" anchor="ctr"/>
          <a:lstStyle/>
          <a:p>
            <a:pPr marL="152400" indent="-152400">
              <a:spcAft>
                <a:spcPts val="700"/>
              </a:spcAft>
              <a:buSzPct val="100000"/>
              <a:buChar char="▪"/>
            </a:pPr>
            <a:r>
              <a:rPr lang="en-US" sz="1050" dirty="0">
                <a:solidFill>
                  <a:srgbClr val="5F594E"/>
                </a:solidFill>
                <a:latin typeface="Yu Gothic" pitchFamily="34" charset="0"/>
                <a:ea typeface="Yu Gothic" pitchFamily="34" charset="-122"/>
                <a:cs typeface="Yu Gothic" pitchFamily="34" charset="-120"/>
              </a:rPr>
              <a:t>初期費用 10万円・繰越3ヶ月</a:t>
            </a:r>
            <a:endParaRPr lang="en-US" sz="1050" dirty="0"/>
          </a:p>
          <a:p>
            <a:pPr marL="152400" indent="-152400">
              <a:spcAft>
                <a:spcPts val="700"/>
              </a:spcAft>
              <a:buSzPct val="100000"/>
              <a:buChar char="▪"/>
            </a:pPr>
            <a:r>
              <a:rPr lang="en-US" sz="1050" dirty="0">
                <a:solidFill>
                  <a:srgbClr val="5F594E"/>
                </a:solidFill>
                <a:latin typeface="Yu Gothic" pitchFamily="34" charset="0"/>
                <a:ea typeface="Yu Gothic" pitchFamily="34" charset="-122"/>
                <a:cs typeface="Yu Gothic" pitchFamily="34" charset="-120"/>
              </a:rPr>
              <a:t>台本＋編集セットなら月2本</a:t>
            </a:r>
            <a:endParaRPr lang="en-US" sz="1050" dirty="0"/>
          </a:p>
          <a:p>
            <a:pPr marL="152400" indent="-152400">
              <a:spcAft>
                <a:spcPts val="700"/>
              </a:spcAft>
              <a:buSzPct val="100000"/>
              <a:buChar char="▪"/>
            </a:pPr>
            <a:r>
              <a:rPr lang="en-US" sz="1050" dirty="0">
                <a:solidFill>
                  <a:srgbClr val="5F594E"/>
                </a:solidFill>
                <a:latin typeface="Yu Gothic" pitchFamily="34" charset="0"/>
                <a:ea typeface="Yu Gothic" pitchFamily="34" charset="-122"/>
                <a:cs typeface="Yu Gothic" pitchFamily="34" charset="-120"/>
              </a:rPr>
              <a:t>まずは小さくお試し</a:t>
            </a:r>
            <a:endParaRPr lang="en-US" sz="1050" dirty="0"/>
          </a:p>
        </p:txBody>
      </p:sp>
      <p:sp>
        <p:nvSpPr>
          <p:cNvPr id="12" name="Shape 10"/>
          <p:cNvSpPr/>
          <p:nvPr/>
        </p:nvSpPr>
        <p:spPr>
          <a:xfrm>
            <a:off x="4142232" y="1737360"/>
            <a:ext cx="0" cy="3840480"/>
          </a:xfrm>
          <a:prstGeom prst="line">
            <a:avLst/>
          </a:prstGeom>
          <a:noFill/>
          <a:ln w="12700">
            <a:solidFill>
              <a:srgbClr val="E2DCCE"/>
            </a:solidFill>
            <a:prstDash val="solid"/>
          </a:ln>
        </p:spPr>
      </p:sp>
      <p:sp>
        <p:nvSpPr>
          <p:cNvPr id="13" name="Text 11"/>
          <p:cNvSpPr txBox="1"/>
          <p:nvPr/>
        </p:nvSpPr>
        <p:spPr>
          <a:xfrm>
            <a:off x="4544568" y="1783080"/>
            <a:ext cx="2194560" cy="411480"/>
          </a:xfrm>
          <a:prstGeom prst="rect">
            <a:avLst/>
          </a:prstGeom>
          <a:noFill/>
          <a:ln/>
        </p:spPr>
        <p:txBody>
          <a:bodyPr wrap="square" lIns="0" tIns="0" rIns="0" bIns="0" rtlCol="0" anchor="ctr"/>
          <a:lstStyle/>
          <a:p>
            <a:pPr indent="0" marL="0">
              <a:buNone/>
            </a:pPr>
            <a:r>
              <a:rPr lang="en-US" sz="1700" b="1" dirty="0">
                <a:solidFill>
                  <a:srgbClr val="141210"/>
                </a:solidFill>
                <a:latin typeface="Yu Gothic" pitchFamily="34" charset="0"/>
                <a:ea typeface="Yu Gothic" pitchFamily="34" charset="-122"/>
                <a:cs typeface="Yu Gothic" pitchFamily="34" charset="-120"/>
              </a:rPr>
              <a:t>スタンダード</a:t>
            </a:r>
            <a:endParaRPr lang="en-US" sz="1700" dirty="0"/>
          </a:p>
        </p:txBody>
      </p:sp>
      <p:sp>
        <p:nvSpPr>
          <p:cNvPr id="14" name="Text 12"/>
          <p:cNvSpPr txBox="1"/>
          <p:nvPr/>
        </p:nvSpPr>
        <p:spPr>
          <a:xfrm>
            <a:off x="4544568" y="2212848"/>
            <a:ext cx="3108960" cy="822960"/>
          </a:xfrm>
          <a:prstGeom prst="rect">
            <a:avLst/>
          </a:prstGeom>
          <a:noFill/>
          <a:ln/>
        </p:spPr>
        <p:txBody>
          <a:bodyPr wrap="square" lIns="0" tIns="0" rIns="0" bIns="0" rtlCol="0" anchor="ctr"/>
          <a:lstStyle/>
          <a:p>
            <a:pPr indent="0" marL="0">
              <a:buNone/>
            </a:pPr>
            <a:r>
              <a:rPr lang="en-US" sz="1400" b="1" dirty="0">
                <a:solidFill>
                  <a:srgbClr val="141210"/>
                </a:solidFill>
                <a:latin typeface="Yu Gothic" pitchFamily="34" charset="0"/>
                <a:ea typeface="Yu Gothic" pitchFamily="34" charset="-122"/>
                <a:cs typeface="Yu Gothic" pitchFamily="34" charset="-120"/>
              </a:rPr>
              <a:t>月額 </a:t>
            </a:r>
            <a:pPr indent="0" marL="0">
              <a:buNone/>
            </a:pPr>
            <a:r>
              <a:rPr lang="en-US" sz="4200" dirty="0">
                <a:solidFill>
                  <a:srgbClr val="B8860B"/>
                </a:solidFill>
                <a:latin typeface="Arial Black" pitchFamily="34" charset="0"/>
                <a:ea typeface="Arial Black" pitchFamily="34" charset="-122"/>
                <a:cs typeface="Arial Black" pitchFamily="34" charset="-120"/>
              </a:rPr>
              <a:t>18</a:t>
            </a:r>
            <a:pPr indent="0" marL="0">
              <a:buNone/>
            </a:pPr>
            <a:r>
              <a:rPr lang="en-US" sz="1500" b="1" dirty="0">
                <a:solidFill>
                  <a:srgbClr val="141210"/>
                </a:solidFill>
                <a:latin typeface="Yu Gothic" pitchFamily="34" charset="0"/>
                <a:ea typeface="Yu Gothic" pitchFamily="34" charset="-122"/>
                <a:cs typeface="Yu Gothic" pitchFamily="34" charset="-120"/>
              </a:rPr>
              <a:t> 万円</a:t>
            </a:r>
            <a:endParaRPr lang="en-US" sz="1400" dirty="0"/>
          </a:p>
        </p:txBody>
      </p:sp>
      <p:sp>
        <p:nvSpPr>
          <p:cNvPr id="15" name="Text 13"/>
          <p:cNvSpPr txBox="1"/>
          <p:nvPr/>
        </p:nvSpPr>
        <p:spPr>
          <a:xfrm>
            <a:off x="4544568" y="3072384"/>
            <a:ext cx="3108960" cy="329184"/>
          </a:xfrm>
          <a:prstGeom prst="rect">
            <a:avLst/>
          </a:prstGeom>
          <a:noFill/>
          <a:ln/>
        </p:spPr>
        <p:txBody>
          <a:bodyPr wrap="square" lIns="0" tIns="0" rIns="0" bIns="0" rtlCol="0" anchor="ctr"/>
          <a:lstStyle/>
          <a:p>
            <a:pPr indent="0" marL="0">
              <a:buNone/>
            </a:pPr>
            <a:r>
              <a:rPr lang="en-US" sz="1200" b="1" dirty="0">
                <a:solidFill>
                  <a:srgbClr val="141210"/>
                </a:solidFill>
                <a:latin typeface="Yu Gothic" pitchFamily="34" charset="0"/>
                <a:ea typeface="Yu Gothic" pitchFamily="34" charset="-122"/>
                <a:cs typeface="Yu Gothic" pitchFamily="34" charset="-120"/>
              </a:rPr>
              <a:t>毎月 180ハニー（+20%増量）</a:t>
            </a:r>
            <a:endParaRPr lang="en-US" sz="1200" dirty="0"/>
          </a:p>
        </p:txBody>
      </p:sp>
      <p:sp>
        <p:nvSpPr>
          <p:cNvPr id="16" name="Shape 14"/>
          <p:cNvSpPr/>
          <p:nvPr/>
        </p:nvSpPr>
        <p:spPr>
          <a:xfrm>
            <a:off x="4544568" y="3456432"/>
            <a:ext cx="3200400" cy="347472"/>
          </a:xfrm>
          <a:prstGeom prst="rect">
            <a:avLst/>
          </a:prstGeom>
          <a:solidFill>
            <a:srgbClr val="F5F0E1"/>
          </a:solidFill>
          <a:ln/>
        </p:spPr>
      </p:sp>
      <p:sp>
        <p:nvSpPr>
          <p:cNvPr id="17" name="Text 15"/>
          <p:cNvSpPr txBox="1"/>
          <p:nvPr/>
        </p:nvSpPr>
        <p:spPr>
          <a:xfrm>
            <a:off x="4654296" y="3520440"/>
            <a:ext cx="3063240" cy="256032"/>
          </a:xfrm>
          <a:prstGeom prst="rect">
            <a:avLst/>
          </a:prstGeom>
          <a:noFill/>
          <a:ln/>
        </p:spPr>
        <p:txBody>
          <a:bodyPr wrap="square" lIns="0" tIns="0" rIns="0" bIns="0" rtlCol="0" anchor="ctr"/>
          <a:lstStyle/>
          <a:p>
            <a:pPr indent="0" marL="0">
              <a:buNone/>
            </a:pPr>
            <a:r>
              <a:rPr lang="en-US" sz="1050" b="1" dirty="0">
                <a:solidFill>
                  <a:srgbClr val="141210"/>
                </a:solidFill>
                <a:latin typeface="Yu Gothic" pitchFamily="34" charset="0"/>
                <a:ea typeface="Yu Gothic" pitchFamily="34" charset="-122"/>
                <a:cs typeface="Yu Gothic" pitchFamily="34" charset="-120"/>
              </a:rPr>
              <a:t>TikTokショート MAX 月18本</a:t>
            </a:r>
            <a:endParaRPr lang="en-US" sz="1050" dirty="0"/>
          </a:p>
        </p:txBody>
      </p:sp>
      <p:sp>
        <p:nvSpPr>
          <p:cNvPr id="18" name="Text 16"/>
          <p:cNvSpPr txBox="1"/>
          <p:nvPr/>
        </p:nvSpPr>
        <p:spPr>
          <a:xfrm>
            <a:off x="4544568" y="3977640"/>
            <a:ext cx="3200400" cy="1783080"/>
          </a:xfrm>
          <a:prstGeom prst="rect">
            <a:avLst/>
          </a:prstGeom>
          <a:noFill/>
          <a:ln/>
        </p:spPr>
        <p:txBody>
          <a:bodyPr wrap="square" lIns="0" tIns="0" rIns="0" bIns="0" rtlCol="0" anchor="ctr"/>
          <a:lstStyle/>
          <a:p>
            <a:pPr marL="152400" indent="-152400">
              <a:spcAft>
                <a:spcPts val="700"/>
              </a:spcAft>
              <a:buSzPct val="100000"/>
              <a:buChar char="▪"/>
            </a:pPr>
            <a:r>
              <a:rPr lang="en-US" sz="1050" dirty="0">
                <a:solidFill>
                  <a:srgbClr val="5F594E"/>
                </a:solidFill>
                <a:latin typeface="Yu Gothic" pitchFamily="34" charset="0"/>
                <a:ea typeface="Yu Gothic" pitchFamily="34" charset="-122"/>
                <a:cs typeface="Yu Gothic" pitchFamily="34" charset="-120"/>
              </a:rPr>
              <a:t>初期費用 50万円・繰越12ヶ月</a:t>
            </a:r>
            <a:endParaRPr lang="en-US" sz="1050" dirty="0"/>
          </a:p>
          <a:p>
            <a:pPr marL="152400" indent="-152400">
              <a:spcAft>
                <a:spcPts val="700"/>
              </a:spcAft>
              <a:buSzPct val="100000"/>
              <a:buChar char="▪"/>
            </a:pPr>
            <a:r>
              <a:rPr lang="en-US" sz="1050" dirty="0">
                <a:solidFill>
                  <a:srgbClr val="5F594E"/>
                </a:solidFill>
                <a:latin typeface="Yu Gothic" pitchFamily="34" charset="0"/>
                <a:ea typeface="Yu Gothic" pitchFamily="34" charset="-122"/>
                <a:cs typeface="Yu Gothic" pitchFamily="34" charset="-120"/>
              </a:rPr>
              <a:t>週2本のフルセット運用も余裕（月8本）</a:t>
            </a:r>
            <a:endParaRPr lang="en-US" sz="1050" dirty="0"/>
          </a:p>
          <a:p>
            <a:pPr marL="152400" indent="-152400">
              <a:spcAft>
                <a:spcPts val="700"/>
              </a:spcAft>
              <a:buSzPct val="100000"/>
              <a:buChar char="▪"/>
            </a:pPr>
            <a:r>
              <a:rPr lang="en-US" sz="1050" dirty="0">
                <a:solidFill>
                  <a:srgbClr val="5F594E"/>
                </a:solidFill>
                <a:latin typeface="Yu Gothic" pitchFamily="34" charset="0"/>
                <a:ea typeface="Yu Gothic" pitchFamily="34" charset="-122"/>
                <a:cs typeface="Yu Gothic" pitchFamily="34" charset="-120"/>
              </a:rPr>
              <a:t>運用が固まってきた会社に</a:t>
            </a:r>
            <a:endParaRPr lang="en-US" sz="1050" dirty="0"/>
          </a:p>
        </p:txBody>
      </p:sp>
      <p:sp>
        <p:nvSpPr>
          <p:cNvPr id="19" name="Shape 17"/>
          <p:cNvSpPr/>
          <p:nvPr/>
        </p:nvSpPr>
        <p:spPr>
          <a:xfrm>
            <a:off x="8046720" y="1554480"/>
            <a:ext cx="3749040" cy="4389120"/>
          </a:xfrm>
          <a:prstGeom prst="rect">
            <a:avLst/>
          </a:prstGeom>
          <a:solidFill>
            <a:srgbClr val="141210"/>
          </a:solidFill>
          <a:ln/>
        </p:spPr>
      </p:sp>
      <p:sp>
        <p:nvSpPr>
          <p:cNvPr id="20" name="Text 18"/>
          <p:cNvSpPr txBox="1"/>
          <p:nvPr/>
        </p:nvSpPr>
        <p:spPr>
          <a:xfrm>
            <a:off x="10424160" y="1755648"/>
            <a:ext cx="1097280" cy="292608"/>
          </a:xfrm>
          <a:prstGeom prst="rect">
            <a:avLst/>
          </a:prstGeom>
          <a:solidFill>
            <a:srgbClr val="FFC62E"/>
          </a:solidFill>
          <a:ln/>
        </p:spPr>
        <p:txBody>
          <a:bodyPr wrap="square" rtlCol="0" anchor="ctr"/>
          <a:lstStyle/>
          <a:p>
            <a:pPr algn="ctr" indent="0" marL="0">
              <a:buNone/>
            </a:pPr>
            <a:r>
              <a:rPr lang="en-US" sz="1050" b="1" dirty="0">
                <a:solidFill>
                  <a:srgbClr val="141210"/>
                </a:solidFill>
                <a:latin typeface="Yu Gothic" pitchFamily="34" charset="0"/>
                <a:ea typeface="Yu Gothic" pitchFamily="34" charset="-122"/>
                <a:cs typeface="Yu Gothic" pitchFamily="34" charset="-120"/>
              </a:rPr>
              <a:t>おすすめ</a:t>
            </a:r>
            <a:endParaRPr lang="en-US" sz="1050" dirty="0"/>
          </a:p>
        </p:txBody>
      </p:sp>
      <p:sp>
        <p:nvSpPr>
          <p:cNvPr id="21" name="Text 19"/>
          <p:cNvSpPr txBox="1"/>
          <p:nvPr/>
        </p:nvSpPr>
        <p:spPr>
          <a:xfrm>
            <a:off x="8339328" y="1783080"/>
            <a:ext cx="2194560" cy="411480"/>
          </a:xfrm>
          <a:prstGeom prst="rect">
            <a:avLst/>
          </a:prstGeom>
          <a:noFill/>
          <a:ln/>
        </p:spPr>
        <p:txBody>
          <a:bodyPr wrap="square" lIns="0" tIns="0" rIns="0" bIns="0" rtlCol="0" anchor="ctr"/>
          <a:lstStyle/>
          <a:p>
            <a:pPr indent="0" marL="0">
              <a:buNone/>
            </a:pPr>
            <a:r>
              <a:rPr lang="en-US" sz="1700" b="1" dirty="0">
                <a:solidFill>
                  <a:srgbClr val="FFFFFF"/>
                </a:solidFill>
                <a:latin typeface="Yu Gothic" pitchFamily="34" charset="0"/>
                <a:ea typeface="Yu Gothic" pitchFamily="34" charset="-122"/>
                <a:cs typeface="Yu Gothic" pitchFamily="34" charset="-120"/>
              </a:rPr>
              <a:t>プレミアム</a:t>
            </a:r>
            <a:endParaRPr lang="en-US" sz="1700" dirty="0"/>
          </a:p>
        </p:txBody>
      </p:sp>
      <p:sp>
        <p:nvSpPr>
          <p:cNvPr id="22" name="Text 20"/>
          <p:cNvSpPr txBox="1"/>
          <p:nvPr/>
        </p:nvSpPr>
        <p:spPr>
          <a:xfrm>
            <a:off x="8339328" y="2212848"/>
            <a:ext cx="3108960" cy="822960"/>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月額 </a:t>
            </a:r>
            <a:pPr indent="0" marL="0">
              <a:buNone/>
            </a:pPr>
            <a:r>
              <a:rPr lang="en-US" sz="4200" dirty="0">
                <a:solidFill>
                  <a:srgbClr val="FFC62E"/>
                </a:solidFill>
                <a:latin typeface="Arial Black" pitchFamily="34" charset="0"/>
                <a:ea typeface="Arial Black" pitchFamily="34" charset="-122"/>
                <a:cs typeface="Arial Black" pitchFamily="34" charset="-120"/>
              </a:rPr>
              <a:t>20</a:t>
            </a:r>
            <a:pPr indent="0" marL="0">
              <a:buNone/>
            </a:pPr>
            <a:r>
              <a:rPr lang="en-US" sz="1500" b="1" dirty="0">
                <a:solidFill>
                  <a:srgbClr val="FFFFFF"/>
                </a:solidFill>
                <a:latin typeface="Yu Gothic" pitchFamily="34" charset="0"/>
                <a:ea typeface="Yu Gothic" pitchFamily="34" charset="-122"/>
                <a:cs typeface="Yu Gothic" pitchFamily="34" charset="-120"/>
              </a:rPr>
              <a:t> 万円</a:t>
            </a:r>
            <a:endParaRPr lang="en-US" sz="1400" dirty="0"/>
          </a:p>
        </p:txBody>
      </p:sp>
      <p:sp>
        <p:nvSpPr>
          <p:cNvPr id="23" name="Text 21"/>
          <p:cNvSpPr txBox="1"/>
          <p:nvPr/>
        </p:nvSpPr>
        <p:spPr>
          <a:xfrm>
            <a:off x="8339328" y="3072384"/>
            <a:ext cx="3108960" cy="329184"/>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毎月 200ハニー（+20%増量）</a:t>
            </a:r>
            <a:endParaRPr lang="en-US" sz="1200" dirty="0"/>
          </a:p>
        </p:txBody>
      </p:sp>
      <p:sp>
        <p:nvSpPr>
          <p:cNvPr id="24" name="Shape 22"/>
          <p:cNvSpPr/>
          <p:nvPr/>
        </p:nvSpPr>
        <p:spPr>
          <a:xfrm>
            <a:off x="8339328" y="3456432"/>
            <a:ext cx="3200400" cy="347472"/>
          </a:xfrm>
          <a:prstGeom prst="rect">
            <a:avLst/>
          </a:prstGeom>
          <a:solidFill>
            <a:srgbClr val="FFC62E"/>
          </a:solidFill>
          <a:ln/>
        </p:spPr>
      </p:sp>
      <p:sp>
        <p:nvSpPr>
          <p:cNvPr id="25" name="Text 23"/>
          <p:cNvSpPr txBox="1"/>
          <p:nvPr/>
        </p:nvSpPr>
        <p:spPr>
          <a:xfrm>
            <a:off x="8449056" y="3520440"/>
            <a:ext cx="3063240" cy="256032"/>
          </a:xfrm>
          <a:prstGeom prst="rect">
            <a:avLst/>
          </a:prstGeom>
          <a:noFill/>
          <a:ln/>
        </p:spPr>
        <p:txBody>
          <a:bodyPr wrap="square" lIns="0" tIns="0" rIns="0" bIns="0" rtlCol="0" anchor="ctr"/>
          <a:lstStyle/>
          <a:p>
            <a:pPr indent="0" marL="0">
              <a:buNone/>
            </a:pPr>
            <a:r>
              <a:rPr lang="en-US" sz="1050" b="1" dirty="0">
                <a:solidFill>
                  <a:srgbClr val="141210"/>
                </a:solidFill>
                <a:latin typeface="Yu Gothic" pitchFamily="34" charset="0"/>
                <a:ea typeface="Yu Gothic" pitchFamily="34" charset="-122"/>
                <a:cs typeface="Yu Gothic" pitchFamily="34" charset="-120"/>
              </a:rPr>
              <a:t>TikTokショート MAX 月20本（平日毎日）</a:t>
            </a:r>
            <a:endParaRPr lang="en-US" sz="1050" dirty="0"/>
          </a:p>
        </p:txBody>
      </p:sp>
      <p:sp>
        <p:nvSpPr>
          <p:cNvPr id="26" name="Text 24"/>
          <p:cNvSpPr txBox="1"/>
          <p:nvPr/>
        </p:nvSpPr>
        <p:spPr>
          <a:xfrm>
            <a:off x="8339328" y="3977640"/>
            <a:ext cx="3200400" cy="1783080"/>
          </a:xfrm>
          <a:prstGeom prst="rect">
            <a:avLst/>
          </a:prstGeom>
          <a:noFill/>
          <a:ln/>
        </p:spPr>
        <p:txBody>
          <a:bodyPr wrap="square" lIns="0" tIns="0" rIns="0" bIns="0" rtlCol="0" anchor="ctr"/>
          <a:lstStyle/>
          <a:p>
            <a:pPr marL="152400" indent="-152400">
              <a:spcAft>
                <a:spcPts val="700"/>
              </a:spcAft>
              <a:buSzPct val="100000"/>
              <a:buChar char="▪"/>
            </a:pPr>
            <a:r>
              <a:rPr lang="en-US" sz="1050" dirty="0">
                <a:solidFill>
                  <a:srgbClr val="B8B0A0"/>
                </a:solidFill>
                <a:latin typeface="Yu Gothic" pitchFamily="34" charset="0"/>
                <a:ea typeface="Yu Gothic" pitchFamily="34" charset="-122"/>
                <a:cs typeface="Yu Gothic" pitchFamily="34" charset="-120"/>
              </a:rPr>
              <a:t>初期費用 70万円・繰越12ヶ月</a:t>
            </a:r>
            <a:endParaRPr lang="en-US" sz="1050" dirty="0"/>
          </a:p>
          <a:p>
            <a:pPr marL="152400" indent="-152400">
              <a:spcAft>
                <a:spcPts val="700"/>
              </a:spcAft>
              <a:buSzPct val="100000"/>
              <a:buChar char="▪"/>
            </a:pPr>
            <a:r>
              <a:rPr lang="en-US" sz="1050" dirty="0">
                <a:solidFill>
                  <a:srgbClr val="B8B0A0"/>
                </a:solidFill>
                <a:latin typeface="Yu Gothic" pitchFamily="34" charset="0"/>
                <a:ea typeface="Yu Gothic" pitchFamily="34" charset="-122"/>
                <a:cs typeface="Yu Gothic" pitchFamily="34" charset="-120"/>
              </a:rPr>
              <a:t>優先納期・HP/LP・SEO・MEO優先枠</a:t>
            </a:r>
            <a:endParaRPr lang="en-US" sz="1050" dirty="0"/>
          </a:p>
          <a:p>
            <a:pPr marL="152400" indent="-152400">
              <a:spcAft>
                <a:spcPts val="700"/>
              </a:spcAft>
              <a:buSzPct val="100000"/>
              <a:buChar char="▪"/>
            </a:pPr>
            <a:r>
              <a:rPr lang="en-US" sz="1050" dirty="0">
                <a:solidFill>
                  <a:srgbClr val="B8B0A0"/>
                </a:solidFill>
                <a:latin typeface="Yu Gothic" pitchFamily="34" charset="0"/>
                <a:ea typeface="Yu Gothic" pitchFamily="34" charset="-122"/>
                <a:cs typeface="Yu Gothic" pitchFamily="34" charset="-120"/>
              </a:rPr>
              <a:t>採用・営業パック／専任コンサル・月次戦略会議</a:t>
            </a:r>
            <a:endParaRPr lang="en-US" sz="1050" dirty="0"/>
          </a:p>
        </p:txBody>
      </p:sp>
      <p:sp>
        <p:nvSpPr>
          <p:cNvPr id="27" name="Text 25"/>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050" dirty="0">
                <a:solidFill>
                  <a:srgbClr val="5F594E"/>
                </a:solidFill>
                <a:latin typeface="Yu Gothic" pitchFamily="34" charset="0"/>
                <a:ea typeface="Yu Gothic" pitchFamily="34" charset="-122"/>
                <a:cs typeface="Yu Gothic" pitchFamily="34" charset="-120"/>
              </a:rPr>
              <a:t>ご契約は12ヶ月〜・月々のお支払い。追加ハニーは1ハニー＝1,200円（税別）。2年分を前金でご契約いただくと、IT導入補助金で実質約1/3に → 次ページの補助金プランへ。</a:t>
            </a:r>
            <a:endParaRPr lang="en-US" sz="1050" dirty="0"/>
          </a:p>
        </p:txBody>
      </p:sp>
      <p:sp>
        <p:nvSpPr>
          <p:cNvPr id="28" name="Shape 26"/>
          <p:cNvSpPr/>
          <p:nvPr/>
        </p:nvSpPr>
        <p:spPr>
          <a:xfrm>
            <a:off x="548640" y="6455664"/>
            <a:ext cx="11091672" cy="0"/>
          </a:xfrm>
          <a:prstGeom prst="line">
            <a:avLst/>
          </a:prstGeom>
          <a:noFill/>
          <a:ln w="12700">
            <a:solidFill>
              <a:srgbClr val="E2DCCE"/>
            </a:solidFill>
            <a:prstDash val="solid"/>
          </a:ln>
        </p:spPr>
      </p:sp>
      <p:sp>
        <p:nvSpPr>
          <p:cNvPr id="29" name="Text 27"/>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30" name="Text 28"/>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210"/>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11 / </a:t>
            </a:r>
            <a:pPr indent="0" marL="0">
              <a:buNone/>
            </a:pPr>
            <a:r>
              <a:rPr lang="en-US" sz="1200" b="1" spc="300" kern="0" dirty="0">
                <a:solidFill>
                  <a:srgbClr val="FFC62E"/>
                </a:solidFill>
                <a:latin typeface="Arial" pitchFamily="34" charset="0"/>
                <a:ea typeface="Arial" pitchFamily="34" charset="-122"/>
                <a:cs typeface="Arial" pitchFamily="34" charset="-120"/>
              </a:rPr>
              <a:t>SUBSIDY SCHEME</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FFFFFF"/>
                </a:solidFill>
                <a:latin typeface="Yu Gothic" pitchFamily="34" charset="0"/>
                <a:ea typeface="Yu Gothic" pitchFamily="34" charset="-122"/>
                <a:cs typeface="Yu Gothic" pitchFamily="34" charset="-120"/>
              </a:rPr>
              <a:t>国が、3分の2を出してくれます。</a:t>
            </a:r>
            <a:endParaRPr lang="en-US" sz="2600" dirty="0"/>
          </a:p>
        </p:txBody>
      </p:sp>
      <p:sp>
        <p:nvSpPr>
          <p:cNvPr id="5" name="Shape 3"/>
          <p:cNvSpPr/>
          <p:nvPr/>
        </p:nvSpPr>
        <p:spPr>
          <a:xfrm>
            <a:off x="548640" y="1389888"/>
            <a:ext cx="11091672" cy="0"/>
          </a:xfrm>
          <a:prstGeom prst="line">
            <a:avLst/>
          </a:prstGeom>
          <a:noFill/>
          <a:ln w="25400">
            <a:solidFill>
              <a:srgbClr val="FFFFFF"/>
            </a:solidFill>
            <a:prstDash val="solid"/>
          </a:ln>
        </p:spPr>
      </p:sp>
      <p:sp>
        <p:nvSpPr>
          <p:cNvPr id="6" name="Shape 4"/>
          <p:cNvSpPr/>
          <p:nvPr/>
        </p:nvSpPr>
        <p:spPr>
          <a:xfrm>
            <a:off x="3694176" y="1572768"/>
            <a:ext cx="4800600" cy="914400"/>
          </a:xfrm>
          <a:prstGeom prst="ribbon2">
            <a:avLst/>
          </a:prstGeom>
          <a:solidFill>
            <a:srgbClr val="FFC62E"/>
          </a:solidFill>
          <a:ln/>
        </p:spPr>
      </p:sp>
      <p:sp>
        <p:nvSpPr>
          <p:cNvPr id="7" name="Text 5"/>
          <p:cNvSpPr txBox="1"/>
          <p:nvPr/>
        </p:nvSpPr>
        <p:spPr>
          <a:xfrm>
            <a:off x="4059936" y="1664208"/>
            <a:ext cx="4069080" cy="566928"/>
          </a:xfrm>
          <a:prstGeom prst="rect">
            <a:avLst/>
          </a:prstGeom>
          <a:noFill/>
          <a:ln/>
        </p:spPr>
        <p:txBody>
          <a:bodyPr wrap="square" lIns="0" tIns="0" rIns="0" bIns="0" rtlCol="0" anchor="ctr"/>
          <a:lstStyle/>
          <a:p>
            <a:pPr algn="ctr" indent="0" marL="0">
              <a:buNone/>
            </a:pPr>
            <a:r>
              <a:rPr lang="en-US" sz="2500" b="1" dirty="0">
                <a:solidFill>
                  <a:srgbClr val="141210"/>
                </a:solidFill>
                <a:latin typeface="Yu Gothic" pitchFamily="34" charset="0"/>
                <a:ea typeface="Yu Gothic" pitchFamily="34" charset="-122"/>
                <a:cs typeface="Yu Gothic" pitchFamily="34" charset="-120"/>
              </a:rPr>
              <a:t>2年間 実質約1/3</a:t>
            </a:r>
            <a:endParaRPr lang="en-US" sz="2500" dirty="0"/>
          </a:p>
        </p:txBody>
      </p:sp>
      <p:sp>
        <p:nvSpPr>
          <p:cNvPr id="8" name="Text 6"/>
          <p:cNvSpPr txBox="1"/>
          <p:nvPr/>
        </p:nvSpPr>
        <p:spPr>
          <a:xfrm>
            <a:off x="548640" y="2606040"/>
            <a:ext cx="11064240" cy="1188720"/>
          </a:xfrm>
          <a:prstGeom prst="rect">
            <a:avLst/>
          </a:prstGeom>
          <a:noFill/>
          <a:ln/>
        </p:spPr>
        <p:txBody>
          <a:bodyPr wrap="square" lIns="0" tIns="0" rIns="0" bIns="0" rtlCol="0" anchor="ctr"/>
          <a:lstStyle/>
          <a:p>
            <a:pPr algn="ctr" indent="0" marL="0">
              <a:buNone/>
            </a:pPr>
            <a:r>
              <a:rPr lang="en-US" sz="4000" dirty="0">
                <a:solidFill>
                  <a:srgbClr val="FFFFFF"/>
                </a:solidFill>
                <a:latin typeface="Arial Black" pitchFamily="34" charset="0"/>
                <a:ea typeface="Arial Black" pitchFamily="34" charset="-122"/>
                <a:cs typeface="Arial Black" pitchFamily="34" charset="-120"/>
              </a:rPr>
              <a:t>550</a:t>
            </a:r>
            <a:pPr algn="ctr" indent="0" marL="0">
              <a:buNone/>
            </a:pPr>
            <a:r>
              <a:rPr lang="en-US" sz="2000" b="1" dirty="0">
                <a:solidFill>
                  <a:srgbClr val="FFFFFF"/>
                </a:solidFill>
                <a:latin typeface="Yu Gothic" pitchFamily="34" charset="0"/>
                <a:ea typeface="Yu Gothic" pitchFamily="34" charset="-122"/>
                <a:cs typeface="Yu Gothic" pitchFamily="34" charset="-120"/>
              </a:rPr>
              <a:t>万円分を </a:t>
            </a:r>
            <a:pPr algn="ctr" indent="0" marL="0">
              <a:buNone/>
            </a:pPr>
            <a:r>
              <a:rPr lang="en-US" sz="7200" dirty="0">
                <a:solidFill>
                  <a:srgbClr val="FFC62E"/>
                </a:solidFill>
                <a:latin typeface="Arial Black" pitchFamily="34" charset="0"/>
                <a:ea typeface="Arial Black" pitchFamily="34" charset="-122"/>
                <a:cs typeface="Arial Black" pitchFamily="34" charset="-120"/>
              </a:rPr>
              <a:t>200</a:t>
            </a:r>
            <a:pPr algn="ctr" indent="0" marL="0">
              <a:buNone/>
            </a:pPr>
            <a:r>
              <a:rPr lang="en-US" sz="2800" b="1" dirty="0">
                <a:solidFill>
                  <a:srgbClr val="FFC62E"/>
                </a:solidFill>
                <a:latin typeface="Yu Gothic" pitchFamily="34" charset="0"/>
                <a:ea typeface="Yu Gothic" pitchFamily="34" charset="-122"/>
                <a:cs typeface="Yu Gothic" pitchFamily="34" charset="-120"/>
              </a:rPr>
              <a:t>万円</a:t>
            </a:r>
            <a:pPr algn="ctr" indent="0" marL="0">
              <a:buNone/>
            </a:pPr>
            <a:r>
              <a:rPr lang="en-US" sz="2000" b="1" dirty="0">
                <a:solidFill>
                  <a:srgbClr val="FFFFFF"/>
                </a:solidFill>
                <a:latin typeface="Yu Gothic" pitchFamily="34" charset="0"/>
                <a:ea typeface="Yu Gothic" pitchFamily="34" charset="-122"/>
                <a:cs typeface="Yu Gothic" pitchFamily="34" charset="-120"/>
              </a:rPr>
              <a:t> で！</a:t>
            </a:r>
            <a:pPr algn="ctr" indent="0" marL="0">
              <a:buNone/>
            </a:pPr>
            <a:r>
              <a:rPr lang="en-US" sz="1300" b="1" dirty="0">
                <a:solidFill>
                  <a:srgbClr val="B8B0A0"/>
                </a:solidFill>
                <a:latin typeface="Yu Gothic" pitchFamily="34" charset="0"/>
                <a:ea typeface="Yu Gothic" pitchFamily="34" charset="-122"/>
                <a:cs typeface="Yu Gothic" pitchFamily="34" charset="-120"/>
              </a:rPr>
              <a:t>（月額 約8.3万円）</a:t>
            </a:r>
            <a:endParaRPr lang="en-US" sz="4000" dirty="0"/>
          </a:p>
        </p:txBody>
      </p:sp>
      <p:sp>
        <p:nvSpPr>
          <p:cNvPr id="9" name="Text 7"/>
          <p:cNvSpPr txBox="1"/>
          <p:nvPr/>
        </p:nvSpPr>
        <p:spPr>
          <a:xfrm>
            <a:off x="548640" y="3767328"/>
            <a:ext cx="11064240" cy="320040"/>
          </a:xfrm>
          <a:prstGeom prst="rect">
            <a:avLst/>
          </a:prstGeom>
          <a:noFill/>
          <a:ln/>
        </p:spPr>
        <p:txBody>
          <a:bodyPr wrap="square" lIns="0" tIns="0" rIns="0" bIns="0" rtlCol="0" anchor="ctr"/>
          <a:lstStyle/>
          <a:p>
            <a:pPr algn="ctr" indent="0" marL="0">
              <a:buNone/>
            </a:pPr>
            <a:r>
              <a:rPr lang="en-US" sz="1200" b="1" dirty="0">
                <a:solidFill>
                  <a:srgbClr val="B8B0A0"/>
                </a:solidFill>
                <a:latin typeface="Yu Gothic" pitchFamily="34" charset="0"/>
                <a:ea typeface="Yu Gothic" pitchFamily="34" charset="-122"/>
                <a:cs typeface="Yu Gothic" pitchFamily="34" charset="-120"/>
              </a:rPr>
              <a:t>申請書類づくりは当社が伴走サポート</a:t>
            </a:r>
            <a:endParaRPr lang="en-US" sz="1200" dirty="0"/>
          </a:p>
        </p:txBody>
      </p:sp>
      <p:sp>
        <p:nvSpPr>
          <p:cNvPr id="10" name="Shape 8"/>
          <p:cNvSpPr/>
          <p:nvPr/>
        </p:nvSpPr>
        <p:spPr>
          <a:xfrm>
            <a:off x="822960" y="4187952"/>
            <a:ext cx="10543032" cy="0"/>
          </a:xfrm>
          <a:prstGeom prst="line">
            <a:avLst/>
          </a:prstGeom>
          <a:noFill/>
          <a:ln w="12700">
            <a:solidFill>
              <a:srgbClr val="3A352C"/>
            </a:solidFill>
            <a:prstDash val="solid"/>
          </a:ln>
        </p:spPr>
      </p:sp>
      <p:sp>
        <p:nvSpPr>
          <p:cNvPr id="11" name="Text 9"/>
          <p:cNvSpPr txBox="1"/>
          <p:nvPr/>
        </p:nvSpPr>
        <p:spPr>
          <a:xfrm>
            <a:off x="548640" y="4279392"/>
            <a:ext cx="110642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内訳）　プレミアムプランの場合</a:t>
            </a:r>
            <a:endParaRPr lang="en-US" sz="1300" dirty="0"/>
          </a:p>
        </p:txBody>
      </p:sp>
      <p:sp>
        <p:nvSpPr>
          <p:cNvPr id="12" name="Text 10"/>
          <p:cNvSpPr txBox="1"/>
          <p:nvPr/>
        </p:nvSpPr>
        <p:spPr>
          <a:xfrm>
            <a:off x="2011680" y="4645152"/>
            <a:ext cx="2743200" cy="310896"/>
          </a:xfrm>
          <a:prstGeom prst="rect">
            <a:avLst/>
          </a:prstGeom>
          <a:noFill/>
          <a:ln/>
        </p:spPr>
        <p:txBody>
          <a:bodyPr wrap="square" lIns="0" tIns="0" rIns="0" bIns="0" rtlCol="0" anchor="ctr"/>
          <a:lstStyle/>
          <a:p>
            <a:pPr algn="r" indent="0" marL="0">
              <a:buNone/>
            </a:pPr>
            <a:r>
              <a:rPr lang="en-US" sz="1200" b="1" dirty="0">
                <a:solidFill>
                  <a:srgbClr val="B8B0A0"/>
                </a:solidFill>
                <a:latin typeface="Yu Gothic" pitchFamily="34" charset="0"/>
                <a:ea typeface="Yu Gothic" pitchFamily="34" charset="-122"/>
                <a:cs typeface="Yu Gothic" pitchFamily="34" charset="-120"/>
              </a:rPr>
              <a:t>初期費用</a:t>
            </a:r>
            <a:endParaRPr lang="en-US" sz="1200" dirty="0"/>
          </a:p>
        </p:txBody>
      </p:sp>
      <p:sp>
        <p:nvSpPr>
          <p:cNvPr id="13" name="Text 11"/>
          <p:cNvSpPr txBox="1"/>
          <p:nvPr/>
        </p:nvSpPr>
        <p:spPr>
          <a:xfrm>
            <a:off x="4983480" y="4645152"/>
            <a:ext cx="155448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Yu Gothic" pitchFamily="34" charset="0"/>
                <a:ea typeface="Yu Gothic" pitchFamily="34" charset="-122"/>
                <a:cs typeface="Yu Gothic" pitchFamily="34" charset="-120"/>
              </a:rPr>
              <a:t>70万円</a:t>
            </a:r>
            <a:endParaRPr lang="en-US" sz="1200" dirty="0"/>
          </a:p>
        </p:txBody>
      </p:sp>
      <p:sp>
        <p:nvSpPr>
          <p:cNvPr id="14" name="Text 12"/>
          <p:cNvSpPr txBox="1"/>
          <p:nvPr/>
        </p:nvSpPr>
        <p:spPr>
          <a:xfrm>
            <a:off x="6675120" y="4645152"/>
            <a:ext cx="1371600" cy="310896"/>
          </a:xfrm>
          <a:prstGeom prst="rect">
            <a:avLst/>
          </a:prstGeom>
          <a:noFill/>
          <a:ln/>
        </p:spPr>
        <p:txBody>
          <a:bodyPr wrap="square" lIns="0" tIns="0" rIns="0" bIns="0" rtlCol="0" anchor="ctr"/>
          <a:lstStyle/>
          <a:p>
            <a:pPr indent="0" marL="0">
              <a:buNone/>
            </a:pPr>
            <a:endParaRPr lang="en-US" sz="1200" dirty="0"/>
          </a:p>
        </p:txBody>
      </p:sp>
      <p:sp>
        <p:nvSpPr>
          <p:cNvPr id="15" name="Text 13"/>
          <p:cNvSpPr txBox="1"/>
          <p:nvPr/>
        </p:nvSpPr>
        <p:spPr>
          <a:xfrm>
            <a:off x="8046720" y="4645152"/>
            <a:ext cx="201168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Yu Gothic" pitchFamily="34" charset="0"/>
                <a:ea typeface="Yu Gothic" pitchFamily="34" charset="-122"/>
                <a:cs typeface="Yu Gothic" pitchFamily="34" charset="-120"/>
              </a:rPr>
              <a:t>＝　 70万円</a:t>
            </a:r>
            <a:endParaRPr lang="en-US" sz="1200" dirty="0"/>
          </a:p>
        </p:txBody>
      </p:sp>
      <p:sp>
        <p:nvSpPr>
          <p:cNvPr id="16" name="Text 14"/>
          <p:cNvSpPr txBox="1"/>
          <p:nvPr/>
        </p:nvSpPr>
        <p:spPr>
          <a:xfrm>
            <a:off x="2011680" y="4992624"/>
            <a:ext cx="2743200" cy="310896"/>
          </a:xfrm>
          <a:prstGeom prst="rect">
            <a:avLst/>
          </a:prstGeom>
          <a:noFill/>
          <a:ln/>
        </p:spPr>
        <p:txBody>
          <a:bodyPr wrap="square" lIns="0" tIns="0" rIns="0" bIns="0" rtlCol="0" anchor="ctr"/>
          <a:lstStyle/>
          <a:p>
            <a:pPr algn="r" indent="0" marL="0">
              <a:buNone/>
            </a:pPr>
            <a:r>
              <a:rPr lang="en-US" sz="1200" b="1" dirty="0">
                <a:solidFill>
                  <a:srgbClr val="B8B0A0"/>
                </a:solidFill>
                <a:latin typeface="Yu Gothic" pitchFamily="34" charset="0"/>
                <a:ea typeface="Yu Gothic" pitchFamily="34" charset="-122"/>
                <a:cs typeface="Yu Gothic" pitchFamily="34" charset="-120"/>
              </a:rPr>
              <a:t>ツール利用料</a:t>
            </a:r>
            <a:endParaRPr lang="en-US" sz="1200" dirty="0"/>
          </a:p>
        </p:txBody>
      </p:sp>
      <p:sp>
        <p:nvSpPr>
          <p:cNvPr id="17" name="Text 15"/>
          <p:cNvSpPr txBox="1"/>
          <p:nvPr/>
        </p:nvSpPr>
        <p:spPr>
          <a:xfrm>
            <a:off x="4983480" y="4992624"/>
            <a:ext cx="155448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Yu Gothic" pitchFamily="34" charset="0"/>
                <a:ea typeface="Yu Gothic" pitchFamily="34" charset="-122"/>
                <a:cs typeface="Yu Gothic" pitchFamily="34" charset="-120"/>
              </a:rPr>
              <a:t>19万円</a:t>
            </a:r>
            <a:endParaRPr lang="en-US" sz="1200" dirty="0"/>
          </a:p>
        </p:txBody>
      </p:sp>
      <p:sp>
        <p:nvSpPr>
          <p:cNvPr id="18" name="Text 16"/>
          <p:cNvSpPr txBox="1"/>
          <p:nvPr/>
        </p:nvSpPr>
        <p:spPr>
          <a:xfrm>
            <a:off x="6675120" y="4992624"/>
            <a:ext cx="1371600" cy="310896"/>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×24か月</a:t>
            </a:r>
            <a:endParaRPr lang="en-US" sz="1200" dirty="0"/>
          </a:p>
        </p:txBody>
      </p:sp>
      <p:sp>
        <p:nvSpPr>
          <p:cNvPr id="19" name="Text 17"/>
          <p:cNvSpPr txBox="1"/>
          <p:nvPr/>
        </p:nvSpPr>
        <p:spPr>
          <a:xfrm>
            <a:off x="8046720" y="4992624"/>
            <a:ext cx="201168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Yu Gothic" pitchFamily="34" charset="0"/>
                <a:ea typeface="Yu Gothic" pitchFamily="34" charset="-122"/>
                <a:cs typeface="Yu Gothic" pitchFamily="34" charset="-120"/>
              </a:rPr>
              <a:t>＝　456万円</a:t>
            </a:r>
            <a:endParaRPr lang="en-US" sz="1200" dirty="0"/>
          </a:p>
        </p:txBody>
      </p:sp>
      <p:sp>
        <p:nvSpPr>
          <p:cNvPr id="20" name="Text 18"/>
          <p:cNvSpPr txBox="1"/>
          <p:nvPr/>
        </p:nvSpPr>
        <p:spPr>
          <a:xfrm>
            <a:off x="2011680" y="5340096"/>
            <a:ext cx="2743200" cy="310896"/>
          </a:xfrm>
          <a:prstGeom prst="rect">
            <a:avLst/>
          </a:prstGeom>
          <a:noFill/>
          <a:ln/>
        </p:spPr>
        <p:txBody>
          <a:bodyPr wrap="square" lIns="0" tIns="0" rIns="0" bIns="0" rtlCol="0" anchor="ctr"/>
          <a:lstStyle/>
          <a:p>
            <a:pPr algn="r" indent="0" marL="0">
              <a:buNone/>
            </a:pPr>
            <a:r>
              <a:rPr lang="en-US" sz="1200" b="1" dirty="0">
                <a:solidFill>
                  <a:srgbClr val="B8B0A0"/>
                </a:solidFill>
                <a:latin typeface="Yu Gothic" pitchFamily="34" charset="0"/>
                <a:ea typeface="Yu Gothic" pitchFamily="34" charset="-122"/>
                <a:cs typeface="Yu Gothic" pitchFamily="34" charset="-120"/>
              </a:rPr>
              <a:t>ハニー（補助金対象外）</a:t>
            </a:r>
            <a:endParaRPr lang="en-US" sz="1200" dirty="0"/>
          </a:p>
        </p:txBody>
      </p:sp>
      <p:sp>
        <p:nvSpPr>
          <p:cNvPr id="21" name="Text 19"/>
          <p:cNvSpPr txBox="1"/>
          <p:nvPr/>
        </p:nvSpPr>
        <p:spPr>
          <a:xfrm>
            <a:off x="4983480" y="5340096"/>
            <a:ext cx="155448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Yu Gothic" pitchFamily="34" charset="0"/>
                <a:ea typeface="Yu Gothic" pitchFamily="34" charset="-122"/>
                <a:cs typeface="Yu Gothic" pitchFamily="34" charset="-120"/>
              </a:rPr>
              <a:t>1万円</a:t>
            </a:r>
            <a:endParaRPr lang="en-US" sz="1200" dirty="0"/>
          </a:p>
        </p:txBody>
      </p:sp>
      <p:sp>
        <p:nvSpPr>
          <p:cNvPr id="22" name="Text 20"/>
          <p:cNvSpPr txBox="1"/>
          <p:nvPr/>
        </p:nvSpPr>
        <p:spPr>
          <a:xfrm>
            <a:off x="6675120" y="5340096"/>
            <a:ext cx="1371600" cy="310896"/>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×24か月</a:t>
            </a:r>
            <a:endParaRPr lang="en-US" sz="1200" dirty="0"/>
          </a:p>
        </p:txBody>
      </p:sp>
      <p:sp>
        <p:nvSpPr>
          <p:cNvPr id="23" name="Text 21"/>
          <p:cNvSpPr txBox="1"/>
          <p:nvPr/>
        </p:nvSpPr>
        <p:spPr>
          <a:xfrm>
            <a:off x="8046720" y="5340096"/>
            <a:ext cx="201168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Yu Gothic" pitchFamily="34" charset="0"/>
                <a:ea typeface="Yu Gothic" pitchFamily="34" charset="-122"/>
                <a:cs typeface="Yu Gothic" pitchFamily="34" charset="-120"/>
              </a:rPr>
              <a:t>＝　 24万円</a:t>
            </a:r>
            <a:endParaRPr lang="en-US" sz="1200" dirty="0"/>
          </a:p>
        </p:txBody>
      </p:sp>
      <p:sp>
        <p:nvSpPr>
          <p:cNvPr id="24" name="Text 22"/>
          <p:cNvSpPr txBox="1"/>
          <p:nvPr/>
        </p:nvSpPr>
        <p:spPr>
          <a:xfrm>
            <a:off x="548640" y="5742432"/>
            <a:ext cx="1106424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Yu Gothic" pitchFamily="34" charset="0"/>
                <a:ea typeface="Yu Gothic" pitchFamily="34" charset="-122"/>
                <a:cs typeface="Yu Gothic" pitchFamily="34" charset="-120"/>
              </a:rPr>
              <a:t>合計 550万円 − IT導入補助金 350万円 ＝ 実質ご負担 </a:t>
            </a:r>
            <a:pPr algn="ctr" indent="0" marL="0">
              <a:buNone/>
            </a:pPr>
            <a:r>
              <a:rPr lang="en-US" sz="1500" b="1" dirty="0">
                <a:solidFill>
                  <a:srgbClr val="FFC62E"/>
                </a:solidFill>
                <a:latin typeface="Yu Gothic" pitchFamily="34" charset="0"/>
                <a:ea typeface="Yu Gothic" pitchFamily="34" charset="-122"/>
                <a:cs typeface="Yu Gothic" pitchFamily="34" charset="-120"/>
              </a:rPr>
              <a:t>200万円</a:t>
            </a:r>
            <a:endParaRPr lang="en-US" sz="1250" dirty="0"/>
          </a:p>
        </p:txBody>
      </p:sp>
      <p:sp>
        <p:nvSpPr>
          <p:cNvPr id="25" name="Text 23"/>
          <p:cNvSpPr txBox="1"/>
          <p:nvPr/>
        </p:nvSpPr>
        <p:spPr>
          <a:xfrm>
            <a:off x="548640" y="6108192"/>
            <a:ext cx="11064240" cy="548640"/>
          </a:xfrm>
          <a:prstGeom prst="rect">
            <a:avLst/>
          </a:prstGeom>
          <a:noFill/>
          <a:ln/>
        </p:spPr>
        <p:txBody>
          <a:bodyPr wrap="square" lIns="0" tIns="0" rIns="0" bIns="0" rtlCol="0" anchor="ctr"/>
          <a:lstStyle/>
          <a:p>
            <a:pPr indent="0" marL="0">
              <a:lnSpc>
                <a:spcPts val="1100"/>
              </a:lnSpc>
              <a:buNone/>
            </a:pPr>
            <a:r>
              <a:rPr lang="en-US" sz="800" dirty="0">
                <a:solidFill>
                  <a:srgbClr val="877F6E"/>
                </a:solidFill>
                <a:latin typeface="Yu Gothic" pitchFamily="34" charset="0"/>
                <a:ea typeface="Yu Gothic" pitchFamily="34" charset="-122"/>
                <a:cs typeface="Yu Gothic" pitchFamily="34" charset="-120"/>
              </a:rPr>
              <a:t>※補助金の交付には審査があり、必ずしも採択されるとは限りません。 ※記載の計算例は一例です。実際の補助金額や負担額は申請内容や採択結果により異なります。交付決定前の契約・発注は補助対象外です。 ※「実質約1/3」は、550万円のプランに対して最大350万円の補助を受けた場合の参考例です。</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11 / </a:t>
            </a:r>
            <a:pPr indent="0" marL="0">
              <a:buNone/>
            </a:pPr>
            <a:r>
              <a:rPr lang="en-US" sz="1200" b="1" spc="300" kern="0" dirty="0">
                <a:solidFill>
                  <a:srgbClr val="B8860B"/>
                </a:solidFill>
                <a:latin typeface="Arial" pitchFamily="34" charset="0"/>
                <a:ea typeface="Arial" pitchFamily="34" charset="-122"/>
                <a:cs typeface="Arial" pitchFamily="34" charset="-120"/>
              </a:rPr>
              <a:t>SUBSIDY PLANS</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補助金プラン — 2年分前金のご契約で、実質約1/3</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749808" y="1783080"/>
            <a:ext cx="2194560" cy="411480"/>
          </a:xfrm>
          <a:prstGeom prst="rect">
            <a:avLst/>
          </a:prstGeom>
          <a:noFill/>
          <a:ln/>
        </p:spPr>
        <p:txBody>
          <a:bodyPr wrap="square" lIns="0" tIns="0" rIns="0" bIns="0" rtlCol="0" anchor="ctr"/>
          <a:lstStyle/>
          <a:p>
            <a:pPr indent="0" marL="0">
              <a:buNone/>
            </a:pPr>
            <a:r>
              <a:rPr lang="en-US" sz="1700" b="1" dirty="0">
                <a:solidFill>
                  <a:srgbClr val="141210"/>
                </a:solidFill>
                <a:latin typeface="Yu Gothic" pitchFamily="34" charset="0"/>
                <a:ea typeface="Yu Gothic" pitchFamily="34" charset="-122"/>
                <a:cs typeface="Yu Gothic" pitchFamily="34" charset="-120"/>
              </a:rPr>
              <a:t>ライト</a:t>
            </a:r>
            <a:endParaRPr lang="en-US" sz="1700" dirty="0"/>
          </a:p>
        </p:txBody>
      </p:sp>
      <p:sp>
        <p:nvSpPr>
          <p:cNvPr id="7" name="Text 5"/>
          <p:cNvSpPr txBox="1"/>
          <p:nvPr/>
        </p:nvSpPr>
        <p:spPr>
          <a:xfrm>
            <a:off x="749808" y="2304288"/>
            <a:ext cx="3108960" cy="329184"/>
          </a:xfrm>
          <a:prstGeom prst="rect">
            <a:avLst/>
          </a:prstGeom>
          <a:noFill/>
          <a:ln/>
        </p:spPr>
        <p:txBody>
          <a:bodyPr wrap="square" lIns="0" tIns="0" rIns="0" bIns="0" rtlCol="0" anchor="ctr"/>
          <a:lstStyle/>
          <a:p>
            <a:pPr indent="0" marL="0">
              <a:buNone/>
            </a:pPr>
            <a:r>
              <a:rPr lang="en-US" sz="1100" dirty="0">
                <a:solidFill>
                  <a:srgbClr val="5F594E"/>
                </a:solidFill>
                <a:latin typeface="Yu Gothic" pitchFamily="34" charset="0"/>
                <a:ea typeface="Yu Gothic" pitchFamily="34" charset="-122"/>
                <a:cs typeface="Yu Gothic" pitchFamily="34" charset="-120"/>
              </a:rPr>
              <a:t>前金一括（2年分） </a:t>
            </a:r>
            <a:pPr indent="0" marL="0">
              <a:buNone/>
            </a:pPr>
            <a:r>
              <a:rPr lang="en-US" sz="1350" b="1" dirty="0">
                <a:solidFill>
                  <a:srgbClr val="141210"/>
                </a:solidFill>
                <a:latin typeface="Yu Gothic" pitchFamily="34" charset="0"/>
                <a:ea typeface="Yu Gothic" pitchFamily="34" charset="-122"/>
                <a:cs typeface="Yu Gothic" pitchFamily="34" charset="-120"/>
              </a:rPr>
              <a:t>154万円</a:t>
            </a:r>
            <a:endParaRPr lang="en-US" sz="1100" dirty="0"/>
          </a:p>
        </p:txBody>
      </p:sp>
      <p:sp>
        <p:nvSpPr>
          <p:cNvPr id="8" name="Text 6"/>
          <p:cNvSpPr txBox="1"/>
          <p:nvPr/>
        </p:nvSpPr>
        <p:spPr>
          <a:xfrm>
            <a:off x="749808" y="2651760"/>
            <a:ext cx="3108960" cy="329184"/>
          </a:xfrm>
          <a:prstGeom prst="rect">
            <a:avLst/>
          </a:prstGeom>
          <a:noFill/>
          <a:ln/>
        </p:spPr>
        <p:txBody>
          <a:bodyPr wrap="square" lIns="0" tIns="0" rIns="0" bIns="0" rtlCol="0" anchor="ctr"/>
          <a:lstStyle/>
          <a:p>
            <a:pPr indent="0" marL="0">
              <a:buNone/>
            </a:pPr>
            <a:r>
              <a:rPr lang="en-US" sz="1100" dirty="0">
                <a:solidFill>
                  <a:srgbClr val="5F594E"/>
                </a:solidFill>
                <a:latin typeface="Yu Gothic" pitchFamily="34" charset="0"/>
                <a:ea typeface="Yu Gothic" pitchFamily="34" charset="-122"/>
                <a:cs typeface="Yu Gothic" pitchFamily="34" charset="-120"/>
              </a:rPr>
              <a:t>IT導入補助金 </a:t>
            </a:r>
            <a:pPr indent="0" marL="0">
              <a:buNone/>
            </a:pPr>
            <a:r>
              <a:rPr lang="en-US" sz="1350" b="1" dirty="0">
                <a:solidFill>
                  <a:srgbClr val="B8860B"/>
                </a:solidFill>
                <a:latin typeface="Yu Gothic" pitchFamily="34" charset="0"/>
                <a:ea typeface="Yu Gothic" pitchFamily="34" charset="-122"/>
                <a:cs typeface="Yu Gothic" pitchFamily="34" charset="-120"/>
              </a:rPr>
              <a:t>−86万円</a:t>
            </a:r>
            <a:endParaRPr lang="en-US" sz="1100" dirty="0"/>
          </a:p>
        </p:txBody>
      </p:sp>
      <p:sp>
        <p:nvSpPr>
          <p:cNvPr id="9" name="Shape 7"/>
          <p:cNvSpPr/>
          <p:nvPr/>
        </p:nvSpPr>
        <p:spPr>
          <a:xfrm>
            <a:off x="749808" y="3108960"/>
            <a:ext cx="3108960" cy="0"/>
          </a:xfrm>
          <a:prstGeom prst="line">
            <a:avLst/>
          </a:prstGeom>
          <a:noFill/>
          <a:ln w="12700">
            <a:solidFill>
              <a:srgbClr val="E2DCCE"/>
            </a:solidFill>
            <a:prstDash val="solid"/>
          </a:ln>
        </p:spPr>
      </p:sp>
      <p:sp>
        <p:nvSpPr>
          <p:cNvPr id="10" name="Text 8"/>
          <p:cNvSpPr txBox="1"/>
          <p:nvPr/>
        </p:nvSpPr>
        <p:spPr>
          <a:xfrm>
            <a:off x="749808" y="3218688"/>
            <a:ext cx="3017520" cy="274320"/>
          </a:xfrm>
          <a:prstGeom prst="rect">
            <a:avLst/>
          </a:prstGeom>
          <a:noFill/>
          <a:ln/>
        </p:spPr>
        <p:txBody>
          <a:bodyPr wrap="square" lIns="0" tIns="0" rIns="0" bIns="0" rtlCol="0" anchor="ctr"/>
          <a:lstStyle/>
          <a:p>
            <a:pPr indent="0" marL="0">
              <a:buNone/>
            </a:pPr>
            <a:r>
              <a:rPr lang="en-US" sz="1100" b="1" dirty="0">
                <a:solidFill>
                  <a:srgbClr val="5F594E"/>
                </a:solidFill>
                <a:latin typeface="Yu Gothic" pitchFamily="34" charset="0"/>
                <a:ea typeface="Yu Gothic" pitchFamily="34" charset="-122"/>
                <a:cs typeface="Yu Gothic" pitchFamily="34" charset="-120"/>
              </a:rPr>
              <a:t>実質ご負担</a:t>
            </a:r>
            <a:endParaRPr lang="en-US" sz="1100" dirty="0"/>
          </a:p>
        </p:txBody>
      </p:sp>
      <p:sp>
        <p:nvSpPr>
          <p:cNvPr id="11" name="Text 9"/>
          <p:cNvSpPr txBox="1"/>
          <p:nvPr/>
        </p:nvSpPr>
        <p:spPr>
          <a:xfrm>
            <a:off x="749808" y="3474720"/>
            <a:ext cx="3108960" cy="822960"/>
          </a:xfrm>
          <a:prstGeom prst="rect">
            <a:avLst/>
          </a:prstGeom>
          <a:noFill/>
          <a:ln/>
        </p:spPr>
        <p:txBody>
          <a:bodyPr wrap="square" lIns="0" tIns="0" rIns="0" bIns="0" rtlCol="0" anchor="ctr"/>
          <a:lstStyle/>
          <a:p>
            <a:pPr indent="0" marL="0">
              <a:buNone/>
            </a:pPr>
            <a:r>
              <a:rPr lang="en-US" sz="4200" dirty="0">
                <a:solidFill>
                  <a:srgbClr val="B8860B"/>
                </a:solidFill>
                <a:latin typeface="Arial Black" pitchFamily="34" charset="0"/>
                <a:ea typeface="Arial Black" pitchFamily="34" charset="-122"/>
                <a:cs typeface="Arial Black" pitchFamily="34" charset="-120"/>
              </a:rPr>
              <a:t>68</a:t>
            </a:r>
            <a:pPr indent="0" marL="0">
              <a:buNone/>
            </a:pPr>
            <a:r>
              <a:rPr lang="en-US" sz="1500" b="1" dirty="0">
                <a:solidFill>
                  <a:srgbClr val="141210"/>
                </a:solidFill>
                <a:latin typeface="Yu Gothic" pitchFamily="34" charset="0"/>
                <a:ea typeface="Yu Gothic" pitchFamily="34" charset="-122"/>
                <a:cs typeface="Yu Gothic" pitchFamily="34" charset="-120"/>
              </a:rPr>
              <a:t> 万円</a:t>
            </a:r>
            <a:endParaRPr lang="en-US" sz="4200" dirty="0"/>
          </a:p>
        </p:txBody>
      </p:sp>
      <p:sp>
        <p:nvSpPr>
          <p:cNvPr id="12" name="Text 10"/>
          <p:cNvSpPr txBox="1"/>
          <p:nvPr/>
        </p:nvSpPr>
        <p:spPr>
          <a:xfrm>
            <a:off x="749808" y="4343400"/>
            <a:ext cx="3108960" cy="329184"/>
          </a:xfrm>
          <a:prstGeom prst="rect">
            <a:avLst/>
          </a:prstGeom>
          <a:noFill/>
          <a:ln/>
        </p:spPr>
        <p:txBody>
          <a:bodyPr wrap="square" lIns="0" tIns="0" rIns="0" bIns="0" rtlCol="0" anchor="ctr"/>
          <a:lstStyle/>
          <a:p>
            <a:pPr indent="0" marL="0">
              <a:buNone/>
            </a:pPr>
            <a:r>
              <a:rPr lang="en-US" sz="1100" dirty="0">
                <a:solidFill>
                  <a:srgbClr val="5F594E"/>
                </a:solidFill>
                <a:latin typeface="Yu Gothic" pitchFamily="34" charset="0"/>
                <a:ea typeface="Yu Gothic" pitchFamily="34" charset="-122"/>
                <a:cs typeface="Yu Gothic" pitchFamily="34" charset="-120"/>
              </a:rPr>
              <a:t>月あたり </a:t>
            </a:r>
            <a:pPr indent="0" marL="0">
              <a:buNone/>
            </a:pPr>
            <a:r>
              <a:rPr lang="en-US" sz="1350" b="1" dirty="0">
                <a:solidFill>
                  <a:srgbClr val="141210"/>
                </a:solidFill>
                <a:latin typeface="Yu Gothic" pitchFamily="34" charset="0"/>
                <a:ea typeface="Yu Gothic" pitchFamily="34" charset="-122"/>
                <a:cs typeface="Yu Gothic" pitchFamily="34" charset="-120"/>
              </a:rPr>
              <a:t>約2.8万円</a:t>
            </a:r>
            <a:endParaRPr lang="en-US" sz="1100" dirty="0"/>
          </a:p>
        </p:txBody>
      </p:sp>
      <p:sp>
        <p:nvSpPr>
          <p:cNvPr id="13" name="Shape 11"/>
          <p:cNvSpPr/>
          <p:nvPr/>
        </p:nvSpPr>
        <p:spPr>
          <a:xfrm>
            <a:off x="749808" y="4718304"/>
            <a:ext cx="3200400" cy="329184"/>
          </a:xfrm>
          <a:prstGeom prst="rect">
            <a:avLst/>
          </a:prstGeom>
          <a:solidFill>
            <a:srgbClr val="F5F0E1"/>
          </a:solidFill>
          <a:ln/>
        </p:spPr>
      </p:sp>
      <p:sp>
        <p:nvSpPr>
          <p:cNvPr id="14" name="Text 12"/>
          <p:cNvSpPr txBox="1"/>
          <p:nvPr/>
        </p:nvSpPr>
        <p:spPr>
          <a:xfrm>
            <a:off x="859536" y="4773168"/>
            <a:ext cx="3063240" cy="237744"/>
          </a:xfrm>
          <a:prstGeom prst="rect">
            <a:avLst/>
          </a:prstGeom>
          <a:noFill/>
          <a:ln/>
        </p:spPr>
        <p:txBody>
          <a:bodyPr wrap="square" lIns="0" tIns="0" rIns="0" bIns="0" rtlCol="0" anchor="ctr"/>
          <a:lstStyle/>
          <a:p>
            <a:pPr indent="0" marL="0">
              <a:buNone/>
            </a:pPr>
            <a:r>
              <a:rPr lang="en-US" sz="1050" b="1" dirty="0">
                <a:solidFill>
                  <a:srgbClr val="141210"/>
                </a:solidFill>
                <a:latin typeface="Yu Gothic" pitchFamily="34" charset="0"/>
                <a:ea typeface="Yu Gothic" pitchFamily="34" charset="-122"/>
                <a:cs typeface="Yu Gothic" pitchFamily="34" charset="-120"/>
              </a:rPr>
              <a:t>TikTokショート MAX 120本／2年</a:t>
            </a:r>
            <a:endParaRPr lang="en-US" sz="1050" dirty="0"/>
          </a:p>
        </p:txBody>
      </p:sp>
      <p:sp>
        <p:nvSpPr>
          <p:cNvPr id="15" name="Text 13"/>
          <p:cNvSpPr txBox="1"/>
          <p:nvPr/>
        </p:nvSpPr>
        <p:spPr>
          <a:xfrm>
            <a:off x="749808" y="5138928"/>
            <a:ext cx="3154680" cy="685800"/>
          </a:xfrm>
          <a:prstGeom prst="rect">
            <a:avLst/>
          </a:prstGeom>
          <a:noFill/>
          <a:ln/>
        </p:spPr>
        <p:txBody>
          <a:bodyPr wrap="square" lIns="0" tIns="0" rIns="0" bIns="0" rtlCol="0" anchor="ctr"/>
          <a:lstStyle/>
          <a:p>
            <a:pPr indent="0" marL="0">
              <a:lnSpc>
                <a:spcPts val="1250"/>
              </a:lnSpc>
              <a:buNone/>
            </a:pPr>
            <a:r>
              <a:rPr lang="en-US" sz="850" dirty="0">
                <a:solidFill>
                  <a:srgbClr val="5F594E"/>
                </a:solidFill>
                <a:latin typeface="Yu Gothic" pitchFamily="34" charset="0"/>
                <a:ea typeface="Yu Gothic" pitchFamily="34" charset="-122"/>
                <a:cs typeface="Yu Gothic" pitchFamily="34" charset="-120"/>
              </a:rPr>
              <a:t>初期10万円＋月6万円×24ヶ月</a:t>
            </a:r>
            <a:endParaRPr lang="en-US" sz="850" dirty="0"/>
          </a:p>
          <a:p>
            <a:pPr indent="0" marL="0">
              <a:lnSpc>
                <a:spcPts val="1250"/>
              </a:lnSpc>
              <a:buNone/>
            </a:pPr>
            <a:r>
              <a:rPr lang="en-US" sz="850" dirty="0">
                <a:solidFill>
                  <a:srgbClr val="5F594E"/>
                </a:solidFill>
                <a:latin typeface="Yu Gothic" pitchFamily="34" charset="0"/>
                <a:ea typeface="Yu Gothic" pitchFamily="34" charset="-122"/>
                <a:cs typeface="Yu Gothic" pitchFamily="34" charset="-120"/>
              </a:rPr>
              <a:t>補助対象130万円 × 2/3</a:t>
            </a:r>
            <a:endParaRPr lang="en-US" sz="850" dirty="0"/>
          </a:p>
        </p:txBody>
      </p:sp>
      <p:sp>
        <p:nvSpPr>
          <p:cNvPr id="16" name="Shape 14"/>
          <p:cNvSpPr/>
          <p:nvPr/>
        </p:nvSpPr>
        <p:spPr>
          <a:xfrm>
            <a:off x="4142232" y="1737360"/>
            <a:ext cx="0" cy="3749040"/>
          </a:xfrm>
          <a:prstGeom prst="line">
            <a:avLst/>
          </a:prstGeom>
          <a:noFill/>
          <a:ln w="12700">
            <a:solidFill>
              <a:srgbClr val="E2DCCE"/>
            </a:solidFill>
            <a:prstDash val="solid"/>
          </a:ln>
        </p:spPr>
      </p:sp>
      <p:sp>
        <p:nvSpPr>
          <p:cNvPr id="17" name="Text 15"/>
          <p:cNvSpPr txBox="1"/>
          <p:nvPr/>
        </p:nvSpPr>
        <p:spPr>
          <a:xfrm>
            <a:off x="4544568" y="1783080"/>
            <a:ext cx="2194560" cy="411480"/>
          </a:xfrm>
          <a:prstGeom prst="rect">
            <a:avLst/>
          </a:prstGeom>
          <a:noFill/>
          <a:ln/>
        </p:spPr>
        <p:txBody>
          <a:bodyPr wrap="square" lIns="0" tIns="0" rIns="0" bIns="0" rtlCol="0" anchor="ctr"/>
          <a:lstStyle/>
          <a:p>
            <a:pPr indent="0" marL="0">
              <a:buNone/>
            </a:pPr>
            <a:r>
              <a:rPr lang="en-US" sz="1700" b="1" dirty="0">
                <a:solidFill>
                  <a:srgbClr val="141210"/>
                </a:solidFill>
                <a:latin typeface="Yu Gothic" pitchFamily="34" charset="0"/>
                <a:ea typeface="Yu Gothic" pitchFamily="34" charset="-122"/>
                <a:cs typeface="Yu Gothic" pitchFamily="34" charset="-120"/>
              </a:rPr>
              <a:t>スタンダード</a:t>
            </a:r>
            <a:endParaRPr lang="en-US" sz="1700" dirty="0"/>
          </a:p>
        </p:txBody>
      </p:sp>
      <p:sp>
        <p:nvSpPr>
          <p:cNvPr id="18" name="Text 16"/>
          <p:cNvSpPr txBox="1"/>
          <p:nvPr/>
        </p:nvSpPr>
        <p:spPr>
          <a:xfrm>
            <a:off x="4544568" y="2304288"/>
            <a:ext cx="3108960" cy="329184"/>
          </a:xfrm>
          <a:prstGeom prst="rect">
            <a:avLst/>
          </a:prstGeom>
          <a:noFill/>
          <a:ln/>
        </p:spPr>
        <p:txBody>
          <a:bodyPr wrap="square" lIns="0" tIns="0" rIns="0" bIns="0" rtlCol="0" anchor="ctr"/>
          <a:lstStyle/>
          <a:p>
            <a:pPr indent="0" marL="0">
              <a:buNone/>
            </a:pPr>
            <a:r>
              <a:rPr lang="en-US" sz="1100" dirty="0">
                <a:solidFill>
                  <a:srgbClr val="5F594E"/>
                </a:solidFill>
                <a:latin typeface="Yu Gothic" pitchFamily="34" charset="0"/>
                <a:ea typeface="Yu Gothic" pitchFamily="34" charset="-122"/>
                <a:cs typeface="Yu Gothic" pitchFamily="34" charset="-120"/>
              </a:rPr>
              <a:t>前金一括（2年分） </a:t>
            </a:r>
            <a:pPr indent="0" marL="0">
              <a:buNone/>
            </a:pPr>
            <a:r>
              <a:rPr lang="en-US" sz="1350" b="1" dirty="0">
                <a:solidFill>
                  <a:srgbClr val="141210"/>
                </a:solidFill>
                <a:latin typeface="Yu Gothic" pitchFamily="34" charset="0"/>
                <a:ea typeface="Yu Gothic" pitchFamily="34" charset="-122"/>
                <a:cs typeface="Yu Gothic" pitchFamily="34" charset="-120"/>
              </a:rPr>
              <a:t>482万円</a:t>
            </a:r>
            <a:endParaRPr lang="en-US" sz="1100" dirty="0"/>
          </a:p>
        </p:txBody>
      </p:sp>
      <p:sp>
        <p:nvSpPr>
          <p:cNvPr id="19" name="Text 17"/>
          <p:cNvSpPr txBox="1"/>
          <p:nvPr/>
        </p:nvSpPr>
        <p:spPr>
          <a:xfrm>
            <a:off x="4544568" y="2651760"/>
            <a:ext cx="3108960" cy="329184"/>
          </a:xfrm>
          <a:prstGeom prst="rect">
            <a:avLst/>
          </a:prstGeom>
          <a:noFill/>
          <a:ln/>
        </p:spPr>
        <p:txBody>
          <a:bodyPr wrap="square" lIns="0" tIns="0" rIns="0" bIns="0" rtlCol="0" anchor="ctr"/>
          <a:lstStyle/>
          <a:p>
            <a:pPr indent="0" marL="0">
              <a:buNone/>
            </a:pPr>
            <a:r>
              <a:rPr lang="en-US" sz="1100" dirty="0">
                <a:solidFill>
                  <a:srgbClr val="5F594E"/>
                </a:solidFill>
                <a:latin typeface="Yu Gothic" pitchFamily="34" charset="0"/>
                <a:ea typeface="Yu Gothic" pitchFamily="34" charset="-122"/>
                <a:cs typeface="Yu Gothic" pitchFamily="34" charset="-120"/>
              </a:rPr>
              <a:t>IT導入補助金 </a:t>
            </a:r>
            <a:pPr indent="0" marL="0">
              <a:buNone/>
            </a:pPr>
            <a:r>
              <a:rPr lang="en-US" sz="1350" b="1" dirty="0">
                <a:solidFill>
                  <a:srgbClr val="B8860B"/>
                </a:solidFill>
                <a:latin typeface="Yu Gothic" pitchFamily="34" charset="0"/>
                <a:ea typeface="Yu Gothic" pitchFamily="34" charset="-122"/>
                <a:cs typeface="Yu Gothic" pitchFamily="34" charset="-120"/>
              </a:rPr>
              <a:t>−305万円</a:t>
            </a:r>
            <a:endParaRPr lang="en-US" sz="1100" dirty="0"/>
          </a:p>
        </p:txBody>
      </p:sp>
      <p:sp>
        <p:nvSpPr>
          <p:cNvPr id="20" name="Shape 18"/>
          <p:cNvSpPr/>
          <p:nvPr/>
        </p:nvSpPr>
        <p:spPr>
          <a:xfrm>
            <a:off x="4544568" y="3108960"/>
            <a:ext cx="3108960" cy="0"/>
          </a:xfrm>
          <a:prstGeom prst="line">
            <a:avLst/>
          </a:prstGeom>
          <a:noFill/>
          <a:ln w="12700">
            <a:solidFill>
              <a:srgbClr val="E2DCCE"/>
            </a:solidFill>
            <a:prstDash val="solid"/>
          </a:ln>
        </p:spPr>
      </p:sp>
      <p:sp>
        <p:nvSpPr>
          <p:cNvPr id="21" name="Text 19"/>
          <p:cNvSpPr txBox="1"/>
          <p:nvPr/>
        </p:nvSpPr>
        <p:spPr>
          <a:xfrm>
            <a:off x="4544568" y="3218688"/>
            <a:ext cx="3017520" cy="274320"/>
          </a:xfrm>
          <a:prstGeom prst="rect">
            <a:avLst/>
          </a:prstGeom>
          <a:noFill/>
          <a:ln/>
        </p:spPr>
        <p:txBody>
          <a:bodyPr wrap="square" lIns="0" tIns="0" rIns="0" bIns="0" rtlCol="0" anchor="ctr"/>
          <a:lstStyle/>
          <a:p>
            <a:pPr indent="0" marL="0">
              <a:buNone/>
            </a:pPr>
            <a:r>
              <a:rPr lang="en-US" sz="1100" b="1" dirty="0">
                <a:solidFill>
                  <a:srgbClr val="5F594E"/>
                </a:solidFill>
                <a:latin typeface="Yu Gothic" pitchFamily="34" charset="0"/>
                <a:ea typeface="Yu Gothic" pitchFamily="34" charset="-122"/>
                <a:cs typeface="Yu Gothic" pitchFamily="34" charset="-120"/>
              </a:rPr>
              <a:t>実質ご負担</a:t>
            </a:r>
            <a:endParaRPr lang="en-US" sz="1100" dirty="0"/>
          </a:p>
        </p:txBody>
      </p:sp>
      <p:sp>
        <p:nvSpPr>
          <p:cNvPr id="22" name="Text 20"/>
          <p:cNvSpPr txBox="1"/>
          <p:nvPr/>
        </p:nvSpPr>
        <p:spPr>
          <a:xfrm>
            <a:off x="4544568" y="3474720"/>
            <a:ext cx="3108960" cy="822960"/>
          </a:xfrm>
          <a:prstGeom prst="rect">
            <a:avLst/>
          </a:prstGeom>
          <a:noFill/>
          <a:ln/>
        </p:spPr>
        <p:txBody>
          <a:bodyPr wrap="square" lIns="0" tIns="0" rIns="0" bIns="0" rtlCol="0" anchor="ctr"/>
          <a:lstStyle/>
          <a:p>
            <a:pPr indent="0" marL="0">
              <a:buNone/>
            </a:pPr>
            <a:r>
              <a:rPr lang="en-US" sz="4200" dirty="0">
                <a:solidFill>
                  <a:srgbClr val="B8860B"/>
                </a:solidFill>
                <a:latin typeface="Arial Black" pitchFamily="34" charset="0"/>
                <a:ea typeface="Arial Black" pitchFamily="34" charset="-122"/>
                <a:cs typeface="Arial Black" pitchFamily="34" charset="-120"/>
              </a:rPr>
              <a:t>177</a:t>
            </a:r>
            <a:pPr indent="0" marL="0">
              <a:buNone/>
            </a:pPr>
            <a:r>
              <a:rPr lang="en-US" sz="1500" b="1" dirty="0">
                <a:solidFill>
                  <a:srgbClr val="141210"/>
                </a:solidFill>
                <a:latin typeface="Yu Gothic" pitchFamily="34" charset="0"/>
                <a:ea typeface="Yu Gothic" pitchFamily="34" charset="-122"/>
                <a:cs typeface="Yu Gothic" pitchFamily="34" charset="-120"/>
              </a:rPr>
              <a:t> 万円</a:t>
            </a:r>
            <a:endParaRPr lang="en-US" sz="4200" dirty="0"/>
          </a:p>
        </p:txBody>
      </p:sp>
      <p:sp>
        <p:nvSpPr>
          <p:cNvPr id="23" name="Text 21"/>
          <p:cNvSpPr txBox="1"/>
          <p:nvPr/>
        </p:nvSpPr>
        <p:spPr>
          <a:xfrm>
            <a:off x="4544568" y="4343400"/>
            <a:ext cx="3108960" cy="329184"/>
          </a:xfrm>
          <a:prstGeom prst="rect">
            <a:avLst/>
          </a:prstGeom>
          <a:noFill/>
          <a:ln/>
        </p:spPr>
        <p:txBody>
          <a:bodyPr wrap="square" lIns="0" tIns="0" rIns="0" bIns="0" rtlCol="0" anchor="ctr"/>
          <a:lstStyle/>
          <a:p>
            <a:pPr indent="0" marL="0">
              <a:buNone/>
            </a:pPr>
            <a:r>
              <a:rPr lang="en-US" sz="1100" dirty="0">
                <a:solidFill>
                  <a:srgbClr val="5F594E"/>
                </a:solidFill>
                <a:latin typeface="Yu Gothic" pitchFamily="34" charset="0"/>
                <a:ea typeface="Yu Gothic" pitchFamily="34" charset="-122"/>
                <a:cs typeface="Yu Gothic" pitchFamily="34" charset="-120"/>
              </a:rPr>
              <a:t>月あたり </a:t>
            </a:r>
            <a:pPr indent="0" marL="0">
              <a:buNone/>
            </a:pPr>
            <a:r>
              <a:rPr lang="en-US" sz="1350" b="1" dirty="0">
                <a:solidFill>
                  <a:srgbClr val="141210"/>
                </a:solidFill>
                <a:latin typeface="Yu Gothic" pitchFamily="34" charset="0"/>
                <a:ea typeface="Yu Gothic" pitchFamily="34" charset="-122"/>
                <a:cs typeface="Yu Gothic" pitchFamily="34" charset="-120"/>
              </a:rPr>
              <a:t>約7.4万円</a:t>
            </a:r>
            <a:endParaRPr lang="en-US" sz="1100" dirty="0"/>
          </a:p>
        </p:txBody>
      </p:sp>
      <p:sp>
        <p:nvSpPr>
          <p:cNvPr id="24" name="Shape 22"/>
          <p:cNvSpPr/>
          <p:nvPr/>
        </p:nvSpPr>
        <p:spPr>
          <a:xfrm>
            <a:off x="4544568" y="4718304"/>
            <a:ext cx="3200400" cy="329184"/>
          </a:xfrm>
          <a:prstGeom prst="rect">
            <a:avLst/>
          </a:prstGeom>
          <a:solidFill>
            <a:srgbClr val="F5F0E1"/>
          </a:solidFill>
          <a:ln/>
        </p:spPr>
      </p:sp>
      <p:sp>
        <p:nvSpPr>
          <p:cNvPr id="25" name="Text 23"/>
          <p:cNvSpPr txBox="1"/>
          <p:nvPr/>
        </p:nvSpPr>
        <p:spPr>
          <a:xfrm>
            <a:off x="4654296" y="4773168"/>
            <a:ext cx="3063240" cy="237744"/>
          </a:xfrm>
          <a:prstGeom prst="rect">
            <a:avLst/>
          </a:prstGeom>
          <a:noFill/>
          <a:ln/>
        </p:spPr>
        <p:txBody>
          <a:bodyPr wrap="square" lIns="0" tIns="0" rIns="0" bIns="0" rtlCol="0" anchor="ctr"/>
          <a:lstStyle/>
          <a:p>
            <a:pPr indent="0" marL="0">
              <a:buNone/>
            </a:pPr>
            <a:r>
              <a:rPr lang="en-US" sz="1050" b="1" dirty="0">
                <a:solidFill>
                  <a:srgbClr val="141210"/>
                </a:solidFill>
                <a:latin typeface="Yu Gothic" pitchFamily="34" charset="0"/>
                <a:ea typeface="Yu Gothic" pitchFamily="34" charset="-122"/>
                <a:cs typeface="Yu Gothic" pitchFamily="34" charset="-120"/>
              </a:rPr>
              <a:t>TikTokショート MAX 432本／2年</a:t>
            </a:r>
            <a:endParaRPr lang="en-US" sz="1050" dirty="0"/>
          </a:p>
        </p:txBody>
      </p:sp>
      <p:sp>
        <p:nvSpPr>
          <p:cNvPr id="26" name="Text 24"/>
          <p:cNvSpPr txBox="1"/>
          <p:nvPr/>
        </p:nvSpPr>
        <p:spPr>
          <a:xfrm>
            <a:off x="4544568" y="5138928"/>
            <a:ext cx="3154680" cy="685800"/>
          </a:xfrm>
          <a:prstGeom prst="rect">
            <a:avLst/>
          </a:prstGeom>
          <a:noFill/>
          <a:ln/>
        </p:spPr>
        <p:txBody>
          <a:bodyPr wrap="square" lIns="0" tIns="0" rIns="0" bIns="0" rtlCol="0" anchor="ctr"/>
          <a:lstStyle/>
          <a:p>
            <a:pPr indent="0" marL="0">
              <a:lnSpc>
                <a:spcPts val="1250"/>
              </a:lnSpc>
              <a:buNone/>
            </a:pPr>
            <a:r>
              <a:rPr lang="en-US" sz="850" dirty="0">
                <a:solidFill>
                  <a:srgbClr val="5F594E"/>
                </a:solidFill>
                <a:latin typeface="Yu Gothic" pitchFamily="34" charset="0"/>
                <a:ea typeface="Yu Gothic" pitchFamily="34" charset="-122"/>
                <a:cs typeface="Yu Gothic" pitchFamily="34" charset="-120"/>
              </a:rPr>
              <a:t>初期50万円＋月18万円×24ヶ月</a:t>
            </a:r>
            <a:endParaRPr lang="en-US" sz="850" dirty="0"/>
          </a:p>
          <a:p>
            <a:pPr indent="0" marL="0">
              <a:lnSpc>
                <a:spcPts val="1250"/>
              </a:lnSpc>
              <a:buNone/>
            </a:pPr>
            <a:r>
              <a:rPr lang="en-US" sz="850" dirty="0">
                <a:solidFill>
                  <a:srgbClr val="5F594E"/>
                </a:solidFill>
                <a:latin typeface="Yu Gothic" pitchFamily="34" charset="0"/>
                <a:ea typeface="Yu Gothic" pitchFamily="34" charset="-122"/>
                <a:cs typeface="Yu Gothic" pitchFamily="34" charset="-120"/>
              </a:rPr>
              <a:t>補助対象458万円 × 2/3</a:t>
            </a:r>
            <a:endParaRPr lang="en-US" sz="850" dirty="0"/>
          </a:p>
        </p:txBody>
      </p:sp>
      <p:sp>
        <p:nvSpPr>
          <p:cNvPr id="27" name="Shape 25"/>
          <p:cNvSpPr/>
          <p:nvPr/>
        </p:nvSpPr>
        <p:spPr>
          <a:xfrm>
            <a:off x="8046720" y="1554480"/>
            <a:ext cx="3749040" cy="4297680"/>
          </a:xfrm>
          <a:prstGeom prst="rect">
            <a:avLst/>
          </a:prstGeom>
          <a:solidFill>
            <a:srgbClr val="141210"/>
          </a:solidFill>
          <a:ln/>
        </p:spPr>
      </p:sp>
      <p:sp>
        <p:nvSpPr>
          <p:cNvPr id="28" name="Text 26"/>
          <p:cNvSpPr txBox="1"/>
          <p:nvPr/>
        </p:nvSpPr>
        <p:spPr>
          <a:xfrm>
            <a:off x="10424160" y="1755648"/>
            <a:ext cx="1097280" cy="292608"/>
          </a:xfrm>
          <a:prstGeom prst="rect">
            <a:avLst/>
          </a:prstGeom>
          <a:solidFill>
            <a:srgbClr val="FFC62E"/>
          </a:solidFill>
          <a:ln/>
        </p:spPr>
        <p:txBody>
          <a:bodyPr wrap="square" rtlCol="0" anchor="ctr"/>
          <a:lstStyle/>
          <a:p>
            <a:pPr algn="ctr" indent="0" marL="0">
              <a:buNone/>
            </a:pPr>
            <a:r>
              <a:rPr lang="en-US" sz="1050" b="1" dirty="0">
                <a:solidFill>
                  <a:srgbClr val="141210"/>
                </a:solidFill>
                <a:latin typeface="Yu Gothic" pitchFamily="34" charset="0"/>
                <a:ea typeface="Yu Gothic" pitchFamily="34" charset="-122"/>
                <a:cs typeface="Yu Gothic" pitchFamily="34" charset="-120"/>
              </a:rPr>
              <a:t>おすすめ</a:t>
            </a:r>
            <a:endParaRPr lang="en-US" sz="1050" dirty="0"/>
          </a:p>
        </p:txBody>
      </p:sp>
      <p:sp>
        <p:nvSpPr>
          <p:cNvPr id="29" name="Text 27"/>
          <p:cNvSpPr txBox="1"/>
          <p:nvPr/>
        </p:nvSpPr>
        <p:spPr>
          <a:xfrm>
            <a:off x="8339328" y="1783080"/>
            <a:ext cx="2194560" cy="411480"/>
          </a:xfrm>
          <a:prstGeom prst="rect">
            <a:avLst/>
          </a:prstGeom>
          <a:noFill/>
          <a:ln/>
        </p:spPr>
        <p:txBody>
          <a:bodyPr wrap="square" lIns="0" tIns="0" rIns="0" bIns="0" rtlCol="0" anchor="ctr"/>
          <a:lstStyle/>
          <a:p>
            <a:pPr indent="0" marL="0">
              <a:buNone/>
            </a:pPr>
            <a:r>
              <a:rPr lang="en-US" sz="1700" b="1" dirty="0">
                <a:solidFill>
                  <a:srgbClr val="FFFFFF"/>
                </a:solidFill>
                <a:latin typeface="Yu Gothic" pitchFamily="34" charset="0"/>
                <a:ea typeface="Yu Gothic" pitchFamily="34" charset="-122"/>
                <a:cs typeface="Yu Gothic" pitchFamily="34" charset="-120"/>
              </a:rPr>
              <a:t>プレミアム</a:t>
            </a:r>
            <a:endParaRPr lang="en-US" sz="1700" dirty="0"/>
          </a:p>
        </p:txBody>
      </p:sp>
      <p:sp>
        <p:nvSpPr>
          <p:cNvPr id="30" name="Text 28"/>
          <p:cNvSpPr txBox="1"/>
          <p:nvPr/>
        </p:nvSpPr>
        <p:spPr>
          <a:xfrm>
            <a:off x="8339328" y="2304288"/>
            <a:ext cx="3108960" cy="329184"/>
          </a:xfrm>
          <a:prstGeom prst="rect">
            <a:avLst/>
          </a:prstGeom>
          <a:noFill/>
          <a:ln/>
        </p:spPr>
        <p:txBody>
          <a:bodyPr wrap="square" lIns="0" tIns="0" rIns="0" bIns="0" rtlCol="0" anchor="ctr"/>
          <a:lstStyle/>
          <a:p>
            <a:pPr indent="0" marL="0">
              <a:buNone/>
            </a:pPr>
            <a:r>
              <a:rPr lang="en-US" sz="1100" dirty="0">
                <a:solidFill>
                  <a:srgbClr val="B8B0A0"/>
                </a:solidFill>
                <a:latin typeface="Yu Gothic" pitchFamily="34" charset="0"/>
                <a:ea typeface="Yu Gothic" pitchFamily="34" charset="-122"/>
                <a:cs typeface="Yu Gothic" pitchFamily="34" charset="-120"/>
              </a:rPr>
              <a:t>前金一括（2年分） </a:t>
            </a:r>
            <a:pPr indent="0" marL="0">
              <a:buNone/>
            </a:pPr>
            <a:r>
              <a:rPr lang="en-US" sz="1350" b="1" dirty="0">
                <a:solidFill>
                  <a:srgbClr val="FFFFFF"/>
                </a:solidFill>
                <a:latin typeface="Yu Gothic" pitchFamily="34" charset="0"/>
                <a:ea typeface="Yu Gothic" pitchFamily="34" charset="-122"/>
                <a:cs typeface="Yu Gothic" pitchFamily="34" charset="-120"/>
              </a:rPr>
              <a:t>550万円</a:t>
            </a:r>
            <a:endParaRPr lang="en-US" sz="1100" dirty="0"/>
          </a:p>
        </p:txBody>
      </p:sp>
      <p:sp>
        <p:nvSpPr>
          <p:cNvPr id="31" name="Text 29"/>
          <p:cNvSpPr txBox="1"/>
          <p:nvPr/>
        </p:nvSpPr>
        <p:spPr>
          <a:xfrm>
            <a:off x="8339328" y="2651760"/>
            <a:ext cx="3108960" cy="329184"/>
          </a:xfrm>
          <a:prstGeom prst="rect">
            <a:avLst/>
          </a:prstGeom>
          <a:noFill/>
          <a:ln/>
        </p:spPr>
        <p:txBody>
          <a:bodyPr wrap="square" lIns="0" tIns="0" rIns="0" bIns="0" rtlCol="0" anchor="ctr"/>
          <a:lstStyle/>
          <a:p>
            <a:pPr indent="0" marL="0">
              <a:buNone/>
            </a:pPr>
            <a:r>
              <a:rPr lang="en-US" sz="1100" dirty="0">
                <a:solidFill>
                  <a:srgbClr val="B8B0A0"/>
                </a:solidFill>
                <a:latin typeface="Yu Gothic" pitchFamily="34" charset="0"/>
                <a:ea typeface="Yu Gothic" pitchFamily="34" charset="-122"/>
                <a:cs typeface="Yu Gothic" pitchFamily="34" charset="-120"/>
              </a:rPr>
              <a:t>IT導入補助金 </a:t>
            </a:r>
            <a:pPr indent="0" marL="0">
              <a:buNone/>
            </a:pPr>
            <a:r>
              <a:rPr lang="en-US" sz="1350" b="1" dirty="0">
                <a:solidFill>
                  <a:srgbClr val="FFC62E"/>
                </a:solidFill>
                <a:latin typeface="Yu Gothic" pitchFamily="34" charset="0"/>
                <a:ea typeface="Yu Gothic" pitchFamily="34" charset="-122"/>
                <a:cs typeface="Yu Gothic" pitchFamily="34" charset="-120"/>
              </a:rPr>
              <a:t>−350万円</a:t>
            </a:r>
            <a:endParaRPr lang="en-US" sz="1100" dirty="0"/>
          </a:p>
        </p:txBody>
      </p:sp>
      <p:sp>
        <p:nvSpPr>
          <p:cNvPr id="32" name="Shape 30"/>
          <p:cNvSpPr/>
          <p:nvPr/>
        </p:nvSpPr>
        <p:spPr>
          <a:xfrm>
            <a:off x="8339328" y="3108960"/>
            <a:ext cx="3108960" cy="0"/>
          </a:xfrm>
          <a:prstGeom prst="line">
            <a:avLst/>
          </a:prstGeom>
          <a:noFill/>
          <a:ln w="12700">
            <a:solidFill>
              <a:srgbClr val="4A4438"/>
            </a:solidFill>
            <a:prstDash val="solid"/>
          </a:ln>
        </p:spPr>
      </p:sp>
      <p:sp>
        <p:nvSpPr>
          <p:cNvPr id="33" name="Text 31"/>
          <p:cNvSpPr txBox="1"/>
          <p:nvPr/>
        </p:nvSpPr>
        <p:spPr>
          <a:xfrm>
            <a:off x="8339328" y="3218688"/>
            <a:ext cx="3017520" cy="274320"/>
          </a:xfrm>
          <a:prstGeom prst="rect">
            <a:avLst/>
          </a:prstGeom>
          <a:noFill/>
          <a:ln/>
        </p:spPr>
        <p:txBody>
          <a:bodyPr wrap="square" lIns="0" tIns="0" rIns="0" bIns="0" rtlCol="0" anchor="ctr"/>
          <a:lstStyle/>
          <a:p>
            <a:pPr indent="0" marL="0">
              <a:buNone/>
            </a:pPr>
            <a:r>
              <a:rPr lang="en-US" sz="1100" b="1" dirty="0">
                <a:solidFill>
                  <a:srgbClr val="B8B0A0"/>
                </a:solidFill>
                <a:latin typeface="Yu Gothic" pitchFamily="34" charset="0"/>
                <a:ea typeface="Yu Gothic" pitchFamily="34" charset="-122"/>
                <a:cs typeface="Yu Gothic" pitchFamily="34" charset="-120"/>
              </a:rPr>
              <a:t>実質ご負担</a:t>
            </a:r>
            <a:endParaRPr lang="en-US" sz="1100" dirty="0"/>
          </a:p>
        </p:txBody>
      </p:sp>
      <p:sp>
        <p:nvSpPr>
          <p:cNvPr id="34" name="Text 32"/>
          <p:cNvSpPr txBox="1"/>
          <p:nvPr/>
        </p:nvSpPr>
        <p:spPr>
          <a:xfrm>
            <a:off x="8339328" y="3474720"/>
            <a:ext cx="3108960" cy="822960"/>
          </a:xfrm>
          <a:prstGeom prst="rect">
            <a:avLst/>
          </a:prstGeom>
          <a:noFill/>
          <a:ln/>
        </p:spPr>
        <p:txBody>
          <a:bodyPr wrap="square" lIns="0" tIns="0" rIns="0" bIns="0" rtlCol="0" anchor="ctr"/>
          <a:lstStyle/>
          <a:p>
            <a:pPr indent="0" marL="0">
              <a:buNone/>
            </a:pPr>
            <a:r>
              <a:rPr lang="en-US" sz="4200" dirty="0">
                <a:solidFill>
                  <a:srgbClr val="FFC62E"/>
                </a:solidFill>
                <a:latin typeface="Arial Black" pitchFamily="34" charset="0"/>
                <a:ea typeface="Arial Black" pitchFamily="34" charset="-122"/>
                <a:cs typeface="Arial Black" pitchFamily="34" charset="-120"/>
              </a:rPr>
              <a:t>200</a:t>
            </a:r>
            <a:pPr indent="0" marL="0">
              <a:buNone/>
            </a:pPr>
            <a:r>
              <a:rPr lang="en-US" sz="1500" b="1" dirty="0">
                <a:solidFill>
                  <a:srgbClr val="FFFFFF"/>
                </a:solidFill>
                <a:latin typeface="Yu Gothic" pitchFamily="34" charset="0"/>
                <a:ea typeface="Yu Gothic" pitchFamily="34" charset="-122"/>
                <a:cs typeface="Yu Gothic" pitchFamily="34" charset="-120"/>
              </a:rPr>
              <a:t> 万円</a:t>
            </a:r>
            <a:endParaRPr lang="en-US" sz="4200" dirty="0"/>
          </a:p>
        </p:txBody>
      </p:sp>
      <p:sp>
        <p:nvSpPr>
          <p:cNvPr id="35" name="Text 33"/>
          <p:cNvSpPr txBox="1"/>
          <p:nvPr/>
        </p:nvSpPr>
        <p:spPr>
          <a:xfrm>
            <a:off x="8339328" y="4343400"/>
            <a:ext cx="3108960" cy="329184"/>
          </a:xfrm>
          <a:prstGeom prst="rect">
            <a:avLst/>
          </a:prstGeom>
          <a:noFill/>
          <a:ln/>
        </p:spPr>
        <p:txBody>
          <a:bodyPr wrap="square" lIns="0" tIns="0" rIns="0" bIns="0" rtlCol="0" anchor="ctr"/>
          <a:lstStyle/>
          <a:p>
            <a:pPr indent="0" marL="0">
              <a:buNone/>
            </a:pPr>
            <a:r>
              <a:rPr lang="en-US" sz="1100" dirty="0">
                <a:solidFill>
                  <a:srgbClr val="B8B0A0"/>
                </a:solidFill>
                <a:latin typeface="Yu Gothic" pitchFamily="34" charset="0"/>
                <a:ea typeface="Yu Gothic" pitchFamily="34" charset="-122"/>
                <a:cs typeface="Yu Gothic" pitchFamily="34" charset="-120"/>
              </a:rPr>
              <a:t>月あたり </a:t>
            </a:r>
            <a:pPr indent="0" marL="0">
              <a:buNone/>
            </a:pPr>
            <a:r>
              <a:rPr lang="en-US" sz="1350" b="1" dirty="0">
                <a:solidFill>
                  <a:srgbClr val="FFFFFF"/>
                </a:solidFill>
                <a:latin typeface="Yu Gothic" pitchFamily="34" charset="0"/>
                <a:ea typeface="Yu Gothic" pitchFamily="34" charset="-122"/>
                <a:cs typeface="Yu Gothic" pitchFamily="34" charset="-120"/>
              </a:rPr>
              <a:t>約8.3万円</a:t>
            </a:r>
            <a:endParaRPr lang="en-US" sz="1100" dirty="0"/>
          </a:p>
        </p:txBody>
      </p:sp>
      <p:sp>
        <p:nvSpPr>
          <p:cNvPr id="36" name="Shape 34"/>
          <p:cNvSpPr/>
          <p:nvPr/>
        </p:nvSpPr>
        <p:spPr>
          <a:xfrm>
            <a:off x="8339328" y="4718304"/>
            <a:ext cx="3200400" cy="329184"/>
          </a:xfrm>
          <a:prstGeom prst="rect">
            <a:avLst/>
          </a:prstGeom>
          <a:solidFill>
            <a:srgbClr val="FFC62E"/>
          </a:solidFill>
          <a:ln/>
        </p:spPr>
      </p:sp>
      <p:sp>
        <p:nvSpPr>
          <p:cNvPr id="37" name="Text 35"/>
          <p:cNvSpPr txBox="1"/>
          <p:nvPr/>
        </p:nvSpPr>
        <p:spPr>
          <a:xfrm>
            <a:off x="8449056" y="4773168"/>
            <a:ext cx="3063240" cy="237744"/>
          </a:xfrm>
          <a:prstGeom prst="rect">
            <a:avLst/>
          </a:prstGeom>
          <a:noFill/>
          <a:ln/>
        </p:spPr>
        <p:txBody>
          <a:bodyPr wrap="square" lIns="0" tIns="0" rIns="0" bIns="0" rtlCol="0" anchor="ctr"/>
          <a:lstStyle/>
          <a:p>
            <a:pPr indent="0" marL="0">
              <a:buNone/>
            </a:pPr>
            <a:r>
              <a:rPr lang="en-US" sz="1050" b="1" dirty="0">
                <a:solidFill>
                  <a:srgbClr val="141210"/>
                </a:solidFill>
                <a:latin typeface="Yu Gothic" pitchFamily="34" charset="0"/>
                <a:ea typeface="Yu Gothic" pitchFamily="34" charset="-122"/>
                <a:cs typeface="Yu Gothic" pitchFamily="34" charset="-120"/>
              </a:rPr>
              <a:t>TikTokショート MAX 480本／2年</a:t>
            </a:r>
            <a:endParaRPr lang="en-US" sz="1050" dirty="0"/>
          </a:p>
        </p:txBody>
      </p:sp>
      <p:sp>
        <p:nvSpPr>
          <p:cNvPr id="38" name="Text 36"/>
          <p:cNvSpPr txBox="1"/>
          <p:nvPr/>
        </p:nvSpPr>
        <p:spPr>
          <a:xfrm>
            <a:off x="8339328" y="5138928"/>
            <a:ext cx="3154680" cy="685800"/>
          </a:xfrm>
          <a:prstGeom prst="rect">
            <a:avLst/>
          </a:prstGeom>
          <a:noFill/>
          <a:ln/>
        </p:spPr>
        <p:txBody>
          <a:bodyPr wrap="square" lIns="0" tIns="0" rIns="0" bIns="0" rtlCol="0" anchor="ctr"/>
          <a:lstStyle/>
          <a:p>
            <a:pPr indent="0" marL="0">
              <a:lnSpc>
                <a:spcPts val="1250"/>
              </a:lnSpc>
              <a:buNone/>
            </a:pPr>
            <a:r>
              <a:rPr lang="en-US" sz="850" dirty="0">
                <a:solidFill>
                  <a:srgbClr val="B8B0A0"/>
                </a:solidFill>
                <a:latin typeface="Yu Gothic" pitchFamily="34" charset="0"/>
                <a:ea typeface="Yu Gothic" pitchFamily="34" charset="-122"/>
                <a:cs typeface="Yu Gothic" pitchFamily="34" charset="-120"/>
              </a:rPr>
              <a:t>初期70万円＋月20万円×24ヶ月</a:t>
            </a:r>
            <a:endParaRPr lang="en-US" sz="850" dirty="0"/>
          </a:p>
          <a:p>
            <a:pPr indent="0" marL="0">
              <a:lnSpc>
                <a:spcPts val="1250"/>
              </a:lnSpc>
              <a:buNone/>
            </a:pPr>
            <a:r>
              <a:rPr lang="en-US" sz="850" dirty="0">
                <a:solidFill>
                  <a:srgbClr val="B8B0A0"/>
                </a:solidFill>
                <a:latin typeface="Yu Gothic" pitchFamily="34" charset="0"/>
                <a:ea typeface="Yu Gothic" pitchFamily="34" charset="-122"/>
                <a:cs typeface="Yu Gothic" pitchFamily="34" charset="-120"/>
              </a:rPr>
              <a:t>補助上限350万円を満額活用＋オプション全部入り</a:t>
            </a:r>
            <a:endParaRPr lang="en-US" sz="850" dirty="0"/>
          </a:p>
        </p:txBody>
      </p:sp>
      <p:sp>
        <p:nvSpPr>
          <p:cNvPr id="39" name="Text 37"/>
          <p:cNvSpPr txBox="1"/>
          <p:nvPr/>
        </p:nvSpPr>
        <p:spPr>
          <a:xfrm>
            <a:off x="548640" y="5870448"/>
            <a:ext cx="11064240" cy="320040"/>
          </a:xfrm>
          <a:prstGeom prst="rect">
            <a:avLst/>
          </a:prstGeom>
          <a:noFill/>
          <a:ln/>
        </p:spPr>
        <p:txBody>
          <a:bodyPr wrap="square" lIns="0" tIns="0" rIns="0" bIns="0" rtlCol="0" anchor="ctr"/>
          <a:lstStyle/>
          <a:p>
            <a:pPr indent="0" marL="0">
              <a:buNone/>
            </a:pPr>
            <a:r>
              <a:rPr lang="en-US" sz="1150" b="1" dirty="0">
                <a:solidFill>
                  <a:srgbClr val="141210"/>
                </a:solidFill>
                <a:latin typeface="Yu Gothic" pitchFamily="34" charset="0"/>
                <a:ea typeface="Yu Gothic" pitchFamily="34" charset="-122"/>
                <a:cs typeface="Yu Gothic" pitchFamily="34" charset="-120"/>
              </a:rPr>
              <a:t>補助金プランは24ヶ月分を前金でご契約。スタンダードとプレミアムの実質差は月1万円弱 — だから「全部入り」のプレミアムがおすすめです。</a:t>
            </a:r>
            <a:endParaRPr lang="en-US" sz="1150" dirty="0"/>
          </a:p>
        </p:txBody>
      </p:sp>
      <p:sp>
        <p:nvSpPr>
          <p:cNvPr id="40" name="Text 38"/>
          <p:cNvSpPr txBox="1"/>
          <p:nvPr/>
        </p:nvSpPr>
        <p:spPr>
          <a:xfrm>
            <a:off x="548640" y="6144768"/>
            <a:ext cx="11064240" cy="310896"/>
          </a:xfrm>
          <a:prstGeom prst="rect">
            <a:avLst/>
          </a:prstGeom>
          <a:noFill/>
          <a:ln/>
        </p:spPr>
        <p:txBody>
          <a:bodyPr wrap="square" lIns="0" tIns="0" rIns="0" bIns="0" rtlCol="0" anchor="ctr"/>
          <a:lstStyle/>
          <a:p>
            <a:pPr indent="0" marL="0">
              <a:lnSpc>
                <a:spcPts val="1100"/>
              </a:lnSpc>
              <a:buNone/>
            </a:pPr>
            <a:r>
              <a:rPr lang="en-US" sz="800" dirty="0">
                <a:solidFill>
                  <a:srgbClr val="5F594E"/>
                </a:solidFill>
                <a:latin typeface="Yu Gothic" pitchFamily="34" charset="0"/>
                <a:ea typeface="Yu Gothic" pitchFamily="34" charset="-122"/>
                <a:cs typeface="Yu Gothic" pitchFamily="34" charset="-120"/>
              </a:rPr>
              <a:t>※補助金額は概算（補助率2/3・上限350万円・万円未満切り捨て）。採択・交付額は審査により変動、ハニー分（月1万円）は対象外。補助金は交付決定・実績報告の後に入金されるため、それまでは契約総額のお立て替えが必要です。</a:t>
            </a:r>
            <a:endParaRPr lang="en-US" sz="800" dirty="0"/>
          </a:p>
        </p:txBody>
      </p:sp>
      <p:sp>
        <p:nvSpPr>
          <p:cNvPr id="41" name="Shape 39"/>
          <p:cNvSpPr/>
          <p:nvPr/>
        </p:nvSpPr>
        <p:spPr>
          <a:xfrm>
            <a:off x="548640" y="6455664"/>
            <a:ext cx="11091672" cy="0"/>
          </a:xfrm>
          <a:prstGeom prst="line">
            <a:avLst/>
          </a:prstGeom>
          <a:noFill/>
          <a:ln w="12700">
            <a:solidFill>
              <a:srgbClr val="E2DCCE"/>
            </a:solidFill>
            <a:prstDash val="solid"/>
          </a:ln>
        </p:spPr>
      </p:sp>
      <p:sp>
        <p:nvSpPr>
          <p:cNvPr id="42" name="Text 40"/>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43" name="Text 41"/>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ect">
            <a:avLst/>
          </a:prstGeom>
          <a:solidFill>
            <a:srgbClr val="FFC62E"/>
          </a:solidFill>
          <a:ln/>
        </p:spPr>
      </p:sp>
      <p:sp>
        <p:nvSpPr>
          <p:cNvPr id="3" name="Text 1"/>
          <p:cNvSpPr txBox="1"/>
          <p:nvPr/>
        </p:nvSpPr>
        <p:spPr>
          <a:xfrm>
            <a:off x="841248" y="301752"/>
            <a:ext cx="9144000" cy="320040"/>
          </a:xfrm>
          <a:prstGeom prst="rect">
            <a:avLst/>
          </a:prstGeom>
          <a:noFill/>
          <a:ln/>
        </p:spPr>
        <p:txBody>
          <a:bodyPr wrap="square" lIns="0" tIns="0" rIns="0" bIns="0" rtlCol="0" anchor="ctr"/>
          <a:lstStyle/>
          <a:p>
            <a:pPr indent="0" marL="0">
              <a:buNone/>
            </a:pPr>
            <a:r>
              <a:rPr lang="en-US" sz="1200" b="1" dirty="0">
                <a:solidFill>
                  <a:srgbClr val="141210"/>
                </a:solidFill>
                <a:latin typeface="Arial" pitchFamily="34" charset="0"/>
                <a:ea typeface="Arial" pitchFamily="34" charset="-122"/>
                <a:cs typeface="Arial" pitchFamily="34" charset="-120"/>
              </a:rPr>
              <a:t>12 / </a:t>
            </a:r>
            <a:pPr indent="0" marL="0">
              <a:buNone/>
            </a:pPr>
            <a:r>
              <a:rPr lang="en-US" sz="1200" b="1" spc="300" kern="0" dirty="0">
                <a:solidFill>
                  <a:srgbClr val="B8860B"/>
                </a:solidFill>
                <a:latin typeface="Arial" pitchFamily="34" charset="0"/>
                <a:ea typeface="Arial" pitchFamily="34" charset="-122"/>
                <a:cs typeface="Arial" pitchFamily="34" charset="-120"/>
              </a:rPr>
              <a:t>ONBOARDING</a:t>
            </a:r>
            <a:endParaRPr lang="en-US" sz="1200" dirty="0"/>
          </a:p>
        </p:txBody>
      </p:sp>
      <p:sp>
        <p:nvSpPr>
          <p:cNvPr id="4" name="Text 2"/>
          <p:cNvSpPr txBox="1"/>
          <p:nvPr/>
        </p:nvSpPr>
        <p:spPr>
          <a:xfrm>
            <a:off x="548640" y="658368"/>
            <a:ext cx="11064240" cy="640080"/>
          </a:xfrm>
          <a:prstGeom prst="rect">
            <a:avLst/>
          </a:prstGeom>
          <a:noFill/>
          <a:ln/>
        </p:spPr>
        <p:txBody>
          <a:bodyPr wrap="square" lIns="0" tIns="0" rIns="0" bIns="0" rtlCol="0" anchor="ctr"/>
          <a:lstStyle/>
          <a:p>
            <a:pPr indent="0" marL="0">
              <a:buNone/>
            </a:pPr>
            <a:r>
              <a:rPr lang="en-US" sz="2600" b="1" dirty="0">
                <a:solidFill>
                  <a:srgbClr val="141210"/>
                </a:solidFill>
                <a:latin typeface="Yu Gothic" pitchFamily="34" charset="0"/>
                <a:ea typeface="Yu Gothic" pitchFamily="34" charset="-122"/>
                <a:cs typeface="Yu Gothic" pitchFamily="34" charset="-120"/>
              </a:rPr>
              <a:t>ご契約は「採択後」。だから、リスクはありません。</a:t>
            </a:r>
            <a:endParaRPr lang="en-US" sz="2600" dirty="0"/>
          </a:p>
        </p:txBody>
      </p:sp>
      <p:sp>
        <p:nvSpPr>
          <p:cNvPr id="5" name="Shape 3"/>
          <p:cNvSpPr/>
          <p:nvPr/>
        </p:nvSpPr>
        <p:spPr>
          <a:xfrm>
            <a:off x="548640" y="1389888"/>
            <a:ext cx="11091672" cy="0"/>
          </a:xfrm>
          <a:prstGeom prst="line">
            <a:avLst/>
          </a:prstGeom>
          <a:noFill/>
          <a:ln w="25400">
            <a:solidFill>
              <a:srgbClr val="141210"/>
            </a:solidFill>
            <a:prstDash val="solid"/>
          </a:ln>
        </p:spPr>
      </p:sp>
      <p:sp>
        <p:nvSpPr>
          <p:cNvPr id="6" name="Text 4"/>
          <p:cNvSpPr txBox="1"/>
          <p:nvPr/>
        </p:nvSpPr>
        <p:spPr>
          <a:xfrm>
            <a:off x="548640" y="1828800"/>
            <a:ext cx="1463040" cy="731520"/>
          </a:xfrm>
          <a:prstGeom prst="rect">
            <a:avLst/>
          </a:prstGeom>
          <a:noFill/>
          <a:ln/>
        </p:spPr>
        <p:txBody>
          <a:bodyPr wrap="square" lIns="0" tIns="0" rIns="0" bIns="0" rtlCol="0" anchor="ctr"/>
          <a:lstStyle/>
          <a:p>
            <a:pPr indent="0" marL="0">
              <a:buNone/>
            </a:pPr>
            <a:r>
              <a:rPr lang="en-US" sz="3600" dirty="0">
                <a:solidFill>
                  <a:srgbClr val="E2DCCE"/>
                </a:solidFill>
                <a:latin typeface="Arial Black" pitchFamily="34" charset="0"/>
                <a:ea typeface="Arial Black" pitchFamily="34" charset="-122"/>
                <a:cs typeface="Arial Black" pitchFamily="34" charset="-120"/>
              </a:rPr>
              <a:t>01</a:t>
            </a:r>
            <a:endParaRPr lang="en-US" sz="3600" dirty="0"/>
          </a:p>
        </p:txBody>
      </p:sp>
      <p:sp>
        <p:nvSpPr>
          <p:cNvPr id="7" name="Shape 5"/>
          <p:cNvSpPr/>
          <p:nvPr/>
        </p:nvSpPr>
        <p:spPr>
          <a:xfrm>
            <a:off x="548640" y="2697480"/>
            <a:ext cx="329184" cy="82296"/>
          </a:xfrm>
          <a:prstGeom prst="rect">
            <a:avLst/>
          </a:prstGeom>
          <a:solidFill>
            <a:srgbClr val="FFC62E"/>
          </a:solidFill>
          <a:ln/>
        </p:spPr>
      </p:sp>
      <p:sp>
        <p:nvSpPr>
          <p:cNvPr id="8" name="Text 6"/>
          <p:cNvSpPr txBox="1"/>
          <p:nvPr/>
        </p:nvSpPr>
        <p:spPr>
          <a:xfrm>
            <a:off x="548640" y="2852928"/>
            <a:ext cx="2103120" cy="365760"/>
          </a:xfrm>
          <a:prstGeom prst="rect">
            <a:avLst/>
          </a:prstGeom>
          <a:noFill/>
          <a:ln/>
        </p:spPr>
        <p:txBody>
          <a:bodyPr wrap="square" lIns="0" tIns="0" rIns="0" bIns="0" rtlCol="0" anchor="ctr"/>
          <a:lstStyle/>
          <a:p>
            <a:pPr indent="0" marL="0">
              <a:buNone/>
            </a:pPr>
            <a:r>
              <a:rPr lang="en-US" sz="1350" b="1" dirty="0">
                <a:solidFill>
                  <a:srgbClr val="141210"/>
                </a:solidFill>
                <a:latin typeface="Yu Gothic" pitchFamily="34" charset="0"/>
                <a:ea typeface="Yu Gothic" pitchFamily="34" charset="-122"/>
                <a:cs typeface="Yu Gothic" pitchFamily="34" charset="-120"/>
              </a:rPr>
              <a:t>お打ち合わせ</a:t>
            </a:r>
            <a:endParaRPr lang="en-US" sz="1350" dirty="0"/>
          </a:p>
        </p:txBody>
      </p:sp>
      <p:sp>
        <p:nvSpPr>
          <p:cNvPr id="9" name="Text 7"/>
          <p:cNvSpPr txBox="1"/>
          <p:nvPr/>
        </p:nvSpPr>
        <p:spPr>
          <a:xfrm>
            <a:off x="548640" y="3246120"/>
            <a:ext cx="2011680" cy="1188720"/>
          </a:xfrm>
          <a:prstGeom prst="rect">
            <a:avLst/>
          </a:prstGeom>
          <a:noFill/>
          <a:ln/>
        </p:spPr>
        <p:txBody>
          <a:bodyPr wrap="square" lIns="0" tIns="0" rIns="0" bIns="0" rtlCol="0" anchor="ctr"/>
          <a:lstStyle/>
          <a:p>
            <a:pPr indent="0" marL="0">
              <a:lnSpc>
                <a:spcPts val="1500"/>
              </a:lnSpc>
              <a:buNone/>
            </a:pPr>
            <a:r>
              <a:rPr lang="en-US" sz="1000" dirty="0">
                <a:solidFill>
                  <a:srgbClr val="5F594E"/>
                </a:solidFill>
                <a:latin typeface="Yu Gothic" pitchFamily="34" charset="0"/>
                <a:ea typeface="Yu Gothic" pitchFamily="34" charset="-122"/>
                <a:cs typeface="Yu Gothic" pitchFamily="34" charset="-120"/>
              </a:rPr>
              <a:t>課題とゴールのヒアリング。プランのご提案</a:t>
            </a:r>
            <a:endParaRPr lang="en-US" sz="1000" dirty="0"/>
          </a:p>
        </p:txBody>
      </p:sp>
      <p:sp>
        <p:nvSpPr>
          <p:cNvPr id="10" name="Text 8"/>
          <p:cNvSpPr txBox="1"/>
          <p:nvPr/>
        </p:nvSpPr>
        <p:spPr>
          <a:xfrm>
            <a:off x="2834640" y="1828800"/>
            <a:ext cx="1463040" cy="731520"/>
          </a:xfrm>
          <a:prstGeom prst="rect">
            <a:avLst/>
          </a:prstGeom>
          <a:noFill/>
          <a:ln/>
        </p:spPr>
        <p:txBody>
          <a:bodyPr wrap="square" lIns="0" tIns="0" rIns="0" bIns="0" rtlCol="0" anchor="ctr"/>
          <a:lstStyle/>
          <a:p>
            <a:pPr indent="0" marL="0">
              <a:buNone/>
            </a:pPr>
            <a:r>
              <a:rPr lang="en-US" sz="3600" dirty="0">
                <a:solidFill>
                  <a:srgbClr val="E2DCCE"/>
                </a:solidFill>
                <a:latin typeface="Arial Black" pitchFamily="34" charset="0"/>
                <a:ea typeface="Arial Black" pitchFamily="34" charset="-122"/>
                <a:cs typeface="Arial Black" pitchFamily="34" charset="-120"/>
              </a:rPr>
              <a:t>02</a:t>
            </a:r>
            <a:endParaRPr lang="en-US" sz="3600" dirty="0"/>
          </a:p>
        </p:txBody>
      </p:sp>
      <p:sp>
        <p:nvSpPr>
          <p:cNvPr id="11" name="Shape 9"/>
          <p:cNvSpPr/>
          <p:nvPr/>
        </p:nvSpPr>
        <p:spPr>
          <a:xfrm>
            <a:off x="2834640" y="2697480"/>
            <a:ext cx="329184" cy="82296"/>
          </a:xfrm>
          <a:prstGeom prst="rect">
            <a:avLst/>
          </a:prstGeom>
          <a:solidFill>
            <a:srgbClr val="FFC62E"/>
          </a:solidFill>
          <a:ln/>
        </p:spPr>
      </p:sp>
      <p:sp>
        <p:nvSpPr>
          <p:cNvPr id="12" name="Text 10"/>
          <p:cNvSpPr txBox="1"/>
          <p:nvPr/>
        </p:nvSpPr>
        <p:spPr>
          <a:xfrm>
            <a:off x="2834640" y="2852928"/>
            <a:ext cx="2103120" cy="365760"/>
          </a:xfrm>
          <a:prstGeom prst="rect">
            <a:avLst/>
          </a:prstGeom>
          <a:noFill/>
          <a:ln/>
        </p:spPr>
        <p:txBody>
          <a:bodyPr wrap="square" lIns="0" tIns="0" rIns="0" bIns="0" rtlCol="0" anchor="ctr"/>
          <a:lstStyle/>
          <a:p>
            <a:pPr indent="0" marL="0">
              <a:buNone/>
            </a:pPr>
            <a:r>
              <a:rPr lang="en-US" sz="1350" b="1" dirty="0">
                <a:solidFill>
                  <a:srgbClr val="141210"/>
                </a:solidFill>
                <a:latin typeface="Yu Gothic" pitchFamily="34" charset="0"/>
                <a:ea typeface="Yu Gothic" pitchFamily="34" charset="-122"/>
                <a:cs typeface="Yu Gothic" pitchFamily="34" charset="-120"/>
              </a:rPr>
              <a:t>補助金の申請</a:t>
            </a:r>
            <a:endParaRPr lang="en-US" sz="1350" dirty="0"/>
          </a:p>
        </p:txBody>
      </p:sp>
      <p:sp>
        <p:nvSpPr>
          <p:cNvPr id="13" name="Text 11"/>
          <p:cNvSpPr txBox="1"/>
          <p:nvPr/>
        </p:nvSpPr>
        <p:spPr>
          <a:xfrm>
            <a:off x="2834640" y="3246120"/>
            <a:ext cx="2011680" cy="1188720"/>
          </a:xfrm>
          <a:prstGeom prst="rect">
            <a:avLst/>
          </a:prstGeom>
          <a:noFill/>
          <a:ln/>
        </p:spPr>
        <p:txBody>
          <a:bodyPr wrap="square" lIns="0" tIns="0" rIns="0" bIns="0" rtlCol="0" anchor="ctr"/>
          <a:lstStyle/>
          <a:p>
            <a:pPr indent="0" marL="0">
              <a:lnSpc>
                <a:spcPts val="1500"/>
              </a:lnSpc>
              <a:buNone/>
            </a:pPr>
            <a:r>
              <a:rPr lang="en-US" sz="1000" dirty="0">
                <a:solidFill>
                  <a:srgbClr val="5F594E"/>
                </a:solidFill>
                <a:latin typeface="Yu Gothic" pitchFamily="34" charset="0"/>
                <a:ea typeface="Yu Gothic" pitchFamily="34" charset="-122"/>
                <a:cs typeface="Yu Gothic" pitchFamily="34" charset="-120"/>
              </a:rPr>
              <a:t>申請書類づくりは当社が伴走。あとは採択を待つだけ</a:t>
            </a:r>
            <a:endParaRPr lang="en-US" sz="1000" dirty="0"/>
          </a:p>
        </p:txBody>
      </p:sp>
      <p:sp>
        <p:nvSpPr>
          <p:cNvPr id="14" name="Text 12"/>
          <p:cNvSpPr txBox="1"/>
          <p:nvPr/>
        </p:nvSpPr>
        <p:spPr>
          <a:xfrm>
            <a:off x="5120640" y="1828800"/>
            <a:ext cx="1463040" cy="731520"/>
          </a:xfrm>
          <a:prstGeom prst="rect">
            <a:avLst/>
          </a:prstGeom>
          <a:noFill/>
          <a:ln/>
        </p:spPr>
        <p:txBody>
          <a:bodyPr wrap="square" lIns="0" tIns="0" rIns="0" bIns="0" rtlCol="0" anchor="ctr"/>
          <a:lstStyle/>
          <a:p>
            <a:pPr indent="0" marL="0">
              <a:buNone/>
            </a:pPr>
            <a:r>
              <a:rPr lang="en-US" sz="3600" dirty="0">
                <a:solidFill>
                  <a:srgbClr val="E2DCCE"/>
                </a:solidFill>
                <a:latin typeface="Arial Black" pitchFamily="34" charset="0"/>
                <a:ea typeface="Arial Black" pitchFamily="34" charset="-122"/>
                <a:cs typeface="Arial Black" pitchFamily="34" charset="-120"/>
              </a:rPr>
              <a:t>03</a:t>
            </a:r>
            <a:endParaRPr lang="en-US" sz="3600" dirty="0"/>
          </a:p>
        </p:txBody>
      </p:sp>
      <p:sp>
        <p:nvSpPr>
          <p:cNvPr id="15" name="Shape 13"/>
          <p:cNvSpPr/>
          <p:nvPr/>
        </p:nvSpPr>
        <p:spPr>
          <a:xfrm>
            <a:off x="5120640" y="2697480"/>
            <a:ext cx="329184" cy="82296"/>
          </a:xfrm>
          <a:prstGeom prst="rect">
            <a:avLst/>
          </a:prstGeom>
          <a:solidFill>
            <a:srgbClr val="FFC62E"/>
          </a:solidFill>
          <a:ln/>
        </p:spPr>
      </p:sp>
      <p:sp>
        <p:nvSpPr>
          <p:cNvPr id="16" name="Text 14"/>
          <p:cNvSpPr txBox="1"/>
          <p:nvPr/>
        </p:nvSpPr>
        <p:spPr>
          <a:xfrm>
            <a:off x="5120640" y="2852928"/>
            <a:ext cx="2103120" cy="365760"/>
          </a:xfrm>
          <a:prstGeom prst="rect">
            <a:avLst/>
          </a:prstGeom>
          <a:noFill/>
          <a:ln/>
        </p:spPr>
        <p:txBody>
          <a:bodyPr wrap="square" lIns="0" tIns="0" rIns="0" bIns="0" rtlCol="0" anchor="ctr"/>
          <a:lstStyle/>
          <a:p>
            <a:pPr indent="0" marL="0">
              <a:buNone/>
            </a:pPr>
            <a:r>
              <a:rPr lang="en-US" sz="1350" b="1" dirty="0">
                <a:solidFill>
                  <a:srgbClr val="141210"/>
                </a:solidFill>
                <a:latin typeface="Yu Gothic" pitchFamily="34" charset="0"/>
                <a:ea typeface="Yu Gothic" pitchFamily="34" charset="-122"/>
                <a:cs typeface="Yu Gothic" pitchFamily="34" charset="-120"/>
              </a:rPr>
              <a:t>採択決定＝ご契約</a:t>
            </a:r>
            <a:endParaRPr lang="en-US" sz="1350" dirty="0"/>
          </a:p>
        </p:txBody>
      </p:sp>
      <p:sp>
        <p:nvSpPr>
          <p:cNvPr id="17" name="Text 15"/>
          <p:cNvSpPr txBox="1"/>
          <p:nvPr/>
        </p:nvSpPr>
        <p:spPr>
          <a:xfrm>
            <a:off x="5120640" y="3246120"/>
            <a:ext cx="2011680" cy="1188720"/>
          </a:xfrm>
          <a:prstGeom prst="rect">
            <a:avLst/>
          </a:prstGeom>
          <a:noFill/>
          <a:ln/>
        </p:spPr>
        <p:txBody>
          <a:bodyPr wrap="square" lIns="0" tIns="0" rIns="0" bIns="0" rtlCol="0" anchor="ctr"/>
          <a:lstStyle/>
          <a:p>
            <a:pPr indent="0" marL="0">
              <a:lnSpc>
                <a:spcPts val="1500"/>
              </a:lnSpc>
              <a:buNone/>
            </a:pPr>
            <a:r>
              <a:rPr lang="en-US" sz="1000" dirty="0">
                <a:solidFill>
                  <a:srgbClr val="5F594E"/>
                </a:solidFill>
                <a:latin typeface="Yu Gothic" pitchFamily="34" charset="0"/>
                <a:ea typeface="Yu Gothic" pitchFamily="34" charset="-122"/>
                <a:cs typeface="Yu Gothic" pitchFamily="34" charset="-120"/>
              </a:rPr>
              <a:t>採択が下りてはじめてご契約。アカウント発行・初期設定</a:t>
            </a:r>
            <a:endParaRPr lang="en-US" sz="1000" dirty="0"/>
          </a:p>
        </p:txBody>
      </p:sp>
      <p:sp>
        <p:nvSpPr>
          <p:cNvPr id="18" name="Text 16"/>
          <p:cNvSpPr txBox="1"/>
          <p:nvPr/>
        </p:nvSpPr>
        <p:spPr>
          <a:xfrm>
            <a:off x="7406640" y="1828800"/>
            <a:ext cx="1463040" cy="731520"/>
          </a:xfrm>
          <a:prstGeom prst="rect">
            <a:avLst/>
          </a:prstGeom>
          <a:noFill/>
          <a:ln/>
        </p:spPr>
        <p:txBody>
          <a:bodyPr wrap="square" lIns="0" tIns="0" rIns="0" bIns="0" rtlCol="0" anchor="ctr"/>
          <a:lstStyle/>
          <a:p>
            <a:pPr indent="0" marL="0">
              <a:buNone/>
            </a:pPr>
            <a:r>
              <a:rPr lang="en-US" sz="3600" dirty="0">
                <a:solidFill>
                  <a:srgbClr val="E2DCCE"/>
                </a:solidFill>
                <a:latin typeface="Arial Black" pitchFamily="34" charset="0"/>
                <a:ea typeface="Arial Black" pitchFamily="34" charset="-122"/>
                <a:cs typeface="Arial Black" pitchFamily="34" charset="-120"/>
              </a:rPr>
              <a:t>04</a:t>
            </a:r>
            <a:endParaRPr lang="en-US" sz="3600" dirty="0"/>
          </a:p>
        </p:txBody>
      </p:sp>
      <p:sp>
        <p:nvSpPr>
          <p:cNvPr id="19" name="Shape 17"/>
          <p:cNvSpPr/>
          <p:nvPr/>
        </p:nvSpPr>
        <p:spPr>
          <a:xfrm>
            <a:off x="7406640" y="2697480"/>
            <a:ext cx="329184" cy="82296"/>
          </a:xfrm>
          <a:prstGeom prst="rect">
            <a:avLst/>
          </a:prstGeom>
          <a:solidFill>
            <a:srgbClr val="FFC62E"/>
          </a:solidFill>
          <a:ln/>
        </p:spPr>
      </p:sp>
      <p:sp>
        <p:nvSpPr>
          <p:cNvPr id="20" name="Text 18"/>
          <p:cNvSpPr txBox="1"/>
          <p:nvPr/>
        </p:nvSpPr>
        <p:spPr>
          <a:xfrm>
            <a:off x="7406640" y="2852928"/>
            <a:ext cx="2103120" cy="365760"/>
          </a:xfrm>
          <a:prstGeom prst="rect">
            <a:avLst/>
          </a:prstGeom>
          <a:noFill/>
          <a:ln/>
        </p:spPr>
        <p:txBody>
          <a:bodyPr wrap="square" lIns="0" tIns="0" rIns="0" bIns="0" rtlCol="0" anchor="ctr"/>
          <a:lstStyle/>
          <a:p>
            <a:pPr indent="0" marL="0">
              <a:buNone/>
            </a:pPr>
            <a:r>
              <a:rPr lang="en-US" sz="1350" b="1" dirty="0">
                <a:solidFill>
                  <a:srgbClr val="141210"/>
                </a:solidFill>
                <a:latin typeface="Yu Gothic" pitchFamily="34" charset="0"/>
                <a:ea typeface="Yu Gothic" pitchFamily="34" charset="-122"/>
                <a:cs typeface="Yu Gothic" pitchFamily="34" charset="-120"/>
              </a:rPr>
              <a:t>最初の発注</a:t>
            </a:r>
            <a:endParaRPr lang="en-US" sz="1350" dirty="0"/>
          </a:p>
        </p:txBody>
      </p:sp>
      <p:sp>
        <p:nvSpPr>
          <p:cNvPr id="21" name="Text 19"/>
          <p:cNvSpPr txBox="1"/>
          <p:nvPr/>
        </p:nvSpPr>
        <p:spPr>
          <a:xfrm>
            <a:off x="7406640" y="3246120"/>
            <a:ext cx="2011680" cy="1188720"/>
          </a:xfrm>
          <a:prstGeom prst="rect">
            <a:avLst/>
          </a:prstGeom>
          <a:noFill/>
          <a:ln/>
        </p:spPr>
        <p:txBody>
          <a:bodyPr wrap="square" lIns="0" tIns="0" rIns="0" bIns="0" rtlCol="0" anchor="ctr"/>
          <a:lstStyle/>
          <a:p>
            <a:pPr indent="0" marL="0">
              <a:lnSpc>
                <a:spcPts val="1500"/>
              </a:lnSpc>
              <a:buNone/>
            </a:pPr>
            <a:r>
              <a:rPr lang="en-US" sz="1000" dirty="0">
                <a:solidFill>
                  <a:srgbClr val="5F594E"/>
                </a:solidFill>
                <a:latin typeface="Yu Gothic" pitchFamily="34" charset="0"/>
                <a:ea typeface="Yu Gothic" pitchFamily="34" charset="-122"/>
                <a:cs typeface="Yu Gothic" pitchFamily="34" charset="-120"/>
              </a:rPr>
              <a:t>お手本を選んで台本→編集。初月からハニーを消化</a:t>
            </a:r>
            <a:endParaRPr lang="en-US" sz="1000" dirty="0"/>
          </a:p>
        </p:txBody>
      </p:sp>
      <p:sp>
        <p:nvSpPr>
          <p:cNvPr id="22" name="Text 20"/>
          <p:cNvSpPr txBox="1"/>
          <p:nvPr/>
        </p:nvSpPr>
        <p:spPr>
          <a:xfrm>
            <a:off x="9692640" y="1828800"/>
            <a:ext cx="1463040" cy="731520"/>
          </a:xfrm>
          <a:prstGeom prst="rect">
            <a:avLst/>
          </a:prstGeom>
          <a:noFill/>
          <a:ln/>
        </p:spPr>
        <p:txBody>
          <a:bodyPr wrap="square" lIns="0" tIns="0" rIns="0" bIns="0" rtlCol="0" anchor="ctr"/>
          <a:lstStyle/>
          <a:p>
            <a:pPr indent="0" marL="0">
              <a:buNone/>
            </a:pPr>
            <a:r>
              <a:rPr lang="en-US" sz="3600" dirty="0">
                <a:solidFill>
                  <a:srgbClr val="B8860B"/>
                </a:solidFill>
                <a:latin typeface="Arial Black" pitchFamily="34" charset="0"/>
                <a:ea typeface="Arial Black" pitchFamily="34" charset="-122"/>
                <a:cs typeface="Arial Black" pitchFamily="34" charset="-120"/>
              </a:rPr>
              <a:t>05</a:t>
            </a:r>
            <a:endParaRPr lang="en-US" sz="3600" dirty="0"/>
          </a:p>
        </p:txBody>
      </p:sp>
      <p:sp>
        <p:nvSpPr>
          <p:cNvPr id="23" name="Shape 21"/>
          <p:cNvSpPr/>
          <p:nvPr/>
        </p:nvSpPr>
        <p:spPr>
          <a:xfrm>
            <a:off x="9692640" y="2697480"/>
            <a:ext cx="329184" cy="82296"/>
          </a:xfrm>
          <a:prstGeom prst="rect">
            <a:avLst/>
          </a:prstGeom>
          <a:solidFill>
            <a:srgbClr val="FFC62E"/>
          </a:solidFill>
          <a:ln/>
        </p:spPr>
      </p:sp>
      <p:sp>
        <p:nvSpPr>
          <p:cNvPr id="24" name="Text 22"/>
          <p:cNvSpPr txBox="1"/>
          <p:nvPr/>
        </p:nvSpPr>
        <p:spPr>
          <a:xfrm>
            <a:off x="9692640" y="2852928"/>
            <a:ext cx="2103120" cy="365760"/>
          </a:xfrm>
          <a:prstGeom prst="rect">
            <a:avLst/>
          </a:prstGeom>
          <a:noFill/>
          <a:ln/>
        </p:spPr>
        <p:txBody>
          <a:bodyPr wrap="square" lIns="0" tIns="0" rIns="0" bIns="0" rtlCol="0" anchor="ctr"/>
          <a:lstStyle/>
          <a:p>
            <a:pPr indent="0" marL="0">
              <a:buNone/>
            </a:pPr>
            <a:r>
              <a:rPr lang="en-US" sz="1350" b="1" dirty="0">
                <a:solidFill>
                  <a:srgbClr val="141210"/>
                </a:solidFill>
                <a:latin typeface="Yu Gothic" pitchFamily="34" charset="0"/>
                <a:ea typeface="Yu Gothic" pitchFamily="34" charset="-122"/>
                <a:cs typeface="Yu Gothic" pitchFamily="34" charset="-120"/>
              </a:rPr>
              <a:t>運用・改善</a:t>
            </a:r>
            <a:endParaRPr lang="en-US" sz="1350" dirty="0"/>
          </a:p>
        </p:txBody>
      </p:sp>
      <p:sp>
        <p:nvSpPr>
          <p:cNvPr id="25" name="Text 23"/>
          <p:cNvSpPr txBox="1"/>
          <p:nvPr/>
        </p:nvSpPr>
        <p:spPr>
          <a:xfrm>
            <a:off x="9692640" y="3246120"/>
            <a:ext cx="2011680" cy="1188720"/>
          </a:xfrm>
          <a:prstGeom prst="rect">
            <a:avLst/>
          </a:prstGeom>
          <a:noFill/>
          <a:ln/>
        </p:spPr>
        <p:txBody>
          <a:bodyPr wrap="square" lIns="0" tIns="0" rIns="0" bIns="0" rtlCol="0" anchor="ctr"/>
          <a:lstStyle/>
          <a:p>
            <a:pPr indent="0" marL="0">
              <a:lnSpc>
                <a:spcPts val="1500"/>
              </a:lnSpc>
              <a:buNone/>
            </a:pPr>
            <a:r>
              <a:rPr lang="en-US" sz="1000" dirty="0">
                <a:solidFill>
                  <a:srgbClr val="5F594E"/>
                </a:solidFill>
                <a:latin typeface="Yu Gothic" pitchFamily="34" charset="0"/>
                <a:ea typeface="Yu Gothic" pitchFamily="34" charset="-122"/>
                <a:cs typeface="Yu Gothic" pitchFamily="34" charset="-120"/>
              </a:rPr>
              <a:t>投稿を積み上げ、月次レポートで伸びを確認</a:t>
            </a:r>
            <a:endParaRPr lang="en-US" sz="1000" dirty="0"/>
          </a:p>
        </p:txBody>
      </p:sp>
      <p:sp>
        <p:nvSpPr>
          <p:cNvPr id="26" name="Shape 24"/>
          <p:cNvSpPr/>
          <p:nvPr/>
        </p:nvSpPr>
        <p:spPr>
          <a:xfrm>
            <a:off x="548640" y="4709160"/>
            <a:ext cx="11091672" cy="0"/>
          </a:xfrm>
          <a:prstGeom prst="line">
            <a:avLst/>
          </a:prstGeom>
          <a:noFill/>
          <a:ln w="25400">
            <a:solidFill>
              <a:srgbClr val="141210"/>
            </a:solidFill>
            <a:prstDash val="solid"/>
          </a:ln>
        </p:spPr>
      </p:sp>
      <p:sp>
        <p:nvSpPr>
          <p:cNvPr id="27" name="Text 25"/>
          <p:cNvSpPr txBox="1"/>
          <p:nvPr/>
        </p:nvSpPr>
        <p:spPr>
          <a:xfrm>
            <a:off x="548640" y="4892040"/>
            <a:ext cx="2743200" cy="320040"/>
          </a:xfrm>
          <a:prstGeom prst="rect">
            <a:avLst/>
          </a:prstGeom>
          <a:noFill/>
          <a:ln/>
        </p:spPr>
        <p:txBody>
          <a:bodyPr wrap="square" lIns="0" tIns="0" rIns="0" bIns="0" rtlCol="0" anchor="ctr"/>
          <a:lstStyle/>
          <a:p>
            <a:pPr indent="0" marL="0">
              <a:buNone/>
            </a:pPr>
            <a:r>
              <a:rPr lang="en-US" sz="1200" b="1" dirty="0">
                <a:solidFill>
                  <a:srgbClr val="B8860B"/>
                </a:solidFill>
                <a:latin typeface="Yu Gothic" pitchFamily="34" charset="0"/>
                <a:ea typeface="Yu Gothic" pitchFamily="34" charset="-122"/>
                <a:cs typeface="Yu Gothic" pitchFamily="34" charset="-120"/>
              </a:rPr>
              <a:t>よくあるご質問</a:t>
            </a:r>
            <a:endParaRPr lang="en-US" sz="1200" dirty="0"/>
          </a:p>
        </p:txBody>
      </p:sp>
      <p:sp>
        <p:nvSpPr>
          <p:cNvPr id="28" name="Text 26"/>
          <p:cNvSpPr txBox="1"/>
          <p:nvPr/>
        </p:nvSpPr>
        <p:spPr>
          <a:xfrm>
            <a:off x="548640" y="5257800"/>
            <a:ext cx="11064240" cy="777240"/>
          </a:xfrm>
          <a:prstGeom prst="rect">
            <a:avLst/>
          </a:prstGeom>
          <a:noFill/>
          <a:ln/>
        </p:spPr>
        <p:txBody>
          <a:bodyPr wrap="square" lIns="0" tIns="0" rIns="0" bIns="0" rtlCol="0" anchor="ctr"/>
          <a:lstStyle/>
          <a:p>
            <a:pPr indent="0" marL="0">
              <a:lnSpc>
                <a:spcPts val="1600"/>
              </a:lnSpc>
              <a:buNone/>
            </a:pPr>
            <a:r>
              <a:rPr lang="en-US" sz="1050" dirty="0">
                <a:solidFill>
                  <a:srgbClr val="5F594E"/>
                </a:solidFill>
                <a:latin typeface="Yu Gothic" pitchFamily="34" charset="0"/>
                <a:ea typeface="Yu Gothic" pitchFamily="34" charset="-122"/>
                <a:cs typeface="Yu Gothic" pitchFamily="34" charset="-120"/>
              </a:rPr>
              <a:t>もし採択されなかったら？ → ご契約前なので費用はかかりません。プランの見直しや再申請もご相談できます ／ 撮影素材はスマホでOK？ → OK。撮り方ガイドとハッチのAIがサポート ／ 余ったハニーは？ → 繰越期間内（3〜12ヶ月）で持ち越せます ／ 解約は？ → 契約期間満了後、いつでも。</a:t>
            </a:r>
            <a:endParaRPr lang="en-US" sz="1050" dirty="0"/>
          </a:p>
        </p:txBody>
      </p:sp>
      <p:sp>
        <p:nvSpPr>
          <p:cNvPr id="29" name="Shape 27"/>
          <p:cNvSpPr/>
          <p:nvPr/>
        </p:nvSpPr>
        <p:spPr>
          <a:xfrm>
            <a:off x="548640" y="6455664"/>
            <a:ext cx="11091672" cy="0"/>
          </a:xfrm>
          <a:prstGeom prst="line">
            <a:avLst/>
          </a:prstGeom>
          <a:noFill/>
          <a:ln w="12700">
            <a:solidFill>
              <a:srgbClr val="E2DCCE"/>
            </a:solidFill>
            <a:prstDash val="solid"/>
          </a:ln>
        </p:spPr>
      </p:sp>
      <p:sp>
        <p:nvSpPr>
          <p:cNvPr id="30" name="Text 28"/>
          <p:cNvSpPr txBox="1"/>
          <p:nvPr/>
        </p:nvSpPr>
        <p:spPr>
          <a:xfrm>
            <a:off x="548640" y="6510528"/>
            <a:ext cx="3657600" cy="256032"/>
          </a:xfrm>
          <a:prstGeom prst="rect">
            <a:avLst/>
          </a:prstGeom>
          <a:noFill/>
          <a:ln/>
        </p:spPr>
        <p:txBody>
          <a:bodyPr wrap="square" lIns="0" tIns="0" rIns="0" bIns="0" rtlCol="0" anchor="ctr"/>
          <a:lstStyle/>
          <a:p>
            <a:pPr indent="0" marL="0">
              <a:buNone/>
            </a:pPr>
            <a:r>
              <a:rPr lang="en-US" sz="850" b="1" spc="200" kern="0" dirty="0">
                <a:solidFill>
                  <a:srgbClr val="5F594E"/>
                </a:solidFill>
                <a:latin typeface="Arial" pitchFamily="34" charset="0"/>
                <a:ea typeface="Arial" pitchFamily="34" charset="-122"/>
                <a:cs typeface="Arial" pitchFamily="34" charset="-120"/>
              </a:rPr>
              <a:t>BRIDGE HATCH</a:t>
            </a:r>
            <a:endParaRPr lang="en-US" sz="850" dirty="0"/>
          </a:p>
        </p:txBody>
      </p:sp>
      <p:sp>
        <p:nvSpPr>
          <p:cNvPr id="31" name="Text 29"/>
          <p:cNvSpPr txBox="1"/>
          <p:nvPr/>
        </p:nvSpPr>
        <p:spPr>
          <a:xfrm>
            <a:off x="7982712" y="6510528"/>
            <a:ext cx="3657600" cy="256032"/>
          </a:xfrm>
          <a:prstGeom prst="rect">
            <a:avLst/>
          </a:prstGeom>
          <a:noFill/>
          <a:ln/>
        </p:spPr>
        <p:txBody>
          <a:bodyPr wrap="square" lIns="0" tIns="0" rIns="0" bIns="0" rtlCol="0" anchor="ctr"/>
          <a:lstStyle/>
          <a:p>
            <a:pPr algn="r" indent="0" marL="0">
              <a:buNone/>
            </a:pPr>
            <a:r>
              <a:rPr lang="en-US" sz="850" spc="200" kern="0" dirty="0">
                <a:solidFill>
                  <a:srgbClr val="5F594E"/>
                </a:solidFill>
                <a:latin typeface="Arial" pitchFamily="34" charset="0"/>
                <a:ea typeface="Arial" pitchFamily="34" charset="-122"/>
                <a:cs typeface="Arial" pitchFamily="34" charset="-120"/>
              </a:rPr>
              <a:t>SALES PROPOSAL 2026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C62E"/>
        </a:solidFill>
      </p:bgPr>
    </p:bg>
    <p:spTree>
      <p:nvGrpSpPr>
        <p:cNvPr id="1" name=""/>
        <p:cNvGrpSpPr/>
        <p:nvPr/>
      </p:nvGrpSpPr>
      <p:grpSpPr>
        <a:xfrm>
          <a:off x="0" y="0"/>
          <a:ext cx="0" cy="0"/>
          <a:chOff x="0" y="0"/>
          <a:chExt cx="0" cy="0"/>
        </a:xfrm>
      </p:grpSpPr>
      <p:pic>
        <p:nvPicPr>
          <p:cNvPr id="2" name="Image 0" descr="bee.png">    </p:cNvPr>
          <p:cNvPicPr>
            <a:picLocks noChangeAspect="1"/>
          </p:cNvPicPr>
          <p:nvPr/>
        </p:nvPicPr>
        <p:blipFill>
          <a:blip r:embed="rId1"/>
          <a:stretch>
            <a:fillRect/>
          </a:stretch>
        </p:blipFill>
        <p:spPr>
          <a:xfrm>
            <a:off x="640080" y="822960"/>
            <a:ext cx="1280160" cy="1280160"/>
          </a:xfrm>
          <a:prstGeom prst="rect">
            <a:avLst/>
          </a:prstGeom>
        </p:spPr>
      </p:pic>
      <p:sp>
        <p:nvSpPr>
          <p:cNvPr id="3" name="Text 0"/>
          <p:cNvSpPr txBox="1"/>
          <p:nvPr/>
        </p:nvSpPr>
        <p:spPr>
          <a:xfrm>
            <a:off x="566928" y="2286000"/>
            <a:ext cx="11064240" cy="1097280"/>
          </a:xfrm>
          <a:prstGeom prst="rect">
            <a:avLst/>
          </a:prstGeom>
          <a:noFill/>
          <a:ln/>
        </p:spPr>
        <p:txBody>
          <a:bodyPr wrap="square" lIns="0" tIns="0" rIns="0" bIns="0" rtlCol="0" anchor="ctr"/>
          <a:lstStyle/>
          <a:p>
            <a:pPr indent="0" marL="0">
              <a:buNone/>
            </a:pPr>
            <a:r>
              <a:rPr lang="en-US" sz="5400" b="1" dirty="0">
                <a:solidFill>
                  <a:srgbClr val="141210"/>
                </a:solidFill>
                <a:latin typeface="Yu Gothic" pitchFamily="34" charset="0"/>
                <a:ea typeface="Yu Gothic" pitchFamily="34" charset="-122"/>
                <a:cs typeface="Yu Gothic" pitchFamily="34" charset="-120"/>
              </a:rPr>
              <a:t>まずは、</a:t>
            </a:r>
            <a:endParaRPr lang="en-US" sz="5400" dirty="0"/>
          </a:p>
        </p:txBody>
      </p:sp>
      <p:sp>
        <p:nvSpPr>
          <p:cNvPr id="4" name="Text 1"/>
          <p:cNvSpPr txBox="1"/>
          <p:nvPr/>
        </p:nvSpPr>
        <p:spPr>
          <a:xfrm>
            <a:off x="566928" y="3337560"/>
            <a:ext cx="11064240" cy="1188720"/>
          </a:xfrm>
          <a:prstGeom prst="rect">
            <a:avLst/>
          </a:prstGeom>
          <a:noFill/>
          <a:ln/>
        </p:spPr>
        <p:txBody>
          <a:bodyPr wrap="square" lIns="0" tIns="0" rIns="0" bIns="0" rtlCol="0" anchor="ctr"/>
          <a:lstStyle/>
          <a:p>
            <a:pPr indent="0" marL="0">
              <a:buNone/>
            </a:pPr>
            <a:r>
              <a:rPr lang="en-US" sz="5400" b="1" dirty="0">
                <a:solidFill>
                  <a:srgbClr val="FFFFFF"/>
                </a:solidFill>
                <a:latin typeface="Yu Gothic" pitchFamily="34" charset="0"/>
                <a:ea typeface="Yu Gothic" pitchFamily="34" charset="-122"/>
                <a:cs typeface="Yu Gothic" pitchFamily="34" charset="-120"/>
              </a:rPr>
              <a:t>来月の1本目から。</a:t>
            </a:r>
            <a:endParaRPr lang="en-US" sz="5400" dirty="0"/>
          </a:p>
        </p:txBody>
      </p:sp>
      <p:sp>
        <p:nvSpPr>
          <p:cNvPr id="5" name="Text 2"/>
          <p:cNvSpPr txBox="1"/>
          <p:nvPr/>
        </p:nvSpPr>
        <p:spPr>
          <a:xfrm>
            <a:off x="640080" y="4709160"/>
            <a:ext cx="10972800" cy="457200"/>
          </a:xfrm>
          <a:prstGeom prst="rect">
            <a:avLst/>
          </a:prstGeom>
          <a:noFill/>
          <a:ln/>
        </p:spPr>
        <p:txBody>
          <a:bodyPr wrap="square" lIns="0" tIns="0" rIns="0" bIns="0" rtlCol="0" anchor="ctr"/>
          <a:lstStyle/>
          <a:p>
            <a:pPr indent="0" marL="0">
              <a:buNone/>
            </a:pPr>
            <a:r>
              <a:rPr lang="en-US" sz="1500" b="1" dirty="0">
                <a:solidFill>
                  <a:srgbClr val="141210"/>
                </a:solidFill>
                <a:latin typeface="Yu Gothic" pitchFamily="34" charset="0"/>
                <a:ea typeface="Yu Gothic" pitchFamily="34" charset="-122"/>
                <a:cs typeface="Yu Gothic" pitchFamily="34" charset="-120"/>
              </a:rPr>
              <a:t>御社の営業日、毎日TikTok。無料デモで、巣の中をお見せします。</a:t>
            </a:r>
            <a:endParaRPr lang="en-US" sz="1500" dirty="0"/>
          </a:p>
        </p:txBody>
      </p:sp>
      <p:sp>
        <p:nvSpPr>
          <p:cNvPr id="6" name="Shape 3"/>
          <p:cNvSpPr/>
          <p:nvPr/>
        </p:nvSpPr>
        <p:spPr>
          <a:xfrm>
            <a:off x="640080" y="5440680"/>
            <a:ext cx="3383280" cy="603504"/>
          </a:xfrm>
          <a:prstGeom prst="rect">
            <a:avLst/>
          </a:prstGeom>
          <a:solidFill>
            <a:srgbClr val="141210"/>
          </a:solidFill>
          <a:ln/>
        </p:spPr>
      </p:sp>
      <p:sp>
        <p:nvSpPr>
          <p:cNvPr id="7" name="Text 4"/>
          <p:cNvSpPr txBox="1"/>
          <p:nvPr/>
        </p:nvSpPr>
        <p:spPr>
          <a:xfrm>
            <a:off x="640080" y="5532120"/>
            <a:ext cx="3383280" cy="420624"/>
          </a:xfrm>
          <a:prstGeom prst="rect">
            <a:avLst/>
          </a:prstGeom>
          <a:noFill/>
          <a:ln/>
        </p:spPr>
        <p:txBody>
          <a:bodyPr wrap="square" rtlCol="0" anchor="ctr"/>
          <a:lstStyle/>
          <a:p>
            <a:pPr algn="ctr" indent="0" marL="0">
              <a:buNone/>
            </a:pPr>
            <a:r>
              <a:rPr lang="en-US" sz="1400" b="1" dirty="0">
                <a:solidFill>
                  <a:srgbClr val="FFC62E"/>
                </a:solidFill>
                <a:latin typeface="Yu Gothic" pitchFamily="34" charset="0"/>
                <a:ea typeface="Yu Gothic" pitchFamily="34" charset="-122"/>
                <a:cs typeface="Yu Gothic" pitchFamily="34" charset="-120"/>
              </a:rPr>
              <a:t>無料デモのご相談はこちら</a:t>
            </a:r>
            <a:endParaRPr lang="en-US" sz="1400" dirty="0"/>
          </a:p>
        </p:txBody>
      </p:sp>
      <p:sp>
        <p:nvSpPr>
          <p:cNvPr id="8" name="Text 5"/>
          <p:cNvSpPr txBox="1"/>
          <p:nvPr/>
        </p:nvSpPr>
        <p:spPr>
          <a:xfrm>
            <a:off x="4251960" y="5596128"/>
            <a:ext cx="7315200" cy="320040"/>
          </a:xfrm>
          <a:prstGeom prst="rect">
            <a:avLst/>
          </a:prstGeom>
          <a:noFill/>
          <a:ln/>
        </p:spPr>
        <p:txBody>
          <a:bodyPr wrap="square" lIns="0" tIns="0" rIns="0" bIns="0" rtlCol="0" anchor="ctr"/>
          <a:lstStyle/>
          <a:p>
            <a:pPr indent="0" marL="0">
              <a:buNone/>
            </a:pPr>
            <a:r>
              <a:rPr lang="en-US" sz="1050" b="1" dirty="0">
                <a:solidFill>
                  <a:srgbClr val="141210"/>
                </a:solidFill>
                <a:latin typeface="Yu Gothic" pitchFamily="34" charset="0"/>
                <a:ea typeface="Yu Gothic" pitchFamily="34" charset="-122"/>
                <a:cs typeface="Yu Gothic" pitchFamily="34" charset="-120"/>
              </a:rPr>
              <a:t>※IT導入補助金は公募回ごとに締切があります。お早めにご相談ください。</a:t>
            </a:r>
            <a:endParaRPr lang="en-US" sz="1050" dirty="0"/>
          </a:p>
        </p:txBody>
      </p:sp>
      <p:sp>
        <p:nvSpPr>
          <p:cNvPr id="9" name="Text 6"/>
          <p:cNvSpPr txBox="1"/>
          <p:nvPr/>
        </p:nvSpPr>
        <p:spPr>
          <a:xfrm>
            <a:off x="640080" y="6309360"/>
            <a:ext cx="8229600" cy="320040"/>
          </a:xfrm>
          <a:prstGeom prst="rect">
            <a:avLst/>
          </a:prstGeom>
          <a:noFill/>
          <a:ln/>
        </p:spPr>
        <p:txBody>
          <a:bodyPr wrap="square" lIns="0" tIns="0" rIns="0" bIns="0" rtlCol="0" anchor="ctr"/>
          <a:lstStyle/>
          <a:p>
            <a:pPr indent="0" marL="0">
              <a:buNone/>
            </a:pPr>
            <a:r>
              <a:rPr lang="en-US" sz="1000" dirty="0">
                <a:solidFill>
                  <a:srgbClr val="141210"/>
                </a:solidFill>
                <a:latin typeface="Yu Gothic" pitchFamily="34" charset="0"/>
                <a:ea typeface="Yu Gothic" pitchFamily="34" charset="-122"/>
                <a:cs typeface="Yu Gothic" pitchFamily="34" charset="-120"/>
              </a:rPr>
              <a:t>運営会社・お問い合わせ先：（会社設立後に記載）</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2026-09-03T11:10:07Z</dcterms:created>
  <dcterms:modified xsi:type="dcterms:W3CDTF">2026-09-03T11:10:07Z</dcterms:modified>
</cp:coreProperties>
</file>